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390">
          <p15:clr>
            <a:srgbClr val="747775"/>
          </p15:clr>
        </p15:guide>
        <p15:guide id="2" orient="horz" pos="699">
          <p15:clr>
            <a:srgbClr val="747775"/>
          </p15:clr>
        </p15:guide>
        <p15:guide id="3" pos="90">
          <p15:clr>
            <a:srgbClr val="747775"/>
          </p15:clr>
        </p15:guide>
        <p15:guide id="4" orient="horz" pos="2289">
          <p15:clr>
            <a:srgbClr val="747775"/>
          </p15:clr>
        </p15:guide>
        <p15:guide id="5" pos="2907">
          <p15:clr>
            <a:srgbClr val="747775"/>
          </p15:clr>
        </p15:guide>
        <p15:guide id="6" orient="horz" pos="153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246A32-94BD-469A-8FF0-07B5B3C936EE}">
  <a:tblStyle styleId="{D5246A32-94BD-469A-8FF0-07B5B3C936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390"/>
        <p:guide pos="699" orient="horz"/>
        <p:guide pos="90"/>
        <p:guide pos="2289" orient="horz"/>
        <p:guide pos="2907"/>
        <p:guide pos="1531"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italic.fntdata"/><Relationship Id="rId10" Type="http://schemas.openxmlformats.org/officeDocument/2006/relationships/slide" Target="slides/slide4.xml"/><Relationship Id="rId32"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94444c412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94444c412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94444c412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94444c412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94444c412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94444c412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94444c412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94444c412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fr"/>
              <a:t>Représentation : </a:t>
            </a:r>
            <a:r>
              <a:rPr lang="fr" sz="1050">
                <a:solidFill>
                  <a:schemeClr val="dk1"/>
                </a:solidFill>
              </a:rPr>
              <a:t>méthodes basées sur des features manuelles VS apprenant automatiquement les représentations = classiques VS deep learning = feature engineering VS representation learning</a:t>
            </a:r>
            <a:endParaRPr/>
          </a:p>
          <a:p>
            <a:pPr indent="0" lvl="0" marL="914400" rtl="0" algn="l">
              <a:spcBef>
                <a:spcPts val="0"/>
              </a:spcBef>
              <a:spcAft>
                <a:spcPts val="0"/>
              </a:spcAft>
              <a:buNone/>
            </a:pPr>
            <a:r>
              <a:t/>
            </a:r>
            <a:endParaRPr/>
          </a:p>
          <a:p>
            <a:pPr indent="-298450" lvl="0" marL="457200" rtl="0" algn="l">
              <a:spcBef>
                <a:spcPts val="0"/>
              </a:spcBef>
              <a:spcAft>
                <a:spcPts val="0"/>
              </a:spcAft>
              <a:buSzPts val="1100"/>
              <a:buChar char="●"/>
            </a:pPr>
            <a:r>
              <a:rPr lang="fr"/>
              <a:t>Réduction de dimension, PCA : méthode qui transforme des données en un nombre réduit de variables en combinant les variables d’origine, de façon à conserver au maximum l’information tout en simplifiant la représentation.</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fr"/>
              <a:t>Clustering, k-means : algorithme de clustering qui regroupe des données en k ensembles homogènes en attribuant chaque point au centre (moyenne) le plus proche, ajusté itérativement.</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fr"/>
              <a:t>Évaluation :</a:t>
            </a:r>
            <a:endParaRPr/>
          </a:p>
          <a:p>
            <a:pPr indent="-298450" lvl="1" marL="914400" rtl="0" algn="l">
              <a:spcBef>
                <a:spcPts val="0"/>
              </a:spcBef>
              <a:spcAft>
                <a:spcPts val="0"/>
              </a:spcAft>
              <a:buSzPts val="1100"/>
              <a:buChar char="○"/>
            </a:pPr>
            <a:r>
              <a:rPr lang="fr"/>
              <a:t>supervisées : évaluent un clustering en le comparant à une référence connue (labels). Elles mesurent à quel point les groupes retrouvés correspondent à une vérité terrain.</a:t>
            </a:r>
            <a:endParaRPr/>
          </a:p>
          <a:p>
            <a:pPr indent="-298450" lvl="1" marL="914400" rtl="0" algn="l">
              <a:spcBef>
                <a:spcPts val="0"/>
              </a:spcBef>
              <a:spcAft>
                <a:spcPts val="0"/>
              </a:spcAft>
              <a:buSzPts val="1100"/>
              <a:buChar char="○"/>
            </a:pPr>
            <a:r>
              <a:rPr lang="fr"/>
              <a:t>non supervisées : évaluent la qualité d’un clustering sans vérité terrain. Elles jugent si les groupes sont compactes (points proches) et bien séparés (clusters distincts).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86f582223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86f582223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Représentation : TF-IDF : méthode qui pondère l’importance d’un mot dans un document en fonction de sa fréquence locale et de sa rareté dans l’ensemble du corpus.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Pré-traitement :</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Tokenisation : découpage du texte en unités lexicales (tokens), base de toute représentation vectorielle du langage.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Normalisation textuelle : mise en minuscules, suppression de caractères spéciaux et de formes parasites afin de réduire la variabilité artificielle du vocabulaire.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Stopwords : mots fréquents à faible valeur sémantique, retirés pour améliorer le signal utile.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Lemmatisation : réduction des mots à leur forme canonique afin de regrouper différentes variations morphologiques d’un même terme.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Clustering, k-means : algorithme de clustering qui regroupe des données en k ensembles homogènes en attribuant chaque point au centre (moyenne) le plus proche, ajusté itérativement.</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Évaluation :</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ARI : mesure la similarité entre un clustering obtenu et une vérité terrain en corrigeant le hasard (1 = correspondance parfaite et ≈0 = aléatoire)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NMI : quantifie la quantité d’information commune entre deux partitions (clustering vs vérité) de façon normalisée entre 0 et 1.</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Silhouette score : évalue la qualité d’un clustering en comparant, pour chaque point, sa cohésion dans son cluster et sa séparation avec les autres (proche de 1 = bien clusterisé).</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Davies Bouldin : mesure la compacité et la séparation des clusters, où une valeur faible indique des clusters denses et bien distincts.</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Calinski Harabasz : évalue le rapport entre la dispersion inter-clusters et intra-cluster, avec une valeur élevée indiquant un bon partitionnement.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86f582223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86f582223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Représentation : Word2Vec : modèle qui transforme chaque mot en un vecteur de nombres de façon à ce que les mots utilisés dans des contextes similaires aient des représentations proches.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Pré-traitement :</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Tokenisation : découpage du texte en unités lexicales (tokens), base de toute représentation vectorielle du langage.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Normalisation textuelle : mise en minuscules, suppression de caractères spéciaux et de formes parasites afin de réduire la variabilité artificielle du vocabulaire.</a:t>
            </a:r>
            <a:endParaRPr>
              <a:solidFill>
                <a:schemeClr val="dk1"/>
              </a:solidFill>
            </a:endParaRPr>
          </a:p>
          <a:p>
            <a:pPr indent="-298450" lvl="1" marL="914400" rtl="0" algn="l">
              <a:spcBef>
                <a:spcPts val="0"/>
              </a:spcBef>
              <a:spcAft>
                <a:spcPts val="0"/>
              </a:spcAft>
              <a:buClr>
                <a:schemeClr val="dk1"/>
              </a:buClr>
              <a:buSzPts val="1100"/>
              <a:buChar char="○"/>
            </a:pPr>
            <a:r>
              <a:rPr lang="fr">
                <a:solidFill>
                  <a:schemeClr val="dk1"/>
                </a:solidFill>
              </a:rPr>
              <a:t>Stopwords : mots fréquents à faible valeur sémantique, retirés pour améliorer le signal utile.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86f582223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86f582223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Représentation : BERT : modèle de langage basé sur des transformers qui comprend le contexte des mots dans une phrase de manière bidirectionnelle (il regarde les mots avant et après un mot pour en comprendre le sens).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86f582223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86f582223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Représentation : USE : modèle qui convertit des phrases en vecteurs numériques de façon à ce que des phrases ayant un sens proche aient des représentations proches.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a86f582223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a86f582223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86f582223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86f582223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Représentation : SIFT : algorithme de vision qui repère automatiquement des “points remarquables” dans une image (coins, motifs) et les décrit de façon à pouvoir reconnaître le même objet même s’il est tourné, zoomé ou éclairé différemment.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a86f582223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a86f582223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CNN VGG16 : réseau de neurones convolutionnel profond (modèle qui analyse une image en appliquant des filtres successifs pour détecter des formes simples puis de plus en plus complexes) à 16 couches utilisé pour extraire des caractéristiques visuelles et classifier des images.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Pré-traitement : Normalisation ImageNet : transformation des pixels d’une image en les centrant et en les réduisant à l’aide de moyennes et écarts-types prédéfinis (calculés sur le dataset ImageNet) afin d’adapter les données aux modèles pré-entraînés comme VGG16.</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Réduction de dimension, PCA : méthode qui transforme des données en un nombre réduit de variables en combinant les variables d’origine, de façon à conserver au maximum l’information tout en simplifiant la représentation.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a86f582223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a86f582223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 CNN est le meilleur modèle car il capte la sémantique des images, contrairement à SIFT. La faible silhouette est normale dans ce contexte et ne remet pas en cause la qualité des représentations.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94444c412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e94444c412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e77103a0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e77103a0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fr"/>
              <a:t>Chargement : </a:t>
            </a:r>
            <a:endParaRPr/>
          </a:p>
          <a:p>
            <a:pPr indent="-298450" lvl="1" marL="914400" rtl="0" algn="l">
              <a:lnSpc>
                <a:spcPct val="100000"/>
              </a:lnSpc>
              <a:spcBef>
                <a:spcPts val="0"/>
              </a:spcBef>
              <a:spcAft>
                <a:spcPts val="0"/>
              </a:spcAft>
              <a:buSzPts val="1100"/>
              <a:buChar char="○"/>
            </a:pPr>
            <a:r>
              <a:rPr lang="fr" sz="1050">
                <a:solidFill>
                  <a:schemeClr val="dk1"/>
                </a:solidFill>
              </a:rPr>
              <a:t>Séquentiel : données chargées batch par batch (streaming)</a:t>
            </a:r>
            <a:endParaRPr sz="1050">
              <a:solidFill>
                <a:schemeClr val="dk1"/>
              </a:solidFill>
            </a:endParaRPr>
          </a:p>
          <a:p>
            <a:pPr indent="-298450" lvl="1" marL="914400" rtl="0" algn="l">
              <a:lnSpc>
                <a:spcPct val="100000"/>
              </a:lnSpc>
              <a:spcBef>
                <a:spcPts val="0"/>
              </a:spcBef>
              <a:spcAft>
                <a:spcPts val="0"/>
              </a:spcAft>
              <a:buSzPts val="1100"/>
              <a:buChar char="○"/>
            </a:pPr>
            <a:r>
              <a:rPr lang="fr" sz="1050">
                <a:solidFill>
                  <a:schemeClr val="dk1"/>
                </a:solidFill>
              </a:rPr>
              <a:t>Optimisé : chargement parallèle avec préchargement des batches (prefetch)</a:t>
            </a:r>
            <a:endParaRPr>
              <a:solidFill>
                <a:schemeClr val="dk1"/>
              </a:solidFill>
            </a:endParaRPr>
          </a:p>
          <a:p>
            <a:pPr indent="-298450" lvl="0" marL="457200" rtl="0" algn="l">
              <a:lnSpc>
                <a:spcPct val="100000"/>
              </a:lnSpc>
              <a:spcBef>
                <a:spcPts val="0"/>
              </a:spcBef>
              <a:spcAft>
                <a:spcPts val="0"/>
              </a:spcAft>
              <a:buSzPts val="1100"/>
              <a:buChar char="●"/>
            </a:pPr>
            <a:r>
              <a:rPr lang="fr"/>
              <a:t>Feature extraction :</a:t>
            </a:r>
            <a:endParaRPr/>
          </a:p>
          <a:p>
            <a:pPr indent="-298450" lvl="1" marL="914400" rtl="0" algn="l">
              <a:lnSpc>
                <a:spcPct val="100000"/>
              </a:lnSpc>
              <a:spcBef>
                <a:spcPts val="0"/>
              </a:spcBef>
              <a:spcAft>
                <a:spcPts val="0"/>
              </a:spcAft>
              <a:buSzPts val="1100"/>
              <a:buChar char="○"/>
            </a:pPr>
            <a:r>
              <a:rPr lang="fr" sz="1050">
                <a:solidFill>
                  <a:schemeClr val="dk1"/>
                </a:solidFill>
              </a:rPr>
              <a:t>VGG16 : modèle pré-entraîné dont on retire la couche finale de classification</a:t>
            </a:r>
            <a:endParaRPr sz="1050">
              <a:solidFill>
                <a:schemeClr val="dk1"/>
              </a:solidFill>
            </a:endParaRPr>
          </a:p>
          <a:p>
            <a:pPr indent="-298450" lvl="1" marL="914400" rtl="0" algn="l">
              <a:lnSpc>
                <a:spcPct val="100000"/>
              </a:lnSpc>
              <a:spcBef>
                <a:spcPts val="0"/>
              </a:spcBef>
              <a:spcAft>
                <a:spcPts val="0"/>
              </a:spcAft>
              <a:buSzPts val="1100"/>
              <a:buChar char="○"/>
            </a:pPr>
            <a:r>
              <a:rPr lang="fr" sz="1050">
                <a:solidFill>
                  <a:schemeClr val="dk1"/>
                </a:solidFill>
              </a:rPr>
              <a:t>gelé : le modèle n’est pas réentraîné</a:t>
            </a:r>
            <a:endParaRPr/>
          </a:p>
          <a:p>
            <a:pPr indent="-298450" lvl="1" marL="914400" rtl="0" algn="l">
              <a:lnSpc>
                <a:spcPct val="100000"/>
              </a:lnSpc>
              <a:spcBef>
                <a:spcPts val="0"/>
              </a:spcBef>
              <a:spcAft>
                <a:spcPts val="0"/>
              </a:spcAft>
              <a:buSzPts val="1100"/>
              <a:buChar char="○"/>
            </a:pPr>
            <a:r>
              <a:rPr lang="fr"/>
              <a:t>7x7x512 = </a:t>
            </a:r>
            <a:r>
              <a:rPr lang="fr" sz="1050">
                <a:solidFill>
                  <a:schemeClr val="dk1"/>
                </a:solidFill>
              </a:rPr>
              <a:t>représentation des features sous forme d’une grille spatiale (7×7 zones), chaque zone étant décrite par 512 caractéristiques</a:t>
            </a:r>
            <a:endParaRPr sz="1050">
              <a:solidFill>
                <a:schemeClr val="dk1"/>
              </a:solidFill>
            </a:endParaRPr>
          </a:p>
          <a:p>
            <a:pPr indent="-298450" lvl="0" marL="457200" rtl="0" algn="l">
              <a:lnSpc>
                <a:spcPct val="100000"/>
              </a:lnSpc>
              <a:spcBef>
                <a:spcPts val="0"/>
              </a:spcBef>
              <a:spcAft>
                <a:spcPts val="0"/>
              </a:spcAft>
              <a:buSzPts val="1100"/>
              <a:buChar char="●"/>
            </a:pPr>
            <a:r>
              <a:rPr lang="fr"/>
              <a:t>Réduction</a:t>
            </a:r>
            <a:endParaRPr/>
          </a:p>
          <a:p>
            <a:pPr indent="-298450" lvl="1" marL="914400" rtl="0" algn="l">
              <a:lnSpc>
                <a:spcPct val="100000"/>
              </a:lnSpc>
              <a:spcBef>
                <a:spcPts val="0"/>
              </a:spcBef>
              <a:spcAft>
                <a:spcPts val="0"/>
              </a:spcAft>
              <a:buSzPts val="1100"/>
              <a:buChar char="○"/>
            </a:pPr>
            <a:r>
              <a:rPr lang="fr"/>
              <a:t>GAP : </a:t>
            </a:r>
            <a:r>
              <a:rPr lang="fr" sz="1050">
                <a:solidFill>
                  <a:schemeClr val="dk1"/>
                </a:solidFill>
              </a:rPr>
              <a:t>calcule la moyenne sur chaque carte de caractéristiques (une carte est une matrice 7×7 indiquant où une caractéristique est détectée dans l’image)</a:t>
            </a:r>
            <a:endParaRPr sz="1050">
              <a:solidFill>
                <a:schemeClr val="dk1"/>
              </a:solidFill>
            </a:endParaRPr>
          </a:p>
          <a:p>
            <a:pPr indent="-298450" lvl="1" marL="914400" rtl="0" algn="l">
              <a:lnSpc>
                <a:spcPct val="100000"/>
              </a:lnSpc>
              <a:spcBef>
                <a:spcPts val="0"/>
              </a:spcBef>
              <a:spcAft>
                <a:spcPts val="0"/>
              </a:spcAft>
              <a:buSzPts val="1100"/>
              <a:buChar char="○"/>
            </a:pPr>
            <a:r>
              <a:rPr lang="fr"/>
              <a:t>512 : </a:t>
            </a:r>
            <a:r>
              <a:rPr lang="fr" sz="1050">
                <a:solidFill>
                  <a:schemeClr val="dk1"/>
                </a:solidFill>
              </a:rPr>
              <a:t>vecteur de 512 valeurs</a:t>
            </a:r>
            <a:r>
              <a:rPr lang="fr"/>
              <a:t> qui </a:t>
            </a:r>
            <a:r>
              <a:rPr lang="fr"/>
              <a:t>représente</a:t>
            </a:r>
            <a:r>
              <a:rPr lang="fr"/>
              <a:t> toute l’image</a:t>
            </a:r>
            <a:endParaRPr/>
          </a:p>
          <a:p>
            <a:pPr indent="-298450" lvl="0" marL="457200" rtl="0" algn="l">
              <a:lnSpc>
                <a:spcPct val="100000"/>
              </a:lnSpc>
              <a:spcBef>
                <a:spcPts val="0"/>
              </a:spcBef>
              <a:spcAft>
                <a:spcPts val="0"/>
              </a:spcAft>
              <a:buSzPts val="1100"/>
              <a:buChar char="●"/>
            </a:pPr>
            <a:r>
              <a:rPr lang="fr"/>
              <a:t>Classification</a:t>
            </a:r>
            <a:endParaRPr/>
          </a:p>
          <a:p>
            <a:pPr indent="-298450" lvl="1" marL="914400" rtl="0" algn="l">
              <a:lnSpc>
                <a:spcPct val="100000"/>
              </a:lnSpc>
              <a:spcBef>
                <a:spcPts val="0"/>
              </a:spcBef>
              <a:spcAft>
                <a:spcPts val="0"/>
              </a:spcAft>
              <a:buSzPts val="1100"/>
              <a:buChar char="○"/>
            </a:pPr>
            <a:r>
              <a:rPr lang="fr" sz="1050">
                <a:solidFill>
                  <a:schemeClr val="dk1"/>
                </a:solidFill>
              </a:rPr>
              <a:t>Dense (ReLU) : apprend des combinaisons de features adaptées au dataset : transforme les 512 features en 256 features plus pertinentes.</a:t>
            </a:r>
            <a:endParaRPr sz="1050">
              <a:solidFill>
                <a:schemeClr val="dk1"/>
              </a:solidFill>
            </a:endParaRPr>
          </a:p>
          <a:p>
            <a:pPr indent="-298450" lvl="1" marL="914400" rtl="0" algn="l">
              <a:lnSpc>
                <a:spcPct val="100000"/>
              </a:lnSpc>
              <a:spcBef>
                <a:spcPts val="0"/>
              </a:spcBef>
              <a:spcAft>
                <a:spcPts val="0"/>
              </a:spcAft>
              <a:buSzPts val="1100"/>
              <a:buChar char="○"/>
            </a:pPr>
            <a:r>
              <a:rPr lang="fr" sz="1050">
                <a:solidFill>
                  <a:schemeClr val="dk1"/>
                </a:solidFill>
              </a:rPr>
              <a:t>Dropout : régularisation (évite le surapprentissage)</a:t>
            </a:r>
            <a:endParaRPr sz="1050">
              <a:solidFill>
                <a:schemeClr val="dk1"/>
              </a:solidFill>
            </a:endParaRPr>
          </a:p>
          <a:p>
            <a:pPr indent="-298450" lvl="1" marL="914400" rtl="0" algn="l">
              <a:lnSpc>
                <a:spcPct val="100000"/>
              </a:lnSpc>
              <a:spcBef>
                <a:spcPts val="0"/>
              </a:spcBef>
              <a:spcAft>
                <a:spcPts val="0"/>
              </a:spcAft>
              <a:buSzPts val="1100"/>
              <a:buChar char="○"/>
            </a:pPr>
            <a:r>
              <a:rPr lang="fr" sz="1050">
                <a:solidFill>
                  <a:schemeClr val="dk1"/>
                </a:solidFill>
              </a:rPr>
              <a:t>Dense + Softmax : transforme les features en probabilités par classe</a:t>
            </a:r>
            <a:endParaRPr sz="1050">
              <a:solidFill>
                <a:schemeClr val="dk1"/>
              </a:solidFill>
            </a:endParaRPr>
          </a:p>
          <a:p>
            <a:pPr indent="-298450" lvl="0" marL="457200" rtl="0" algn="l">
              <a:lnSpc>
                <a:spcPct val="100000"/>
              </a:lnSpc>
              <a:spcBef>
                <a:spcPts val="0"/>
              </a:spcBef>
              <a:spcAft>
                <a:spcPts val="0"/>
              </a:spcAft>
              <a:buSzPts val="1100"/>
              <a:buChar char="●"/>
            </a:pPr>
            <a:r>
              <a:rPr lang="fr"/>
              <a:t>Apprentissage</a:t>
            </a:r>
            <a:endParaRPr/>
          </a:p>
          <a:p>
            <a:pPr indent="-298450" lvl="1" marL="914400" rtl="0" algn="l">
              <a:lnSpc>
                <a:spcPct val="100000"/>
              </a:lnSpc>
              <a:spcBef>
                <a:spcPts val="0"/>
              </a:spcBef>
              <a:spcAft>
                <a:spcPts val="0"/>
              </a:spcAft>
              <a:buSzPts val="1100"/>
              <a:buChar char="○"/>
            </a:pPr>
            <a:r>
              <a:rPr lang="fr" sz="1050">
                <a:solidFill>
                  <a:schemeClr val="dk1"/>
                </a:solidFill>
              </a:rPr>
              <a:t>La cross-entropy est utilisée comme fonction de perte pour mesurer l’erreur</a:t>
            </a:r>
            <a:endParaRPr sz="1050">
              <a:solidFill>
                <a:schemeClr val="dk1"/>
              </a:solidFill>
            </a:endParaRPr>
          </a:p>
          <a:p>
            <a:pPr indent="-298450" lvl="1" marL="914400" rtl="0" algn="l">
              <a:lnSpc>
                <a:spcPct val="100000"/>
              </a:lnSpc>
              <a:spcBef>
                <a:spcPts val="0"/>
              </a:spcBef>
              <a:spcAft>
                <a:spcPts val="0"/>
              </a:spcAft>
              <a:buSzPts val="1100"/>
              <a:buChar char="○"/>
            </a:pPr>
            <a:r>
              <a:rPr lang="fr" sz="1050">
                <a:solidFill>
                  <a:schemeClr val="dk1"/>
                </a:solidFill>
              </a:rPr>
              <a:t>L’optimiseur Adam ajuste les poids via une descente de gradient adaptative</a:t>
            </a:r>
            <a:endParaRPr sz="1050">
              <a:solidFill>
                <a:schemeClr val="dk1"/>
              </a:solidFill>
            </a:endParaRPr>
          </a:p>
          <a:p>
            <a:pPr indent="-295275" lvl="0" marL="457200" rtl="0" algn="l">
              <a:lnSpc>
                <a:spcPct val="100000"/>
              </a:lnSpc>
              <a:spcBef>
                <a:spcPts val="0"/>
              </a:spcBef>
              <a:spcAft>
                <a:spcPts val="0"/>
              </a:spcAft>
              <a:buClr>
                <a:schemeClr val="dk1"/>
              </a:buClr>
              <a:buSzPts val="1050"/>
              <a:buChar char="●"/>
            </a:pPr>
            <a:r>
              <a:rPr lang="fr" sz="1050">
                <a:solidFill>
                  <a:schemeClr val="dk1"/>
                </a:solidFill>
              </a:rPr>
              <a:t>Évaluation</a:t>
            </a:r>
            <a:endParaRPr sz="1050">
              <a:solidFill>
                <a:schemeClr val="dk1"/>
              </a:solidFill>
            </a:endParaRPr>
          </a:p>
          <a:p>
            <a:pPr indent="-295275" lvl="1" marL="914400" rtl="0" algn="l">
              <a:lnSpc>
                <a:spcPct val="100000"/>
              </a:lnSpc>
              <a:spcBef>
                <a:spcPts val="0"/>
              </a:spcBef>
              <a:spcAft>
                <a:spcPts val="0"/>
              </a:spcAft>
              <a:buClr>
                <a:schemeClr val="dk1"/>
              </a:buClr>
              <a:buSzPts val="1050"/>
              <a:buChar char="○"/>
            </a:pPr>
            <a:r>
              <a:rPr lang="fr" sz="1050">
                <a:solidFill>
                  <a:schemeClr val="dk1"/>
                </a:solidFill>
              </a:rPr>
              <a:t>Tous les modèles sont évalués sur le même jeu de test, sans data augmentation, afin de garantir une comparaison fiable dans des conditions proches de la réalité.</a:t>
            </a:r>
            <a:endParaRPr sz="1050">
              <a:solidFill>
                <a:schemeClr val="dk1"/>
              </a:solidFill>
            </a:endParaRPr>
          </a:p>
          <a:p>
            <a:pPr indent="0" lvl="0" marL="0" rtl="0" algn="l">
              <a:lnSpc>
                <a:spcPct val="100000"/>
              </a:lnSpc>
              <a:spcBef>
                <a:spcPts val="0"/>
              </a:spcBef>
              <a:spcAft>
                <a:spcPts val="0"/>
              </a:spcAft>
              <a:buNone/>
            </a:pPr>
            <a:r>
              <a:t/>
            </a:r>
            <a:endParaRPr sz="1050">
              <a:solidFill>
                <a:schemeClr val="dk1"/>
              </a:solidFill>
            </a:endParaRPr>
          </a:p>
          <a:p>
            <a:pPr indent="0" lvl="0" marL="0" rtl="0" algn="l">
              <a:lnSpc>
                <a:spcPct val="142857"/>
              </a:lnSpc>
              <a:spcBef>
                <a:spcPts val="0"/>
              </a:spcBef>
              <a:spcAft>
                <a:spcPts val="0"/>
              </a:spcAft>
              <a:buNone/>
            </a:pPr>
            <a:r>
              <a:rPr b="1" lang="fr" sz="1050">
                <a:solidFill>
                  <a:schemeClr val="dk1"/>
                </a:solidFill>
              </a:rPr>
              <a:t>Seule la tête de classification est entraînée, tandis que VGG16 est utilisé comme extracteur de features.</a:t>
            </a:r>
            <a:endParaRPr b="1" sz="105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78208417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78208417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t>Overfitting marqué → écart train (~96%) / validation (~84%) = le modèle apprend trop bien les données d’entraînement, il mémorise au lieu de généraliser (Accuracy train très haute (~96%) / Accuracy validation plus basse (~84%) → écart significatif = signe typique d’overfitting)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78208417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e78208417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t>Diversification des données → meilleure généralisation = </a:t>
            </a:r>
            <a:r>
              <a:rPr lang="fr" sz="1050">
                <a:solidFill>
                  <a:schemeClr val="dk1"/>
                </a:solidFill>
              </a:rPr>
              <a:t>Courbe validation plus stable + Écart train / validation réduit + Moins de chute de perf sur données non vues</a:t>
            </a:r>
            <a:endParaRPr sz="1050">
              <a:solidFill>
                <a:schemeClr val="dk1"/>
              </a:solidFill>
            </a:endParaRPr>
          </a:p>
          <a:p>
            <a:pPr indent="-298450" lvl="0" marL="457200" rtl="0" algn="l">
              <a:spcBef>
                <a:spcPts val="0"/>
              </a:spcBef>
              <a:spcAft>
                <a:spcPts val="0"/>
              </a:spcAft>
              <a:buClr>
                <a:schemeClr val="dk1"/>
              </a:buClr>
              <a:buSzPts val="1100"/>
              <a:buChar char="●"/>
            </a:pPr>
            <a:r>
              <a:rPr lang="fr"/>
              <a:t>Bruit dû à des images modifiées = </a:t>
            </a:r>
            <a:r>
              <a:rPr lang="fr" sz="1050">
                <a:solidFill>
                  <a:schemeClr val="dk1"/>
                </a:solidFill>
              </a:rPr>
              <a:t>Accuracy légèrement plus faible, courbes moins “propres”, modèle parfois perturbé par des exemples moins représentatifs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e78208417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e78208417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t>Pattern (motif / caractéristique utile que le modèle doit apprendre, ex : formes, textures, couleurs typiques d’une classe) = Accuracy plus faible, Plateau rapide à un niveau bas (Modèle “bloqué” → ne progresse plus)</a:t>
            </a:r>
            <a:endParaRPr/>
          </a:p>
          <a:p>
            <a:pPr indent="-295275" lvl="0" marL="457200" rtl="0" algn="l">
              <a:lnSpc>
                <a:spcPct val="115000"/>
              </a:lnSpc>
              <a:spcBef>
                <a:spcPts val="0"/>
              </a:spcBef>
              <a:spcAft>
                <a:spcPts val="0"/>
              </a:spcAft>
              <a:buClr>
                <a:schemeClr val="dk1"/>
              </a:buClr>
              <a:buSzPts val="1050"/>
              <a:buChar char="●"/>
            </a:pPr>
            <a:r>
              <a:rPr lang="fr" sz="1050">
                <a:solidFill>
                  <a:schemeClr val="dk1"/>
                </a:solidFill>
              </a:rPr>
              <a:t>Le modèle se trompe plus souvent entre catégories : moins de valeurs sur la diagonale de la matrice de confusion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e78208417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e78208417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fr">
                <a:solidFill>
                  <a:schemeClr val="dk1"/>
                </a:solidFill>
              </a:rPr>
              <a:t>CNN VGG16 : réseau de neurones convolutionnel profond (modèle qui analyse une image en appliquant des filtres successifs pour détecter des formes simples puis de plus en plus complexes) à 16 couches utilisé pour extraire des caractéristiques visuelles et classifier des images.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Pré-traitement : Normalisation ImageNet : transformation des pixels d’une image en les centrant et en les réduisant à l’aide de moyennes et écarts-types prédéfinis (calculés sur le dataset ImageNet) afin d’adapter les données aux modèles pré-entraînés comme VGG16.</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lang="fr">
                <a:solidFill>
                  <a:schemeClr val="dk1"/>
                </a:solidFill>
              </a:rPr>
              <a:t>Réduction de dimension, PCA : méthode qui transforme des données en un nombre réduit de variables en combinant les variables d’origine, de façon à conserver au maximum l’information tout en simplifiant la représentation.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e8a50725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e8a50725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e8a50725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e8a507257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 CNN est le meilleur modèle car il capte la sémantique des images, contrairement à SIFT. La faible silhouette est normale dans ce contexte et ne remet pas en cause la qualité des représentations.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ea28085d2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3ea28085d2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ebab5ed05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ebab5ed05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fr"/>
              <a:t>Représentation : </a:t>
            </a:r>
            <a:r>
              <a:rPr lang="fr" sz="1050">
                <a:solidFill>
                  <a:schemeClr val="dk1"/>
                </a:solidFill>
              </a:rPr>
              <a:t>méthodes basées sur des features manuelles VS apprenant automatiquement les représentations = classiques VS deep learning = feature engineering VS representation learning</a:t>
            </a:r>
            <a:endParaRPr/>
          </a:p>
          <a:p>
            <a:pPr indent="0" lvl="0" marL="914400" rtl="0" algn="l">
              <a:spcBef>
                <a:spcPts val="0"/>
              </a:spcBef>
              <a:spcAft>
                <a:spcPts val="0"/>
              </a:spcAft>
              <a:buNone/>
            </a:pPr>
            <a:r>
              <a:t/>
            </a:r>
            <a:endParaRPr/>
          </a:p>
          <a:p>
            <a:pPr indent="-298450" lvl="0" marL="457200" rtl="0" algn="l">
              <a:spcBef>
                <a:spcPts val="0"/>
              </a:spcBef>
              <a:spcAft>
                <a:spcPts val="0"/>
              </a:spcAft>
              <a:buSzPts val="1100"/>
              <a:buChar char="●"/>
            </a:pPr>
            <a:r>
              <a:rPr lang="fr"/>
              <a:t>Réduction de dimension, PCA : méthode qui transforme des données en un nombre réduit de variables en combinant les variables d’origine, de façon à conserver au maximum l’information tout en simplifiant la représentation.</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fr"/>
              <a:t>Clustering, k-means : algorithme de clustering qui regroupe des données en k ensembles homogènes en attribuant chaque point au centre (moyenne) le plus proche, ajusté itérativement.</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fr"/>
              <a:t>Évaluation :</a:t>
            </a:r>
            <a:endParaRPr/>
          </a:p>
          <a:p>
            <a:pPr indent="-298450" lvl="1" marL="914400" rtl="0" algn="l">
              <a:spcBef>
                <a:spcPts val="0"/>
              </a:spcBef>
              <a:spcAft>
                <a:spcPts val="0"/>
              </a:spcAft>
              <a:buSzPts val="1100"/>
              <a:buChar char="○"/>
            </a:pPr>
            <a:r>
              <a:rPr lang="fr"/>
              <a:t>supervisées : évaluent un clustering en le comparant à une référence connue (labels). Elles mesurent à quel point les groupes retrouvés correspondent à une vérité terrain.</a:t>
            </a:r>
            <a:endParaRPr/>
          </a:p>
          <a:p>
            <a:pPr indent="-298450" lvl="1" marL="914400" rtl="0" algn="l">
              <a:spcBef>
                <a:spcPts val="0"/>
              </a:spcBef>
              <a:spcAft>
                <a:spcPts val="0"/>
              </a:spcAft>
              <a:buSzPts val="1100"/>
              <a:buChar char="○"/>
            </a:pPr>
            <a:r>
              <a:rPr lang="fr"/>
              <a:t>non supervisées : évaluent la qualité d’un clustering sans vérité terrain. Elles jugent si les groupes sont compactes (points proches) et bien séparés (clusters distincts).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ea28085d2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ea28085d2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1pPr>
            <a:lvl2pPr lvl="1">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2pPr>
            <a:lvl3pPr lvl="2">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3pPr>
            <a:lvl4pPr lvl="3">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4pPr>
            <a:lvl5pPr lvl="4">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5pPr>
            <a:lvl6pPr lvl="5">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6pPr>
            <a:lvl7pPr lvl="6">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7pPr>
            <a:lvl8pPr lvl="7">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8pPr>
            <a:lvl9pPr lvl="8">
              <a:spcBef>
                <a:spcPts val="0"/>
              </a:spcBef>
              <a:spcAft>
                <a:spcPts val="0"/>
              </a:spcAft>
              <a:buClr>
                <a:schemeClr val="dk2"/>
              </a:buClr>
              <a:buSzPts val="3000"/>
              <a:buFont typeface="Roboto"/>
              <a:buNone/>
              <a:defRPr b="1" sz="3000">
                <a:solidFill>
                  <a:schemeClr val="dk2"/>
                </a:solidFill>
                <a:latin typeface="Roboto"/>
                <a:ea typeface="Roboto"/>
                <a:cs typeface="Roboto"/>
                <a:sym typeface="Robot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16.png"/><Relationship Id="rId7"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526350"/>
            <a:ext cx="8183700" cy="211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1180"/>
              <a:t>Projet 6 OPENCLASSROOMS</a:t>
            </a:r>
            <a:endParaRPr sz="1180"/>
          </a:p>
          <a:p>
            <a:pPr indent="0" lvl="0" marL="0" rtl="0" algn="l">
              <a:spcBef>
                <a:spcPts val="0"/>
              </a:spcBef>
              <a:spcAft>
                <a:spcPts val="0"/>
              </a:spcAft>
              <a:buSzPts val="990"/>
              <a:buNone/>
            </a:pPr>
            <a:r>
              <a:rPr lang="fr" sz="3500"/>
              <a:t>Classifier automatiquement des biens de consommation</a:t>
            </a:r>
            <a:endParaRPr sz="3500"/>
          </a:p>
        </p:txBody>
      </p:sp>
      <p:sp>
        <p:nvSpPr>
          <p:cNvPr id="59" name="Google Shape;59;p13"/>
          <p:cNvSpPr txBox="1"/>
          <p:nvPr>
            <p:ph idx="1" type="subTitle"/>
          </p:nvPr>
        </p:nvSpPr>
        <p:spPr>
          <a:xfrm>
            <a:off x="485875" y="3111025"/>
            <a:ext cx="8183700" cy="875100"/>
          </a:xfrm>
          <a:prstGeom prst="rect">
            <a:avLst/>
          </a:prstGeom>
        </p:spPr>
        <p:txBody>
          <a:bodyPr anchorCtr="0" anchor="t" bIns="91425" lIns="91425" spcFirstLastPara="1" rIns="91425" wrap="square" tIns="91425">
            <a:normAutofit/>
          </a:bodyPr>
          <a:lstStyle/>
          <a:p>
            <a:pPr indent="-331470" lvl="0" marL="457200" rtl="0" algn="l">
              <a:spcBef>
                <a:spcPts val="0"/>
              </a:spcBef>
              <a:spcAft>
                <a:spcPts val="0"/>
              </a:spcAft>
              <a:buClr>
                <a:schemeClr val="lt1"/>
              </a:buClr>
              <a:buSzPts val="1620"/>
              <a:buAutoNum type="arabicPeriod"/>
            </a:pPr>
            <a:r>
              <a:rPr lang="fr" sz="1620">
                <a:solidFill>
                  <a:schemeClr val="lt1"/>
                </a:solidFill>
              </a:rPr>
              <a:t>Étudier la faisabilité d'un moteur de classification non supervisée d'articles</a:t>
            </a:r>
            <a:endParaRPr sz="1620">
              <a:solidFill>
                <a:schemeClr val="lt1"/>
              </a:solidFill>
            </a:endParaRPr>
          </a:p>
          <a:p>
            <a:pPr indent="-331470" lvl="0" marL="457200" rtl="0" algn="l">
              <a:spcBef>
                <a:spcPts val="0"/>
              </a:spcBef>
              <a:spcAft>
                <a:spcPts val="0"/>
              </a:spcAft>
              <a:buClr>
                <a:schemeClr val="lt1"/>
              </a:buClr>
              <a:buSzPts val="1620"/>
              <a:buAutoNum type="arabicPeriod"/>
            </a:pPr>
            <a:r>
              <a:rPr lang="fr" sz="1620">
                <a:solidFill>
                  <a:schemeClr val="lt1"/>
                </a:solidFill>
              </a:rPr>
              <a:t>Réaliser une classification supervisée d'images</a:t>
            </a:r>
            <a:endParaRPr sz="162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92150" y="526350"/>
            <a:ext cx="4222500" cy="409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t>RÉSUMÉ</a:t>
            </a:r>
            <a:endParaRPr sz="1800"/>
          </a:p>
          <a:p>
            <a:pPr indent="0" lvl="0" marL="0" rtl="0" algn="l">
              <a:spcBef>
                <a:spcPts val="0"/>
              </a:spcBef>
              <a:spcAft>
                <a:spcPts val="0"/>
              </a:spcAft>
              <a:buNone/>
            </a:pPr>
            <a:r>
              <a:t/>
            </a:r>
            <a:endParaRPr b="0" sz="900"/>
          </a:p>
          <a:p>
            <a:pPr indent="0" lvl="0" marL="0" rtl="0" algn="l">
              <a:spcBef>
                <a:spcPts val="0"/>
              </a:spcBef>
              <a:spcAft>
                <a:spcPts val="0"/>
              </a:spcAft>
              <a:buNone/>
            </a:pPr>
            <a:r>
              <a:rPr lang="fr" sz="1200"/>
              <a:t>FAISABILITÉ DU REGROUPEMENT AUTOMATIQUE</a:t>
            </a:r>
            <a:endParaRPr sz="1200"/>
          </a:p>
          <a:p>
            <a:pPr indent="-304800" lvl="0" marL="457200" rtl="0" algn="l">
              <a:spcBef>
                <a:spcPts val="0"/>
              </a:spcBef>
              <a:spcAft>
                <a:spcPts val="0"/>
              </a:spcAft>
              <a:buSzPts val="1200"/>
              <a:buChar char="●"/>
            </a:pPr>
            <a:r>
              <a:rPr b="0" lang="fr" sz="1200"/>
              <a:t>Validée via le texte :</a:t>
            </a:r>
            <a:endParaRPr b="0" sz="1200"/>
          </a:p>
          <a:p>
            <a:pPr indent="-304800" lvl="1" marL="914400" rtl="0" algn="l">
              <a:spcBef>
                <a:spcPts val="0"/>
              </a:spcBef>
              <a:spcAft>
                <a:spcPts val="0"/>
              </a:spcAft>
              <a:buSzPts val="1200"/>
              <a:buChar char="○"/>
            </a:pPr>
            <a:r>
              <a:rPr b="0" lang="fr" sz="1200"/>
              <a:t>TF-IDF permet de retrouver efficacement les catégories métier</a:t>
            </a:r>
            <a:endParaRPr b="0" sz="1200"/>
          </a:p>
          <a:p>
            <a:pPr indent="-304800" lvl="1" marL="914400" rtl="0" algn="l">
              <a:spcBef>
                <a:spcPts val="0"/>
              </a:spcBef>
              <a:spcAft>
                <a:spcPts val="0"/>
              </a:spcAft>
              <a:buSzPts val="1200"/>
              <a:buChar char="○"/>
            </a:pPr>
            <a:r>
              <a:rPr b="0" lang="fr" sz="1200"/>
              <a:t>bon alignement (ARI / NMI élevés)</a:t>
            </a:r>
            <a:endParaRPr b="0" sz="1200"/>
          </a:p>
          <a:p>
            <a:pPr indent="-304800" lvl="0" marL="457200" rtl="0" algn="l">
              <a:spcBef>
                <a:spcPts val="0"/>
              </a:spcBef>
              <a:spcAft>
                <a:spcPts val="0"/>
              </a:spcAft>
              <a:buSzPts val="1200"/>
              <a:buChar char="●"/>
            </a:pPr>
            <a:r>
              <a:rPr b="0" lang="fr" sz="1200"/>
              <a:t>Limitée via l’image seule (non supervisé) :</a:t>
            </a:r>
            <a:endParaRPr b="0" sz="1200"/>
          </a:p>
          <a:p>
            <a:pPr indent="-304800" lvl="1" marL="914400" rtl="0" algn="l">
              <a:spcBef>
                <a:spcPts val="0"/>
              </a:spcBef>
              <a:spcAft>
                <a:spcPts val="0"/>
              </a:spcAft>
              <a:buSzPts val="1200"/>
              <a:buChar char="○"/>
            </a:pPr>
            <a:r>
              <a:rPr b="0" lang="fr" sz="1200"/>
              <a:t>SIFT peu performant</a:t>
            </a:r>
            <a:endParaRPr b="0" sz="1200"/>
          </a:p>
          <a:p>
            <a:pPr indent="-304800" lvl="1" marL="914400" rtl="0" algn="l">
              <a:spcBef>
                <a:spcPts val="0"/>
              </a:spcBef>
              <a:spcAft>
                <a:spcPts val="0"/>
              </a:spcAft>
              <a:buSzPts val="1200"/>
              <a:buChar char="○"/>
            </a:pPr>
            <a:r>
              <a:rPr b="0" lang="fr" sz="1200"/>
              <a:t>CNN améliore mais reste insuffisant</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APPORT DES APPROCHES SUPERVISÉES</a:t>
            </a:r>
            <a:endParaRPr sz="1200"/>
          </a:p>
          <a:p>
            <a:pPr indent="-304800" lvl="0" marL="457200" rtl="0" algn="l">
              <a:spcBef>
                <a:spcPts val="0"/>
              </a:spcBef>
              <a:spcAft>
                <a:spcPts val="0"/>
              </a:spcAft>
              <a:buSzPts val="1200"/>
              <a:buChar char="●"/>
            </a:pPr>
            <a:r>
              <a:rPr b="0" lang="fr" sz="1200"/>
              <a:t>Le passage en classification supervisée change fortement les résultats</a:t>
            </a:r>
            <a:endParaRPr b="0" sz="1200"/>
          </a:p>
          <a:p>
            <a:pPr indent="-304800" lvl="0" marL="457200" rtl="0" algn="l">
              <a:spcBef>
                <a:spcPts val="0"/>
              </a:spcBef>
              <a:spcAft>
                <a:spcPts val="0"/>
              </a:spcAft>
              <a:buSzPts val="1200"/>
              <a:buChar char="●"/>
            </a:pPr>
            <a:r>
              <a:rPr b="0" lang="fr" sz="1200"/>
              <a:t>Le modèle CNN atteint ≈ 81% d’accuracy</a:t>
            </a:r>
            <a:endParaRPr b="0" sz="1200"/>
          </a:p>
          <a:p>
            <a:pPr indent="-304800" lvl="0" marL="457200" rtl="0" algn="l">
              <a:spcBef>
                <a:spcPts val="0"/>
              </a:spcBef>
              <a:spcAft>
                <a:spcPts val="0"/>
              </a:spcAft>
              <a:buSzPts val="1200"/>
              <a:buChar char="●"/>
            </a:pPr>
            <a:r>
              <a:rPr b="0" lang="fr" sz="1200"/>
              <a:t>Les images deviennent fortement discriminantes</a:t>
            </a:r>
            <a:endParaRPr sz="1200"/>
          </a:p>
          <a:p>
            <a:pPr indent="0" lvl="0" marL="0" rtl="0" algn="l">
              <a:spcBef>
                <a:spcPts val="0"/>
              </a:spcBef>
              <a:spcAft>
                <a:spcPts val="0"/>
              </a:spcAft>
              <a:buNone/>
            </a:pPr>
            <a:r>
              <a:t/>
            </a:r>
            <a:endParaRPr sz="1400"/>
          </a:p>
        </p:txBody>
      </p:sp>
      <p:sp>
        <p:nvSpPr>
          <p:cNvPr id="65" name="Google Shape;65;p14"/>
          <p:cNvSpPr txBox="1"/>
          <p:nvPr>
            <p:ph type="title"/>
          </p:nvPr>
        </p:nvSpPr>
        <p:spPr>
          <a:xfrm>
            <a:off x="4614775" y="526350"/>
            <a:ext cx="4222500" cy="409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t/>
            </a:r>
            <a:endParaRPr b="0" sz="14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COMPARAISON DES APPROCHES</a:t>
            </a:r>
            <a:endParaRPr sz="1200"/>
          </a:p>
          <a:p>
            <a:pPr indent="-304800" lvl="0" marL="457200" rtl="0" algn="l">
              <a:spcBef>
                <a:spcPts val="0"/>
              </a:spcBef>
              <a:spcAft>
                <a:spcPts val="0"/>
              </a:spcAft>
              <a:buSzPts val="1200"/>
              <a:buChar char="●"/>
            </a:pPr>
            <a:r>
              <a:rPr b="0" lang="fr" sz="1200"/>
              <a:t>Non supervisé :</a:t>
            </a:r>
            <a:endParaRPr b="0" sz="1200"/>
          </a:p>
          <a:p>
            <a:pPr indent="-304800" lvl="1" marL="914400" rtl="0" algn="l">
              <a:spcBef>
                <a:spcPts val="0"/>
              </a:spcBef>
              <a:spcAft>
                <a:spcPts val="0"/>
              </a:spcAft>
              <a:buSzPts val="1200"/>
              <a:buChar char="○"/>
            </a:pPr>
            <a:r>
              <a:rPr b="0" lang="fr" sz="1200"/>
              <a:t>utile pour explorer la structure</a:t>
            </a:r>
            <a:endParaRPr b="0" sz="1200"/>
          </a:p>
          <a:p>
            <a:pPr indent="-304800" lvl="1" marL="914400" rtl="0" algn="l">
              <a:spcBef>
                <a:spcPts val="0"/>
              </a:spcBef>
              <a:spcAft>
                <a:spcPts val="0"/>
              </a:spcAft>
              <a:buSzPts val="1200"/>
              <a:buChar char="○"/>
            </a:pPr>
            <a:r>
              <a:rPr b="0" lang="fr" sz="1200"/>
              <a:t>mais performances limitées</a:t>
            </a:r>
            <a:endParaRPr b="0" sz="1200"/>
          </a:p>
          <a:p>
            <a:pPr indent="-304800" lvl="0" marL="457200" rtl="0" algn="l">
              <a:spcBef>
                <a:spcPts val="0"/>
              </a:spcBef>
              <a:spcAft>
                <a:spcPts val="0"/>
              </a:spcAft>
              <a:buSzPts val="1200"/>
              <a:buChar char="●"/>
            </a:pPr>
            <a:r>
              <a:rPr b="0" lang="fr" sz="1200"/>
              <a:t>Supervisé :</a:t>
            </a:r>
            <a:endParaRPr b="0" sz="1200"/>
          </a:p>
          <a:p>
            <a:pPr indent="-304800" lvl="1" marL="914400" rtl="0" algn="l">
              <a:spcBef>
                <a:spcPts val="0"/>
              </a:spcBef>
              <a:spcAft>
                <a:spcPts val="0"/>
              </a:spcAft>
              <a:buSzPts val="1200"/>
              <a:buChar char="○"/>
            </a:pPr>
            <a:r>
              <a:rPr b="0" lang="fr" sz="1200"/>
              <a:t>permet de reproduire efficacement les catégories</a:t>
            </a:r>
            <a:endParaRPr b="0" sz="1200"/>
          </a:p>
          <a:p>
            <a:pPr indent="-304800" lvl="1" marL="914400" rtl="0" algn="l">
              <a:spcBef>
                <a:spcPts val="0"/>
              </a:spcBef>
              <a:spcAft>
                <a:spcPts val="0"/>
              </a:spcAft>
              <a:buSzPts val="1200"/>
              <a:buChar char="○"/>
            </a:pPr>
            <a:r>
              <a:rPr b="0" lang="fr" sz="1200"/>
              <a:t>nettement plus performant</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CONCLUSION</a:t>
            </a:r>
            <a:endParaRPr b="0" sz="1200"/>
          </a:p>
          <a:p>
            <a:pPr indent="-304800" lvl="0" marL="457200" rtl="0" algn="l">
              <a:spcBef>
                <a:spcPts val="0"/>
              </a:spcBef>
              <a:spcAft>
                <a:spcPts val="0"/>
              </a:spcAft>
              <a:buSzPts val="1200"/>
              <a:buChar char="●"/>
            </a:pPr>
            <a:r>
              <a:rPr b="0" lang="fr" sz="1200"/>
              <a:t>Regroupement automatique possible</a:t>
            </a:r>
            <a:endParaRPr b="0" sz="1200"/>
          </a:p>
          <a:p>
            <a:pPr indent="-304800" lvl="0" marL="457200" rtl="0" algn="l">
              <a:spcBef>
                <a:spcPts val="0"/>
              </a:spcBef>
              <a:spcAft>
                <a:spcPts val="0"/>
              </a:spcAft>
              <a:buSzPts val="1200"/>
              <a:buChar char="●"/>
            </a:pPr>
            <a:r>
              <a:rPr b="0" lang="fr" sz="1200"/>
              <a:t>Meilleures performances avec :</a:t>
            </a:r>
            <a:endParaRPr b="0" sz="1200"/>
          </a:p>
          <a:p>
            <a:pPr indent="-304800" lvl="1" marL="914400" rtl="0" algn="l">
              <a:spcBef>
                <a:spcPts val="0"/>
              </a:spcBef>
              <a:spcAft>
                <a:spcPts val="0"/>
              </a:spcAft>
              <a:buSzPts val="1200"/>
              <a:buChar char="○"/>
            </a:pPr>
            <a:r>
              <a:rPr b="0" lang="fr" sz="1200"/>
              <a:t>texte en non supervisé</a:t>
            </a:r>
            <a:endParaRPr b="0" sz="1200"/>
          </a:p>
          <a:p>
            <a:pPr indent="-304800" lvl="1" marL="914400" rtl="0" algn="l">
              <a:spcBef>
                <a:spcPts val="0"/>
              </a:spcBef>
              <a:spcAft>
                <a:spcPts val="0"/>
              </a:spcAft>
              <a:buSzPts val="1200"/>
              <a:buChar char="○"/>
            </a:pPr>
            <a:r>
              <a:rPr b="0" lang="fr" sz="1200"/>
              <a:t>image en supervisé (CNN)</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 Solution optimale : modèle supervisé robuste basé sur deep learning</a:t>
            </a:r>
            <a:endParaRPr sz="1200"/>
          </a:p>
          <a:p>
            <a:pPr indent="0" lvl="0" marL="0" rtl="0" algn="l">
              <a:spcBef>
                <a:spcPts val="0"/>
              </a:spcBef>
              <a:spcAft>
                <a:spcPts val="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idx="2" type="body"/>
          </p:nvPr>
        </p:nvSpPr>
        <p:spPr>
          <a:xfrm>
            <a:off x="4939500" y="526350"/>
            <a:ext cx="3837000" cy="4090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fr"/>
              <a:t>OBJECTIF</a:t>
            </a:r>
            <a:endParaRPr b="1"/>
          </a:p>
          <a:p>
            <a:pPr indent="-311150" lvl="0" marL="457200" rtl="0" algn="l">
              <a:lnSpc>
                <a:spcPct val="100000"/>
              </a:lnSpc>
              <a:spcBef>
                <a:spcPts val="1200"/>
              </a:spcBef>
              <a:spcAft>
                <a:spcPts val="0"/>
              </a:spcAft>
              <a:buSzPts val="1300"/>
              <a:buChar char="●"/>
            </a:pPr>
            <a:r>
              <a:rPr lang="fr" sz="1300"/>
              <a:t>Évaluer la capacité des modèles à reproduire les catégories existantes</a:t>
            </a:r>
            <a:endParaRPr sz="1300"/>
          </a:p>
          <a:p>
            <a:pPr indent="-311150" lvl="0" marL="457200" rtl="0" algn="l">
              <a:lnSpc>
                <a:spcPct val="100000"/>
              </a:lnSpc>
              <a:spcBef>
                <a:spcPts val="0"/>
              </a:spcBef>
              <a:spcAft>
                <a:spcPts val="0"/>
              </a:spcAft>
              <a:buSzPts val="1300"/>
              <a:buChar char="●"/>
            </a:pPr>
            <a:r>
              <a:rPr lang="fr" sz="1300"/>
              <a:t>Comparer l’apport des deux modalités :</a:t>
            </a:r>
            <a:endParaRPr sz="1300"/>
          </a:p>
          <a:p>
            <a:pPr indent="-311150" lvl="1" marL="914400" rtl="0" algn="l">
              <a:lnSpc>
                <a:spcPct val="100000"/>
              </a:lnSpc>
              <a:spcBef>
                <a:spcPts val="0"/>
              </a:spcBef>
              <a:spcAft>
                <a:spcPts val="0"/>
              </a:spcAft>
              <a:buSzPts val="1300"/>
              <a:buChar char="○"/>
            </a:pPr>
            <a:r>
              <a:rPr lang="fr" sz="1300"/>
              <a:t>texte vs image</a:t>
            </a:r>
            <a:endParaRPr sz="1300"/>
          </a:p>
          <a:p>
            <a:pPr indent="-311150" lvl="0" marL="457200" rtl="0" algn="l">
              <a:lnSpc>
                <a:spcPct val="100000"/>
              </a:lnSpc>
              <a:spcBef>
                <a:spcPts val="0"/>
              </a:spcBef>
              <a:spcAft>
                <a:spcPts val="0"/>
              </a:spcAft>
              <a:buSzPts val="1300"/>
              <a:buChar char="●"/>
            </a:pPr>
            <a:r>
              <a:rPr lang="fr" sz="1300"/>
              <a:t>Analyser :</a:t>
            </a:r>
            <a:endParaRPr sz="1300"/>
          </a:p>
          <a:p>
            <a:pPr indent="-311150" lvl="1" marL="914400" rtl="0" algn="l">
              <a:lnSpc>
                <a:spcPct val="100000"/>
              </a:lnSpc>
              <a:spcBef>
                <a:spcPts val="0"/>
              </a:spcBef>
              <a:spcAft>
                <a:spcPts val="0"/>
              </a:spcAft>
              <a:buSzPts val="1300"/>
              <a:buChar char="○"/>
            </a:pPr>
            <a:r>
              <a:rPr lang="fr" sz="1300"/>
              <a:t>la qualité des clusters (non supervisé)</a:t>
            </a:r>
            <a:endParaRPr sz="1300"/>
          </a:p>
          <a:p>
            <a:pPr indent="-311150" lvl="1" marL="914400" rtl="0" algn="l">
              <a:lnSpc>
                <a:spcPct val="100000"/>
              </a:lnSpc>
              <a:spcBef>
                <a:spcPts val="0"/>
              </a:spcBef>
              <a:spcAft>
                <a:spcPts val="0"/>
              </a:spcAft>
              <a:buSzPts val="1300"/>
              <a:buChar char="○"/>
            </a:pPr>
            <a:r>
              <a:rPr lang="fr" sz="1300"/>
              <a:t>la performance de classification (supervisé)</a:t>
            </a:r>
            <a:endParaRPr sz="1300"/>
          </a:p>
          <a:p>
            <a:pPr indent="0" lvl="0" marL="0" rtl="0" algn="l">
              <a:lnSpc>
                <a:spcPct val="100000"/>
              </a:lnSpc>
              <a:spcBef>
                <a:spcPts val="1200"/>
              </a:spcBef>
              <a:spcAft>
                <a:spcPts val="0"/>
              </a:spcAft>
              <a:buNone/>
            </a:pPr>
            <a:r>
              <a:t/>
            </a:r>
            <a:endParaRPr sz="1300"/>
          </a:p>
          <a:p>
            <a:pPr indent="0" lvl="0" marL="0" rtl="0" algn="l">
              <a:lnSpc>
                <a:spcPct val="100000"/>
              </a:lnSpc>
              <a:spcBef>
                <a:spcPts val="1200"/>
              </a:spcBef>
              <a:spcAft>
                <a:spcPts val="0"/>
              </a:spcAft>
              <a:buNone/>
            </a:pPr>
            <a:r>
              <a:t/>
            </a:r>
            <a:endParaRPr sz="1700"/>
          </a:p>
          <a:p>
            <a:pPr indent="0" lvl="0" marL="0" rtl="0" algn="l">
              <a:lnSpc>
                <a:spcPct val="100000"/>
              </a:lnSpc>
              <a:spcBef>
                <a:spcPts val="0"/>
              </a:spcBef>
              <a:spcAft>
                <a:spcPts val="0"/>
              </a:spcAft>
              <a:buNone/>
            </a:pPr>
            <a:r>
              <a:rPr lang="fr" sz="1300"/>
              <a:t>👉 Proposer une </a:t>
            </a:r>
            <a:r>
              <a:rPr b="1" lang="fr" sz="1300"/>
              <a:t>solution automatisée</a:t>
            </a:r>
            <a:r>
              <a:rPr lang="fr" sz="1300"/>
              <a:t> fiable</a:t>
            </a:r>
            <a:endParaRPr sz="1300"/>
          </a:p>
          <a:p>
            <a:pPr indent="0" lvl="0" marL="0" rtl="0" algn="l">
              <a:lnSpc>
                <a:spcPct val="100000"/>
              </a:lnSpc>
              <a:spcBef>
                <a:spcPts val="0"/>
              </a:spcBef>
              <a:spcAft>
                <a:spcPts val="0"/>
              </a:spcAft>
              <a:buNone/>
            </a:pPr>
            <a:r>
              <a:rPr lang="fr" sz="1300"/>
              <a:t>      pour </a:t>
            </a:r>
            <a:r>
              <a:rPr b="1" lang="fr" sz="1300"/>
              <a:t>assister la catégorisation</a:t>
            </a:r>
            <a:r>
              <a:rPr lang="fr" sz="1300"/>
              <a:t> des produits </a:t>
            </a:r>
            <a:endParaRPr sz="1300"/>
          </a:p>
          <a:p>
            <a:pPr indent="0" lvl="0" marL="0" rtl="0" algn="l">
              <a:lnSpc>
                <a:spcPct val="100000"/>
              </a:lnSpc>
              <a:spcBef>
                <a:spcPts val="0"/>
              </a:spcBef>
              <a:spcAft>
                <a:spcPts val="0"/>
              </a:spcAft>
              <a:buNone/>
            </a:pPr>
            <a:r>
              <a:rPr lang="fr" sz="1300"/>
              <a:t>      e‑commerce.</a:t>
            </a:r>
            <a:endParaRPr sz="1300"/>
          </a:p>
        </p:txBody>
      </p:sp>
      <p:sp>
        <p:nvSpPr>
          <p:cNvPr id="71" name="Google Shape;71;p15"/>
          <p:cNvSpPr txBox="1"/>
          <p:nvPr>
            <p:ph idx="2" type="body"/>
          </p:nvPr>
        </p:nvSpPr>
        <p:spPr>
          <a:xfrm>
            <a:off x="367500" y="526350"/>
            <a:ext cx="4039800" cy="4090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fr">
                <a:solidFill>
                  <a:schemeClr val="dk2"/>
                </a:solidFill>
              </a:rPr>
              <a:t>CONTEXTE</a:t>
            </a:r>
            <a:endParaRPr b="1">
              <a:solidFill>
                <a:schemeClr val="dk2"/>
              </a:solidFill>
            </a:endParaRPr>
          </a:p>
          <a:p>
            <a:pPr indent="0" lvl="0" marL="0" rtl="0" algn="l">
              <a:lnSpc>
                <a:spcPct val="100000"/>
              </a:lnSpc>
              <a:spcBef>
                <a:spcPts val="1200"/>
              </a:spcBef>
              <a:spcAft>
                <a:spcPts val="0"/>
              </a:spcAft>
              <a:buNone/>
            </a:pPr>
            <a:r>
              <a:rPr lang="fr" sz="1300">
                <a:solidFill>
                  <a:schemeClr val="dk2"/>
                </a:solidFill>
              </a:rPr>
              <a:t>Les sites e-commerce contiennent un volume important de produits, chaque produit est associé à :</a:t>
            </a:r>
            <a:endParaRPr sz="1300">
              <a:solidFill>
                <a:schemeClr val="dk2"/>
              </a:solidFill>
            </a:endParaRPr>
          </a:p>
          <a:p>
            <a:pPr indent="-311150" lvl="0" marL="457200" rtl="0" algn="l">
              <a:lnSpc>
                <a:spcPct val="100000"/>
              </a:lnSpc>
              <a:spcBef>
                <a:spcPts val="1200"/>
              </a:spcBef>
              <a:spcAft>
                <a:spcPts val="0"/>
              </a:spcAft>
              <a:buClr>
                <a:schemeClr val="dk2"/>
              </a:buClr>
              <a:buSzPts val="1300"/>
              <a:buChar char="●"/>
            </a:pPr>
            <a:r>
              <a:rPr lang="fr" sz="1300">
                <a:solidFill>
                  <a:schemeClr val="dk2"/>
                </a:solidFill>
              </a:rPr>
              <a:t>une description textuelle</a:t>
            </a:r>
            <a:endParaRPr sz="1300">
              <a:solidFill>
                <a:schemeClr val="dk2"/>
              </a:solidFill>
            </a:endParaRPr>
          </a:p>
          <a:p>
            <a:pPr indent="-311150" lvl="0" marL="457200" rtl="0" algn="l">
              <a:lnSpc>
                <a:spcPct val="100000"/>
              </a:lnSpc>
              <a:spcBef>
                <a:spcPts val="0"/>
              </a:spcBef>
              <a:spcAft>
                <a:spcPts val="0"/>
              </a:spcAft>
              <a:buClr>
                <a:schemeClr val="dk2"/>
              </a:buClr>
              <a:buSzPts val="1300"/>
              <a:buChar char="●"/>
            </a:pPr>
            <a:r>
              <a:rPr lang="fr" sz="1300">
                <a:solidFill>
                  <a:schemeClr val="dk2"/>
                </a:solidFill>
              </a:rPr>
              <a:t>une image</a:t>
            </a:r>
            <a:endParaRPr sz="1300">
              <a:solidFill>
                <a:schemeClr val="dk2"/>
              </a:solidFill>
            </a:endParaRPr>
          </a:p>
          <a:p>
            <a:pPr indent="0" lvl="0" marL="0" rtl="0" algn="l">
              <a:lnSpc>
                <a:spcPct val="100000"/>
              </a:lnSpc>
              <a:spcBef>
                <a:spcPts val="1200"/>
              </a:spcBef>
              <a:spcAft>
                <a:spcPts val="0"/>
              </a:spcAft>
              <a:buNone/>
            </a:pPr>
            <a:r>
              <a:rPr lang="fr" sz="1300">
                <a:solidFill>
                  <a:schemeClr val="dk2"/>
                </a:solidFill>
              </a:rPr>
              <a:t>La catégorisation manuelle est :</a:t>
            </a:r>
            <a:endParaRPr sz="1300">
              <a:solidFill>
                <a:schemeClr val="dk2"/>
              </a:solidFill>
            </a:endParaRPr>
          </a:p>
          <a:p>
            <a:pPr indent="-311150" lvl="0" marL="457200" rtl="0" algn="l">
              <a:lnSpc>
                <a:spcPct val="100000"/>
              </a:lnSpc>
              <a:spcBef>
                <a:spcPts val="1200"/>
              </a:spcBef>
              <a:spcAft>
                <a:spcPts val="0"/>
              </a:spcAft>
              <a:buClr>
                <a:schemeClr val="dk2"/>
              </a:buClr>
              <a:buSzPts val="1300"/>
              <a:buChar char="●"/>
            </a:pPr>
            <a:r>
              <a:rPr lang="fr" sz="1300">
                <a:solidFill>
                  <a:schemeClr val="dk2"/>
                </a:solidFill>
              </a:rPr>
              <a:t>longue</a:t>
            </a:r>
            <a:endParaRPr sz="1300">
              <a:solidFill>
                <a:schemeClr val="dk2"/>
              </a:solidFill>
            </a:endParaRPr>
          </a:p>
          <a:p>
            <a:pPr indent="-311150" lvl="0" marL="457200" rtl="0" algn="l">
              <a:lnSpc>
                <a:spcPct val="100000"/>
              </a:lnSpc>
              <a:spcBef>
                <a:spcPts val="0"/>
              </a:spcBef>
              <a:spcAft>
                <a:spcPts val="0"/>
              </a:spcAft>
              <a:buClr>
                <a:schemeClr val="dk2"/>
              </a:buClr>
              <a:buSzPts val="1300"/>
              <a:buChar char="●"/>
            </a:pPr>
            <a:r>
              <a:rPr lang="fr" sz="1300">
                <a:solidFill>
                  <a:schemeClr val="dk2"/>
                </a:solidFill>
              </a:rPr>
              <a:t>coûteuse</a:t>
            </a:r>
            <a:endParaRPr sz="1300">
              <a:solidFill>
                <a:schemeClr val="dk2"/>
              </a:solidFill>
            </a:endParaRPr>
          </a:p>
          <a:p>
            <a:pPr indent="-311150" lvl="0" marL="457200" rtl="0" algn="l">
              <a:lnSpc>
                <a:spcPct val="100000"/>
              </a:lnSpc>
              <a:spcBef>
                <a:spcPts val="0"/>
              </a:spcBef>
              <a:spcAft>
                <a:spcPts val="0"/>
              </a:spcAft>
              <a:buClr>
                <a:schemeClr val="dk2"/>
              </a:buClr>
              <a:buSzPts val="1300"/>
              <a:buChar char="●"/>
            </a:pPr>
            <a:r>
              <a:rPr lang="fr" sz="1300">
                <a:solidFill>
                  <a:schemeClr val="dk2"/>
                </a:solidFill>
              </a:rPr>
              <a:t>sujette aux erreurs</a:t>
            </a:r>
            <a:endParaRPr sz="1300">
              <a:solidFill>
                <a:schemeClr val="dk2"/>
              </a:solidFill>
            </a:endParaRPr>
          </a:p>
          <a:p>
            <a:pPr indent="0" lvl="0" marL="0" rtl="0" algn="l">
              <a:lnSpc>
                <a:spcPct val="100000"/>
              </a:lnSpc>
              <a:spcBef>
                <a:spcPts val="1200"/>
              </a:spcBef>
              <a:spcAft>
                <a:spcPts val="0"/>
              </a:spcAft>
              <a:buNone/>
            </a:pPr>
            <a:r>
              <a:t/>
            </a:r>
            <a:endParaRPr sz="1300">
              <a:solidFill>
                <a:schemeClr val="dk2"/>
              </a:solidFill>
            </a:endParaRPr>
          </a:p>
          <a:p>
            <a:pPr indent="0" lvl="0" marL="0" rtl="0" algn="l">
              <a:lnSpc>
                <a:spcPct val="143000"/>
              </a:lnSpc>
              <a:spcBef>
                <a:spcPts val="1200"/>
              </a:spcBef>
              <a:spcAft>
                <a:spcPts val="0"/>
              </a:spcAft>
              <a:buNone/>
            </a:pPr>
            <a:r>
              <a:rPr lang="fr" sz="1050">
                <a:solidFill>
                  <a:schemeClr val="dk2"/>
                </a:solidFill>
                <a:latin typeface="Arial"/>
                <a:ea typeface="Arial"/>
                <a:cs typeface="Arial"/>
                <a:sym typeface="Arial"/>
              </a:rPr>
              <a:t>👉 </a:t>
            </a:r>
            <a:r>
              <a:rPr lang="fr" sz="1300">
                <a:solidFill>
                  <a:schemeClr val="dk2"/>
                </a:solidFill>
              </a:rPr>
              <a:t>Besoin d’</a:t>
            </a:r>
            <a:r>
              <a:rPr b="1" lang="fr" sz="1300">
                <a:solidFill>
                  <a:schemeClr val="dk1"/>
                </a:solidFill>
              </a:rPr>
              <a:t>automatiser la classification</a:t>
            </a:r>
            <a:endParaRPr b="1" sz="1300">
              <a:solidFill>
                <a:schemeClr val="dk1"/>
              </a:solidFill>
            </a:endParaRPr>
          </a:p>
          <a:p>
            <a:pPr indent="0" lvl="0" marL="0" rtl="0" algn="l">
              <a:lnSpc>
                <a:spcPct val="143000"/>
              </a:lnSpc>
              <a:spcBef>
                <a:spcPts val="0"/>
              </a:spcBef>
              <a:spcAft>
                <a:spcPts val="0"/>
              </a:spcAft>
              <a:buNone/>
            </a:pPr>
            <a:r>
              <a:rPr lang="fr" sz="1300">
                <a:solidFill>
                  <a:schemeClr val="dk2"/>
                </a:solidFill>
              </a:rPr>
              <a:t>     des produits.</a:t>
            </a:r>
            <a:endParaRPr sz="13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490250" y="526350"/>
            <a:ext cx="8179200" cy="40908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rPr lang="fr"/>
              <a:t>Étude de la faisabilité d'un moteur de classification non supervisé d'articles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Méthodologie</a:t>
            </a:r>
            <a:endParaRPr/>
          </a:p>
        </p:txBody>
      </p:sp>
      <p:sp>
        <p:nvSpPr>
          <p:cNvPr id="82" name="Google Shape;82;p17"/>
          <p:cNvSpPr/>
          <p:nvPr/>
        </p:nvSpPr>
        <p:spPr>
          <a:xfrm>
            <a:off x="2849114" y="251292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 name="Google Shape;83;p17"/>
          <p:cNvGrpSpPr/>
          <p:nvPr/>
        </p:nvGrpSpPr>
        <p:grpSpPr>
          <a:xfrm>
            <a:off x="1742632" y="2221948"/>
            <a:ext cx="1368002" cy="1897977"/>
            <a:chOff x="765036" y="1957150"/>
            <a:chExt cx="1368002" cy="1897977"/>
          </a:xfrm>
        </p:grpSpPr>
        <p:sp>
          <p:nvSpPr>
            <p:cNvPr id="84" name="Google Shape;84;p17"/>
            <p:cNvSpPr/>
            <p:nvPr/>
          </p:nvSpPr>
          <p:spPr>
            <a:xfrm>
              <a:off x="11518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5" name="Google Shape;85;p17"/>
            <p:cNvSpPr txBox="1"/>
            <p:nvPr/>
          </p:nvSpPr>
          <p:spPr>
            <a:xfrm>
              <a:off x="1230642" y="2091450"/>
              <a:ext cx="436800" cy="34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86" name="Google Shape;86;p17"/>
            <p:cNvSpPr txBox="1"/>
            <p:nvPr/>
          </p:nvSpPr>
          <p:spPr>
            <a:xfrm>
              <a:off x="765038" y="2658100"/>
              <a:ext cx="13680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Prétraitement</a:t>
              </a:r>
              <a:endParaRPr b="1" sz="1000">
                <a:solidFill>
                  <a:schemeClr val="dk1"/>
                </a:solidFill>
                <a:latin typeface="Roboto"/>
                <a:ea typeface="Roboto"/>
                <a:cs typeface="Roboto"/>
                <a:sym typeface="Roboto"/>
              </a:endParaRPr>
            </a:p>
          </p:txBody>
        </p:sp>
        <p:sp>
          <p:nvSpPr>
            <p:cNvPr id="87" name="Google Shape;87;p17"/>
            <p:cNvSpPr txBox="1"/>
            <p:nvPr/>
          </p:nvSpPr>
          <p:spPr>
            <a:xfrm>
              <a:off x="765036" y="3117727"/>
              <a:ext cx="1368000" cy="73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400"/>
                </a:spcAft>
                <a:buNone/>
              </a:pPr>
              <a:r>
                <a:rPr lang="fr" sz="800">
                  <a:solidFill>
                    <a:schemeClr val="dk1"/>
                  </a:solidFill>
                  <a:latin typeface="Roboto"/>
                  <a:ea typeface="Roboto"/>
                  <a:cs typeface="Roboto"/>
                  <a:sym typeface="Roboto"/>
                </a:rPr>
                <a:t>Basiques ou poussés</a:t>
              </a:r>
              <a:endParaRPr sz="800">
                <a:solidFill>
                  <a:schemeClr val="dk1"/>
                </a:solidFill>
                <a:latin typeface="Roboto"/>
                <a:ea typeface="Roboto"/>
                <a:cs typeface="Roboto"/>
                <a:sym typeface="Roboto"/>
              </a:endParaRPr>
            </a:p>
          </p:txBody>
        </p:sp>
      </p:grpSp>
      <p:grpSp>
        <p:nvGrpSpPr>
          <p:cNvPr id="88" name="Google Shape;88;p17"/>
          <p:cNvGrpSpPr/>
          <p:nvPr/>
        </p:nvGrpSpPr>
        <p:grpSpPr>
          <a:xfrm>
            <a:off x="3199814" y="2221948"/>
            <a:ext cx="1368003" cy="1897977"/>
            <a:chOff x="2869973" y="1957150"/>
            <a:chExt cx="1368003" cy="1897977"/>
          </a:xfrm>
        </p:grpSpPr>
        <p:sp>
          <p:nvSpPr>
            <p:cNvPr id="89" name="Google Shape;89;p17"/>
            <p:cNvSpPr/>
            <p:nvPr/>
          </p:nvSpPr>
          <p:spPr>
            <a:xfrm>
              <a:off x="3256823"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90" name="Google Shape;90;p17"/>
            <p:cNvSpPr txBox="1"/>
            <p:nvPr/>
          </p:nvSpPr>
          <p:spPr>
            <a:xfrm>
              <a:off x="2869975" y="2671325"/>
              <a:ext cx="13680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Représentation</a:t>
              </a:r>
              <a:endParaRPr b="1" sz="1000">
                <a:solidFill>
                  <a:srgbClr val="858585"/>
                </a:solidFill>
                <a:latin typeface="Roboto"/>
                <a:ea typeface="Roboto"/>
                <a:cs typeface="Roboto"/>
                <a:sym typeface="Roboto"/>
              </a:endParaRPr>
            </a:p>
          </p:txBody>
        </p:sp>
        <p:sp>
          <p:nvSpPr>
            <p:cNvPr id="91" name="Google Shape;91;p17"/>
            <p:cNvSpPr txBox="1"/>
            <p:nvPr/>
          </p:nvSpPr>
          <p:spPr>
            <a:xfrm>
              <a:off x="2869973" y="3117727"/>
              <a:ext cx="1368000" cy="73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fr" sz="800">
                  <a:solidFill>
                    <a:srgbClr val="858585"/>
                  </a:solidFill>
                  <a:latin typeface="Roboto"/>
                  <a:ea typeface="Roboto"/>
                  <a:cs typeface="Roboto"/>
                  <a:sym typeface="Roboto"/>
                </a:rPr>
                <a:t>Méthodes à features</a:t>
              </a:r>
              <a:endParaRPr sz="800">
                <a:solidFill>
                  <a:srgbClr val="858585"/>
                </a:solidFill>
                <a:latin typeface="Roboto"/>
                <a:ea typeface="Roboto"/>
                <a:cs typeface="Roboto"/>
                <a:sym typeface="Roboto"/>
              </a:endParaRPr>
            </a:p>
            <a:p>
              <a:pPr indent="0" lvl="0" marL="0" rtl="0" algn="ctr">
                <a:lnSpc>
                  <a:spcPct val="100000"/>
                </a:lnSpc>
                <a:spcBef>
                  <a:spcPts val="400"/>
                </a:spcBef>
                <a:spcAft>
                  <a:spcPts val="0"/>
                </a:spcAft>
                <a:buNone/>
              </a:pPr>
              <a:r>
                <a:rPr lang="fr" sz="800">
                  <a:solidFill>
                    <a:srgbClr val="858585"/>
                  </a:solidFill>
                  <a:latin typeface="Roboto"/>
                  <a:ea typeface="Roboto"/>
                  <a:cs typeface="Roboto"/>
                  <a:sym typeface="Roboto"/>
                </a:rPr>
                <a:t>→  manuelles</a:t>
              </a:r>
              <a:endParaRPr sz="800">
                <a:solidFill>
                  <a:srgbClr val="858585"/>
                </a:solidFill>
                <a:latin typeface="Roboto"/>
                <a:ea typeface="Roboto"/>
                <a:cs typeface="Roboto"/>
                <a:sym typeface="Roboto"/>
              </a:endParaRPr>
            </a:p>
            <a:p>
              <a:pPr indent="0" lvl="0" marL="0" rtl="0" algn="ctr">
                <a:lnSpc>
                  <a:spcPct val="100000"/>
                </a:lnSpc>
                <a:spcBef>
                  <a:spcPts val="400"/>
                </a:spcBef>
                <a:spcAft>
                  <a:spcPts val="400"/>
                </a:spcAft>
                <a:buNone/>
              </a:pPr>
              <a:r>
                <a:rPr lang="fr" sz="800">
                  <a:solidFill>
                    <a:srgbClr val="858585"/>
                  </a:solidFill>
                  <a:latin typeface="Roboto"/>
                  <a:ea typeface="Roboto"/>
                  <a:cs typeface="Roboto"/>
                  <a:sym typeface="Roboto"/>
                </a:rPr>
                <a:t>→ apprises</a:t>
              </a:r>
              <a:endParaRPr sz="800">
                <a:solidFill>
                  <a:srgbClr val="858585"/>
                </a:solidFill>
                <a:latin typeface="Roboto"/>
                <a:ea typeface="Roboto"/>
                <a:cs typeface="Roboto"/>
                <a:sym typeface="Roboto"/>
              </a:endParaRPr>
            </a:p>
          </p:txBody>
        </p:sp>
        <p:sp>
          <p:nvSpPr>
            <p:cNvPr id="92" name="Google Shape;92;p17"/>
            <p:cNvSpPr txBox="1"/>
            <p:nvPr/>
          </p:nvSpPr>
          <p:spPr>
            <a:xfrm>
              <a:off x="3335572" y="2091450"/>
              <a:ext cx="436800" cy="34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grpSp>
      <p:grpSp>
        <p:nvGrpSpPr>
          <p:cNvPr id="93" name="Google Shape;93;p17"/>
          <p:cNvGrpSpPr/>
          <p:nvPr/>
        </p:nvGrpSpPr>
        <p:grpSpPr>
          <a:xfrm>
            <a:off x="4656977" y="2221948"/>
            <a:ext cx="1371770" cy="1897975"/>
            <a:chOff x="4948188" y="1957150"/>
            <a:chExt cx="1371770" cy="1897975"/>
          </a:xfrm>
        </p:grpSpPr>
        <p:sp>
          <p:nvSpPr>
            <p:cNvPr id="94" name="Google Shape;94;p17"/>
            <p:cNvSpPr/>
            <p:nvPr/>
          </p:nvSpPr>
          <p:spPr>
            <a:xfrm>
              <a:off x="5338808"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95" name="Google Shape;95;p17"/>
            <p:cNvSpPr txBox="1"/>
            <p:nvPr/>
          </p:nvSpPr>
          <p:spPr>
            <a:xfrm>
              <a:off x="4948188" y="2671325"/>
              <a:ext cx="13680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[Réduction de dimension]</a:t>
              </a:r>
              <a:endParaRPr b="1" sz="1000">
                <a:solidFill>
                  <a:schemeClr val="dk1"/>
                </a:solidFill>
                <a:latin typeface="Roboto"/>
                <a:ea typeface="Roboto"/>
                <a:cs typeface="Roboto"/>
                <a:sym typeface="Roboto"/>
              </a:endParaRPr>
            </a:p>
          </p:txBody>
        </p:sp>
        <p:sp>
          <p:nvSpPr>
            <p:cNvPr id="96" name="Google Shape;96;p17"/>
            <p:cNvSpPr txBox="1"/>
            <p:nvPr/>
          </p:nvSpPr>
          <p:spPr>
            <a:xfrm>
              <a:off x="4951958" y="3117725"/>
              <a:ext cx="13680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fr" sz="800">
                  <a:solidFill>
                    <a:schemeClr val="dk1"/>
                  </a:solidFill>
                  <a:latin typeface="Roboto"/>
                  <a:ea typeface="Roboto"/>
                  <a:cs typeface="Roboto"/>
                  <a:sym typeface="Roboto"/>
                </a:rPr>
                <a:t>PCA</a:t>
              </a:r>
              <a:r>
                <a:rPr lang="fr" sz="800">
                  <a:solidFill>
                    <a:schemeClr val="dk1"/>
                  </a:solidFill>
                  <a:latin typeface="Roboto"/>
                  <a:ea typeface="Roboto"/>
                  <a:cs typeface="Roboto"/>
                  <a:sym typeface="Roboto"/>
                </a:rPr>
                <a:t> </a:t>
              </a:r>
              <a:endParaRPr sz="800">
                <a:solidFill>
                  <a:schemeClr val="dk1"/>
                </a:solidFill>
                <a:latin typeface="Roboto"/>
                <a:ea typeface="Roboto"/>
                <a:cs typeface="Roboto"/>
                <a:sym typeface="Roboto"/>
              </a:endParaRPr>
            </a:p>
          </p:txBody>
        </p:sp>
        <p:sp>
          <p:nvSpPr>
            <p:cNvPr id="97" name="Google Shape;97;p17"/>
            <p:cNvSpPr txBox="1"/>
            <p:nvPr/>
          </p:nvSpPr>
          <p:spPr>
            <a:xfrm>
              <a:off x="5417550" y="2091450"/>
              <a:ext cx="436800" cy="34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grpSp>
      <p:grpSp>
        <p:nvGrpSpPr>
          <p:cNvPr id="98" name="Google Shape;98;p17"/>
          <p:cNvGrpSpPr/>
          <p:nvPr/>
        </p:nvGrpSpPr>
        <p:grpSpPr>
          <a:xfrm>
            <a:off x="6124218" y="2221948"/>
            <a:ext cx="1368002" cy="1897977"/>
            <a:chOff x="7033936" y="1957150"/>
            <a:chExt cx="1368002" cy="1897977"/>
          </a:xfrm>
        </p:grpSpPr>
        <p:sp>
          <p:nvSpPr>
            <p:cNvPr id="99" name="Google Shape;99;p17"/>
            <p:cNvSpPr/>
            <p:nvPr/>
          </p:nvSpPr>
          <p:spPr>
            <a:xfrm>
              <a:off x="74207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txBox="1"/>
            <p:nvPr/>
          </p:nvSpPr>
          <p:spPr>
            <a:xfrm>
              <a:off x="7033938" y="2652425"/>
              <a:ext cx="13680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Clustering</a:t>
              </a:r>
              <a:endParaRPr b="1" sz="1000">
                <a:solidFill>
                  <a:srgbClr val="858585"/>
                </a:solidFill>
                <a:latin typeface="Roboto"/>
                <a:ea typeface="Roboto"/>
                <a:cs typeface="Roboto"/>
                <a:sym typeface="Roboto"/>
              </a:endParaRPr>
            </a:p>
          </p:txBody>
        </p:sp>
        <p:sp>
          <p:nvSpPr>
            <p:cNvPr id="101" name="Google Shape;101;p17"/>
            <p:cNvSpPr txBox="1"/>
            <p:nvPr/>
          </p:nvSpPr>
          <p:spPr>
            <a:xfrm>
              <a:off x="7033936" y="3117727"/>
              <a:ext cx="13680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fr" sz="800">
                  <a:solidFill>
                    <a:srgbClr val="858585"/>
                  </a:solidFill>
                  <a:latin typeface="Roboto"/>
                  <a:ea typeface="Roboto"/>
                  <a:cs typeface="Roboto"/>
                  <a:sym typeface="Roboto"/>
                </a:rPr>
                <a:t>K-means</a:t>
              </a:r>
              <a:endParaRPr sz="800">
                <a:solidFill>
                  <a:srgbClr val="858585"/>
                </a:solidFill>
                <a:latin typeface="Roboto"/>
                <a:ea typeface="Roboto"/>
                <a:cs typeface="Roboto"/>
                <a:sym typeface="Roboto"/>
              </a:endParaRPr>
            </a:p>
          </p:txBody>
        </p:sp>
        <p:sp>
          <p:nvSpPr>
            <p:cNvPr id="102" name="Google Shape;102;p17"/>
            <p:cNvSpPr txBox="1"/>
            <p:nvPr/>
          </p:nvSpPr>
          <p:spPr>
            <a:xfrm>
              <a:off x="7499531" y="2091450"/>
              <a:ext cx="436800" cy="34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grpSp>
      <p:sp>
        <p:nvSpPr>
          <p:cNvPr id="103" name="Google Shape;103;p17"/>
          <p:cNvSpPr/>
          <p:nvPr/>
        </p:nvSpPr>
        <p:spPr>
          <a:xfrm>
            <a:off x="4316880" y="2512911"/>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5777721" y="2512911"/>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17"/>
          <p:cNvGrpSpPr/>
          <p:nvPr/>
        </p:nvGrpSpPr>
        <p:grpSpPr>
          <a:xfrm>
            <a:off x="285313" y="2221948"/>
            <a:ext cx="1368151" cy="1897975"/>
            <a:chOff x="765041" y="1957150"/>
            <a:chExt cx="1368151" cy="1897975"/>
          </a:xfrm>
        </p:grpSpPr>
        <p:sp>
          <p:nvSpPr>
            <p:cNvPr id="106" name="Google Shape;106;p17"/>
            <p:cNvSpPr/>
            <p:nvPr/>
          </p:nvSpPr>
          <p:spPr>
            <a:xfrm>
              <a:off x="11518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107" name="Google Shape;107;p1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sp>
          <p:nvSpPr>
            <p:cNvPr id="108" name="Google Shape;108;p17"/>
            <p:cNvSpPr txBox="1"/>
            <p:nvPr/>
          </p:nvSpPr>
          <p:spPr>
            <a:xfrm>
              <a:off x="765041" y="2671325"/>
              <a:ext cx="13680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Données brutes</a:t>
              </a:r>
              <a:endParaRPr b="1" sz="1000">
                <a:solidFill>
                  <a:srgbClr val="858585"/>
                </a:solidFill>
                <a:latin typeface="Roboto"/>
                <a:ea typeface="Roboto"/>
                <a:cs typeface="Roboto"/>
                <a:sym typeface="Roboto"/>
              </a:endParaRPr>
            </a:p>
          </p:txBody>
        </p:sp>
        <p:sp>
          <p:nvSpPr>
            <p:cNvPr id="109" name="Google Shape;109;p17"/>
            <p:cNvSpPr txBox="1"/>
            <p:nvPr/>
          </p:nvSpPr>
          <p:spPr>
            <a:xfrm>
              <a:off x="775992" y="3117725"/>
              <a:ext cx="13572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fr" sz="800">
                  <a:solidFill>
                    <a:srgbClr val="858585"/>
                  </a:solidFill>
                  <a:latin typeface="Roboto"/>
                  <a:ea typeface="Roboto"/>
                  <a:cs typeface="Roboto"/>
                  <a:sym typeface="Roboto"/>
                </a:rPr>
                <a:t>Texte ou image</a:t>
              </a:r>
              <a:endParaRPr sz="800">
                <a:solidFill>
                  <a:srgbClr val="858585"/>
                </a:solidFill>
                <a:latin typeface="Roboto"/>
                <a:ea typeface="Roboto"/>
                <a:cs typeface="Roboto"/>
                <a:sym typeface="Roboto"/>
              </a:endParaRPr>
            </a:p>
          </p:txBody>
        </p:sp>
      </p:grpSp>
      <p:grpSp>
        <p:nvGrpSpPr>
          <p:cNvPr id="110" name="Google Shape;110;p17"/>
          <p:cNvGrpSpPr/>
          <p:nvPr/>
        </p:nvGrpSpPr>
        <p:grpSpPr>
          <a:xfrm>
            <a:off x="7575093" y="2221948"/>
            <a:ext cx="1368002" cy="1897977"/>
            <a:chOff x="7027086" y="1957150"/>
            <a:chExt cx="1368002" cy="1897977"/>
          </a:xfrm>
        </p:grpSpPr>
        <p:sp>
          <p:nvSpPr>
            <p:cNvPr id="111" name="Google Shape;111;p17"/>
            <p:cNvSpPr/>
            <p:nvPr/>
          </p:nvSpPr>
          <p:spPr>
            <a:xfrm>
              <a:off x="74207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12" name="Google Shape;112;p17"/>
            <p:cNvSpPr txBox="1"/>
            <p:nvPr/>
          </p:nvSpPr>
          <p:spPr>
            <a:xfrm>
              <a:off x="7027088" y="2658100"/>
              <a:ext cx="13680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Évaluation</a:t>
              </a:r>
              <a:endParaRPr b="1" sz="1000">
                <a:solidFill>
                  <a:schemeClr val="dk1"/>
                </a:solidFill>
                <a:latin typeface="Roboto"/>
                <a:ea typeface="Roboto"/>
                <a:cs typeface="Roboto"/>
                <a:sym typeface="Roboto"/>
              </a:endParaRPr>
            </a:p>
          </p:txBody>
        </p:sp>
        <p:sp>
          <p:nvSpPr>
            <p:cNvPr id="113" name="Google Shape;113;p17"/>
            <p:cNvSpPr txBox="1"/>
            <p:nvPr/>
          </p:nvSpPr>
          <p:spPr>
            <a:xfrm>
              <a:off x="7027086" y="3117727"/>
              <a:ext cx="1368000" cy="73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fr" sz="800">
                  <a:solidFill>
                    <a:schemeClr val="dk1"/>
                  </a:solidFill>
                  <a:latin typeface="Roboto"/>
                  <a:ea typeface="Roboto"/>
                  <a:cs typeface="Roboto"/>
                  <a:sym typeface="Roboto"/>
                </a:rPr>
                <a:t>Metrics </a:t>
              </a:r>
              <a:endParaRPr sz="800">
                <a:solidFill>
                  <a:schemeClr val="dk1"/>
                </a:solidFill>
                <a:latin typeface="Roboto"/>
                <a:ea typeface="Roboto"/>
                <a:cs typeface="Roboto"/>
                <a:sym typeface="Roboto"/>
              </a:endParaRPr>
            </a:p>
            <a:p>
              <a:pPr indent="0" lvl="0" marL="0" rtl="0" algn="ctr">
                <a:lnSpc>
                  <a:spcPct val="100000"/>
                </a:lnSpc>
                <a:spcBef>
                  <a:spcPts val="400"/>
                </a:spcBef>
                <a:spcAft>
                  <a:spcPts val="0"/>
                </a:spcAft>
                <a:buNone/>
              </a:pPr>
              <a:r>
                <a:rPr lang="fr" sz="800">
                  <a:solidFill>
                    <a:schemeClr val="dk1"/>
                  </a:solidFill>
                  <a:latin typeface="Roboto"/>
                  <a:ea typeface="Roboto"/>
                  <a:cs typeface="Roboto"/>
                  <a:sym typeface="Roboto"/>
                </a:rPr>
                <a:t>→ </a:t>
              </a:r>
              <a:r>
                <a:rPr lang="fr" sz="800">
                  <a:solidFill>
                    <a:schemeClr val="dk1"/>
                  </a:solidFill>
                  <a:latin typeface="Roboto"/>
                  <a:ea typeface="Roboto"/>
                  <a:cs typeface="Roboto"/>
                  <a:sym typeface="Roboto"/>
                </a:rPr>
                <a:t>supervisées</a:t>
              </a:r>
              <a:endParaRPr sz="800">
                <a:solidFill>
                  <a:schemeClr val="dk1"/>
                </a:solidFill>
                <a:latin typeface="Roboto"/>
                <a:ea typeface="Roboto"/>
                <a:cs typeface="Roboto"/>
                <a:sym typeface="Roboto"/>
              </a:endParaRPr>
            </a:p>
            <a:p>
              <a:pPr indent="0" lvl="0" marL="0" rtl="0" algn="ctr">
                <a:lnSpc>
                  <a:spcPct val="100000"/>
                </a:lnSpc>
                <a:spcBef>
                  <a:spcPts val="400"/>
                </a:spcBef>
                <a:spcAft>
                  <a:spcPts val="400"/>
                </a:spcAft>
                <a:buNone/>
              </a:pPr>
              <a:r>
                <a:rPr lang="fr" sz="800">
                  <a:solidFill>
                    <a:schemeClr val="dk1"/>
                  </a:solidFill>
                  <a:latin typeface="Roboto"/>
                  <a:ea typeface="Roboto"/>
                  <a:cs typeface="Roboto"/>
                  <a:sym typeface="Roboto"/>
                </a:rPr>
                <a:t>→ non supervisées</a:t>
              </a:r>
              <a:endParaRPr sz="800">
                <a:solidFill>
                  <a:schemeClr val="dk1"/>
                </a:solidFill>
                <a:latin typeface="Roboto"/>
                <a:ea typeface="Roboto"/>
                <a:cs typeface="Roboto"/>
                <a:sym typeface="Roboto"/>
              </a:endParaRPr>
            </a:p>
          </p:txBody>
        </p:sp>
        <p:sp>
          <p:nvSpPr>
            <p:cNvPr id="114" name="Google Shape;114;p17"/>
            <p:cNvSpPr txBox="1"/>
            <p:nvPr/>
          </p:nvSpPr>
          <p:spPr>
            <a:xfrm>
              <a:off x="7499532" y="2091450"/>
              <a:ext cx="436800" cy="34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grpSp>
      <p:sp>
        <p:nvSpPr>
          <p:cNvPr id="115" name="Google Shape;115;p17"/>
          <p:cNvSpPr/>
          <p:nvPr/>
        </p:nvSpPr>
        <p:spPr>
          <a:xfrm>
            <a:off x="7238546" y="2512911"/>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7"/>
          <p:cNvSpPr/>
          <p:nvPr/>
        </p:nvSpPr>
        <p:spPr>
          <a:xfrm>
            <a:off x="1381339" y="251292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392150" y="1092053"/>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TEXTE - </a:t>
            </a:r>
            <a:r>
              <a:rPr lang="fr"/>
              <a:t>Cas 1, </a:t>
            </a:r>
            <a:r>
              <a:rPr lang="fr">
                <a:solidFill>
                  <a:schemeClr val="dk1"/>
                </a:solidFill>
              </a:rPr>
              <a:t>TF-IDF</a:t>
            </a:r>
            <a:endParaRPr>
              <a:solidFill>
                <a:schemeClr val="dk1"/>
              </a:solidFill>
            </a:endParaRPr>
          </a:p>
        </p:txBody>
      </p:sp>
      <p:pic>
        <p:nvPicPr>
          <p:cNvPr id="123" name="Google Shape;123;p18"/>
          <p:cNvPicPr preferRelativeResize="0"/>
          <p:nvPr/>
        </p:nvPicPr>
        <p:blipFill>
          <a:blip r:embed="rId3">
            <a:alphaModFix/>
          </a:blip>
          <a:stretch>
            <a:fillRect/>
          </a:stretch>
        </p:blipFill>
        <p:spPr>
          <a:xfrm>
            <a:off x="3917103" y="1058978"/>
            <a:ext cx="4752472" cy="1958550"/>
          </a:xfrm>
          <a:prstGeom prst="rect">
            <a:avLst/>
          </a:prstGeom>
          <a:noFill/>
          <a:ln>
            <a:noFill/>
          </a:ln>
        </p:spPr>
      </p:pic>
      <p:graphicFrame>
        <p:nvGraphicFramePr>
          <p:cNvPr id="124" name="Google Shape;124;p18"/>
          <p:cNvGraphicFramePr/>
          <p:nvPr/>
        </p:nvGraphicFramePr>
        <p:xfrm>
          <a:off x="4102850" y="3247938"/>
          <a:ext cx="3000000" cy="3000000"/>
        </p:xfrm>
        <a:graphic>
          <a:graphicData uri="http://schemas.openxmlformats.org/drawingml/2006/table">
            <a:tbl>
              <a:tblPr>
                <a:noFill/>
                <a:tableStyleId>{D5246A32-94BD-469A-8FF0-07B5B3C936EE}</a:tableStyleId>
              </a:tblPr>
              <a:tblGrid>
                <a:gridCol w="1080000"/>
                <a:gridCol w="1080000"/>
              </a:tblGrid>
              <a:tr h="322225">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0.24</a:t>
                      </a:r>
                      <a:endParaRPr b="1" sz="800">
                        <a:solidFill>
                          <a:srgbClr val="36AF0B"/>
                        </a:solidFill>
                      </a:endParaRPr>
                    </a:p>
                  </a:txBody>
                  <a:tcPr marT="18000" marB="18000" marR="18000" marL="18000" anchor="ctr"/>
                </a:tc>
              </a:tr>
              <a:tr h="309850">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0.44</a:t>
                      </a:r>
                      <a:endParaRPr b="1" sz="800">
                        <a:solidFill>
                          <a:srgbClr val="36AF0B"/>
                        </a:solidFill>
                      </a:endParaRPr>
                    </a:p>
                  </a:txBody>
                  <a:tcPr marT="18000" marB="18000" marR="18000" marL="18000" anchor="ctr"/>
                </a:tc>
              </a:tr>
              <a:tr h="309850">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0.07</a:t>
                      </a:r>
                      <a:endParaRPr b="1" sz="800">
                        <a:solidFill>
                          <a:srgbClr val="CC0000"/>
                        </a:solidFill>
                      </a:endParaRPr>
                    </a:p>
                  </a:txBody>
                  <a:tcPr marT="18000" marB="18000" marR="18000" marL="18000" anchor="ctr"/>
                </a:tc>
              </a:tr>
              <a:tr h="309850">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3.60</a:t>
                      </a:r>
                      <a:endParaRPr b="1" sz="800">
                        <a:solidFill>
                          <a:srgbClr val="CC0000"/>
                        </a:solidFill>
                      </a:endParaRPr>
                    </a:p>
                  </a:txBody>
                  <a:tcPr marT="18000" marB="18000" marR="18000" marL="18000" anchor="ctr"/>
                </a:tc>
              </a:tr>
              <a:tr h="309850">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29.82</a:t>
                      </a:r>
                      <a:endParaRPr b="1" sz="800">
                        <a:solidFill>
                          <a:srgbClr val="CC0000"/>
                        </a:solidFill>
                      </a:endParaRPr>
                    </a:p>
                  </a:txBody>
                  <a:tcPr marT="18000" marB="18000" marR="18000" marL="18000" anchor="ctr"/>
                </a:tc>
              </a:tr>
            </a:tbl>
          </a:graphicData>
        </a:graphic>
      </p:graphicFrame>
      <p:grpSp>
        <p:nvGrpSpPr>
          <p:cNvPr id="125" name="Google Shape;125;p18"/>
          <p:cNvGrpSpPr/>
          <p:nvPr/>
        </p:nvGrpSpPr>
        <p:grpSpPr>
          <a:xfrm>
            <a:off x="-3" y="1182663"/>
            <a:ext cx="3233628" cy="3960826"/>
            <a:chOff x="306047" y="1182663"/>
            <a:chExt cx="3233628" cy="3960826"/>
          </a:xfrm>
        </p:grpSpPr>
        <p:grpSp>
          <p:nvGrpSpPr>
            <p:cNvPr id="126" name="Google Shape;126;p18"/>
            <p:cNvGrpSpPr/>
            <p:nvPr/>
          </p:nvGrpSpPr>
          <p:grpSpPr>
            <a:xfrm>
              <a:off x="308925" y="1974575"/>
              <a:ext cx="2735002" cy="797882"/>
              <a:chOff x="4284901" y="1139452"/>
              <a:chExt cx="2735002" cy="797882"/>
            </a:xfrm>
          </p:grpSpPr>
          <p:grpSp>
            <p:nvGrpSpPr>
              <p:cNvPr id="127" name="Google Shape;127;p18"/>
              <p:cNvGrpSpPr/>
              <p:nvPr/>
            </p:nvGrpSpPr>
            <p:grpSpPr>
              <a:xfrm>
                <a:off x="4732925" y="1140987"/>
                <a:ext cx="529800" cy="796347"/>
                <a:chOff x="4318975" y="1083450"/>
                <a:chExt cx="529800" cy="471546"/>
              </a:xfrm>
            </p:grpSpPr>
            <p:sp>
              <p:nvSpPr>
                <p:cNvPr id="128" name="Google Shape;128;p18"/>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8"/>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130" name="Google Shape;130;p18"/>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131" name="Google Shape;131;p18"/>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Texte propre → calcul TF-IDF</a:t>
                </a:r>
                <a:endParaRPr sz="700">
                  <a:solidFill>
                    <a:srgbClr val="858585"/>
                  </a:solidFill>
                  <a:latin typeface="Roboto"/>
                  <a:ea typeface="Roboto"/>
                  <a:cs typeface="Roboto"/>
                  <a:sym typeface="Roboto"/>
                </a:endParaRPr>
              </a:p>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 pondération des termes</a:t>
                </a:r>
                <a:endParaRPr sz="700">
                  <a:solidFill>
                    <a:srgbClr val="858585"/>
                  </a:solidFill>
                  <a:latin typeface="Roboto"/>
                  <a:ea typeface="Roboto"/>
                  <a:cs typeface="Roboto"/>
                  <a:sym typeface="Roboto"/>
                </a:endParaRPr>
              </a:p>
            </p:txBody>
          </p:sp>
          <p:sp>
            <p:nvSpPr>
              <p:cNvPr id="132" name="Google Shape;132;p18"/>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133" name="Google Shape;133;p18"/>
            <p:cNvGrpSpPr/>
            <p:nvPr/>
          </p:nvGrpSpPr>
          <p:grpSpPr>
            <a:xfrm>
              <a:off x="308925" y="3567850"/>
              <a:ext cx="2735001" cy="795401"/>
              <a:chOff x="4284901" y="1141934"/>
              <a:chExt cx="2735001" cy="795401"/>
            </a:xfrm>
          </p:grpSpPr>
          <p:grpSp>
            <p:nvGrpSpPr>
              <p:cNvPr id="134" name="Google Shape;134;p18"/>
              <p:cNvGrpSpPr/>
              <p:nvPr/>
            </p:nvGrpSpPr>
            <p:grpSpPr>
              <a:xfrm>
                <a:off x="4732925" y="1142460"/>
                <a:ext cx="529800" cy="794874"/>
                <a:chOff x="4318975" y="1084322"/>
                <a:chExt cx="529800" cy="470674"/>
              </a:xfrm>
            </p:grpSpPr>
            <p:sp>
              <p:nvSpPr>
                <p:cNvPr id="135" name="Google Shape;135;p18"/>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 name="Google Shape;136;p18"/>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137" name="Google Shape;137;p18"/>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138" name="Google Shape;138;p18"/>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Matrice → KMeans → clusters</a:t>
                </a:r>
                <a:endParaRPr sz="700">
                  <a:solidFill>
                    <a:srgbClr val="858585"/>
                  </a:solidFill>
                  <a:latin typeface="Roboto"/>
                  <a:ea typeface="Roboto"/>
                  <a:cs typeface="Roboto"/>
                  <a:sym typeface="Roboto"/>
                </a:endParaRPr>
              </a:p>
            </p:txBody>
          </p:sp>
          <p:sp>
            <p:nvSpPr>
              <p:cNvPr id="139" name="Google Shape;139;p18"/>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140" name="Google Shape;140;p18"/>
            <p:cNvGrpSpPr/>
            <p:nvPr/>
          </p:nvGrpSpPr>
          <p:grpSpPr>
            <a:xfrm>
              <a:off x="306047" y="2772450"/>
              <a:ext cx="3233628" cy="795401"/>
              <a:chOff x="4284885" y="1141936"/>
              <a:chExt cx="3233628" cy="795401"/>
            </a:xfrm>
          </p:grpSpPr>
          <p:grpSp>
            <p:nvGrpSpPr>
              <p:cNvPr id="141" name="Google Shape;141;p18"/>
              <p:cNvGrpSpPr/>
              <p:nvPr/>
            </p:nvGrpSpPr>
            <p:grpSpPr>
              <a:xfrm>
                <a:off x="4732925" y="1142460"/>
                <a:ext cx="529800" cy="794877"/>
                <a:chOff x="4318975" y="1084322"/>
                <a:chExt cx="529800" cy="470676"/>
              </a:xfrm>
            </p:grpSpPr>
            <p:sp>
              <p:nvSpPr>
                <p:cNvPr id="142" name="Google Shape;142;p18"/>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 name="Google Shape;143;p18"/>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144" name="Google Shape;144;p18"/>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145" name="Google Shape;145;p18"/>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TF-IDF → matrice documents-termes</a:t>
                </a:r>
                <a:endParaRPr sz="700">
                  <a:solidFill>
                    <a:schemeClr val="dk1"/>
                  </a:solidFill>
                  <a:latin typeface="Roboto"/>
                  <a:ea typeface="Roboto"/>
                  <a:cs typeface="Roboto"/>
                  <a:sym typeface="Roboto"/>
                </a:endParaRPr>
              </a:p>
            </p:txBody>
          </p:sp>
          <p:sp>
            <p:nvSpPr>
              <p:cNvPr id="146" name="Google Shape;146;p18"/>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147" name="Google Shape;147;p18"/>
            <p:cNvGrpSpPr/>
            <p:nvPr/>
          </p:nvGrpSpPr>
          <p:grpSpPr>
            <a:xfrm>
              <a:off x="311700" y="1182663"/>
              <a:ext cx="2729377" cy="791917"/>
              <a:chOff x="307438" y="1140891"/>
              <a:chExt cx="2729377" cy="791917"/>
            </a:xfrm>
          </p:grpSpPr>
          <p:grpSp>
            <p:nvGrpSpPr>
              <p:cNvPr id="148" name="Google Shape;148;p18"/>
              <p:cNvGrpSpPr/>
              <p:nvPr/>
            </p:nvGrpSpPr>
            <p:grpSpPr>
              <a:xfrm>
                <a:off x="307438" y="1140891"/>
                <a:ext cx="2729377" cy="791917"/>
                <a:chOff x="307438" y="1140891"/>
                <a:chExt cx="2729377" cy="791917"/>
              </a:xfrm>
            </p:grpSpPr>
            <p:grpSp>
              <p:nvGrpSpPr>
                <p:cNvPr id="149" name="Google Shape;149;p18"/>
                <p:cNvGrpSpPr/>
                <p:nvPr/>
              </p:nvGrpSpPr>
              <p:grpSpPr>
                <a:xfrm>
                  <a:off x="755525" y="1140891"/>
                  <a:ext cx="529800" cy="791917"/>
                  <a:chOff x="4318975" y="1083450"/>
                  <a:chExt cx="529800" cy="676505"/>
                </a:xfrm>
              </p:grpSpPr>
              <p:sp>
                <p:nvSpPr>
                  <p:cNvPr id="150" name="Google Shape;150;p18"/>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 name="Google Shape;151;p18"/>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152" name="Google Shape;152;p18"/>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153" name="Google Shape;153;p18"/>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Descriptions texte → nettoyage </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texte propre</a:t>
                  </a:r>
                  <a:endParaRPr sz="700">
                    <a:solidFill>
                      <a:schemeClr val="dk1"/>
                    </a:solidFill>
                    <a:latin typeface="Roboto"/>
                    <a:ea typeface="Roboto"/>
                    <a:cs typeface="Roboto"/>
                    <a:sym typeface="Roboto"/>
                  </a:endParaRPr>
                </a:p>
              </p:txBody>
            </p:sp>
            <p:sp>
              <p:nvSpPr>
                <p:cNvPr id="154" name="Google Shape;154;p18"/>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155" name="Google Shape;155;p18"/>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156" name="Google Shape;156;p18"/>
            <p:cNvGrpSpPr/>
            <p:nvPr/>
          </p:nvGrpSpPr>
          <p:grpSpPr>
            <a:xfrm>
              <a:off x="310347" y="4351573"/>
              <a:ext cx="2729315" cy="791917"/>
              <a:chOff x="307500" y="1140891"/>
              <a:chExt cx="2729315" cy="791917"/>
            </a:xfrm>
          </p:grpSpPr>
          <p:grpSp>
            <p:nvGrpSpPr>
              <p:cNvPr id="157" name="Google Shape;157;p18"/>
              <p:cNvGrpSpPr/>
              <p:nvPr/>
            </p:nvGrpSpPr>
            <p:grpSpPr>
              <a:xfrm>
                <a:off x="307500" y="1140891"/>
                <a:ext cx="2729315" cy="791917"/>
                <a:chOff x="307500" y="1140891"/>
                <a:chExt cx="2729315" cy="791917"/>
              </a:xfrm>
            </p:grpSpPr>
            <p:grpSp>
              <p:nvGrpSpPr>
                <p:cNvPr id="158" name="Google Shape;158;p18"/>
                <p:cNvGrpSpPr/>
                <p:nvPr/>
              </p:nvGrpSpPr>
              <p:grpSpPr>
                <a:xfrm>
                  <a:off x="755525" y="1140891"/>
                  <a:ext cx="529800" cy="791917"/>
                  <a:chOff x="4318975" y="1083450"/>
                  <a:chExt cx="529800" cy="676505"/>
                </a:xfrm>
              </p:grpSpPr>
              <p:sp>
                <p:nvSpPr>
                  <p:cNvPr id="159" name="Google Shape;159;p18"/>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0" name="Google Shape;160;p18"/>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161" name="Google Shape;161;p18"/>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162" name="Google Shape;162;p18"/>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163" name="Google Shape;163;p18"/>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164" name="Google Shape;164;p18"/>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165" name="Google Shape;165;p18"/>
          <p:cNvSpPr txBox="1"/>
          <p:nvPr/>
        </p:nvSpPr>
        <p:spPr>
          <a:xfrm>
            <a:off x="6262825" y="3247925"/>
            <a:ext cx="23772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Bon alignement avec les catégories réelles (ARI, NMI corrects)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Structure des clusters peu compacte (silhouette faible)</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Forte dépendance au vocabulaire utilisé</a:t>
            </a:r>
            <a:endParaRPr sz="800">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TEXTE - Cas 2, </a:t>
            </a:r>
            <a:r>
              <a:rPr lang="fr">
                <a:solidFill>
                  <a:schemeClr val="dk1"/>
                </a:solidFill>
              </a:rPr>
              <a:t>Word2Vec</a:t>
            </a:r>
            <a:endParaRPr>
              <a:solidFill>
                <a:schemeClr val="dk1"/>
              </a:solidFill>
            </a:endParaRPr>
          </a:p>
        </p:txBody>
      </p:sp>
      <p:graphicFrame>
        <p:nvGraphicFramePr>
          <p:cNvPr id="171" name="Google Shape;171;p19"/>
          <p:cNvGraphicFramePr/>
          <p:nvPr/>
        </p:nvGraphicFramePr>
        <p:xfrm>
          <a:off x="4098300" y="3254875"/>
          <a:ext cx="3000000" cy="3000000"/>
        </p:xfrm>
        <a:graphic>
          <a:graphicData uri="http://schemas.openxmlformats.org/drawingml/2006/table">
            <a:tbl>
              <a:tblPr>
                <a:noFill/>
                <a:tableStyleId>{D5246A32-94BD-469A-8FF0-07B5B3C936EE}</a:tableStyleId>
              </a:tblPr>
              <a:tblGrid>
                <a:gridCol w="1082275"/>
                <a:gridCol w="1082275"/>
              </a:tblGrid>
              <a:tr h="320800">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0.19</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0.27</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0.44</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0.82</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2463.92</a:t>
                      </a:r>
                      <a:endParaRPr b="1" sz="800">
                        <a:solidFill>
                          <a:srgbClr val="36AF0B"/>
                        </a:solidFill>
                      </a:endParaRPr>
                    </a:p>
                  </a:txBody>
                  <a:tcPr marT="18000" marB="18000" marR="18000" marL="18000" anchor="ctr"/>
                </a:tc>
              </a:tr>
            </a:tbl>
          </a:graphicData>
        </a:graphic>
      </p:graphicFrame>
      <p:pic>
        <p:nvPicPr>
          <p:cNvPr id="172" name="Google Shape;172;p19"/>
          <p:cNvPicPr preferRelativeResize="0"/>
          <p:nvPr/>
        </p:nvPicPr>
        <p:blipFill>
          <a:blip r:embed="rId3">
            <a:alphaModFix/>
          </a:blip>
          <a:stretch>
            <a:fillRect/>
          </a:stretch>
        </p:blipFill>
        <p:spPr>
          <a:xfrm>
            <a:off x="3889178" y="1053322"/>
            <a:ext cx="4780398" cy="1970050"/>
          </a:xfrm>
          <a:prstGeom prst="rect">
            <a:avLst/>
          </a:prstGeom>
          <a:noFill/>
          <a:ln>
            <a:noFill/>
          </a:ln>
        </p:spPr>
      </p:pic>
      <p:grpSp>
        <p:nvGrpSpPr>
          <p:cNvPr id="173" name="Google Shape;173;p19"/>
          <p:cNvGrpSpPr/>
          <p:nvPr/>
        </p:nvGrpSpPr>
        <p:grpSpPr>
          <a:xfrm>
            <a:off x="-3" y="1182663"/>
            <a:ext cx="3233628" cy="3960826"/>
            <a:chOff x="306047" y="1182663"/>
            <a:chExt cx="3233628" cy="3960826"/>
          </a:xfrm>
        </p:grpSpPr>
        <p:grpSp>
          <p:nvGrpSpPr>
            <p:cNvPr id="174" name="Google Shape;174;p19"/>
            <p:cNvGrpSpPr/>
            <p:nvPr/>
          </p:nvGrpSpPr>
          <p:grpSpPr>
            <a:xfrm>
              <a:off x="308925" y="1974575"/>
              <a:ext cx="2735002" cy="797882"/>
              <a:chOff x="4284901" y="1139452"/>
              <a:chExt cx="2735002" cy="797882"/>
            </a:xfrm>
          </p:grpSpPr>
          <p:grpSp>
            <p:nvGrpSpPr>
              <p:cNvPr id="175" name="Google Shape;175;p19"/>
              <p:cNvGrpSpPr/>
              <p:nvPr/>
            </p:nvGrpSpPr>
            <p:grpSpPr>
              <a:xfrm>
                <a:off x="4732925" y="1140987"/>
                <a:ext cx="529800" cy="796347"/>
                <a:chOff x="4318975" y="1083450"/>
                <a:chExt cx="529800" cy="471546"/>
              </a:xfrm>
            </p:grpSpPr>
            <p:sp>
              <p:nvSpPr>
                <p:cNvPr id="176" name="Google Shape;176;p19"/>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 name="Google Shape;177;p19"/>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178" name="Google Shape;178;p19"/>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179" name="Google Shape;179;p19"/>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Tokens → Word2Vec</a:t>
                </a:r>
                <a:endParaRPr sz="700">
                  <a:solidFill>
                    <a:srgbClr val="858585"/>
                  </a:solidFill>
                  <a:latin typeface="Roboto"/>
                  <a:ea typeface="Roboto"/>
                  <a:cs typeface="Roboto"/>
                  <a:sym typeface="Roboto"/>
                </a:endParaRPr>
              </a:p>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 vecteurs de mots</a:t>
                </a:r>
                <a:endParaRPr sz="700">
                  <a:solidFill>
                    <a:srgbClr val="858585"/>
                  </a:solidFill>
                  <a:latin typeface="Roboto"/>
                  <a:ea typeface="Roboto"/>
                  <a:cs typeface="Roboto"/>
                  <a:sym typeface="Roboto"/>
                </a:endParaRPr>
              </a:p>
            </p:txBody>
          </p:sp>
          <p:sp>
            <p:nvSpPr>
              <p:cNvPr id="180" name="Google Shape;180;p19"/>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181" name="Google Shape;181;p19"/>
            <p:cNvGrpSpPr/>
            <p:nvPr/>
          </p:nvGrpSpPr>
          <p:grpSpPr>
            <a:xfrm>
              <a:off x="308925" y="3567850"/>
              <a:ext cx="2735001" cy="795401"/>
              <a:chOff x="4284901" y="1141934"/>
              <a:chExt cx="2735001" cy="795401"/>
            </a:xfrm>
          </p:grpSpPr>
          <p:grpSp>
            <p:nvGrpSpPr>
              <p:cNvPr id="182" name="Google Shape;182;p19"/>
              <p:cNvGrpSpPr/>
              <p:nvPr/>
            </p:nvGrpSpPr>
            <p:grpSpPr>
              <a:xfrm>
                <a:off x="4732925" y="1142460"/>
                <a:ext cx="529800" cy="794874"/>
                <a:chOff x="4318975" y="1084322"/>
                <a:chExt cx="529800" cy="470674"/>
              </a:xfrm>
            </p:grpSpPr>
            <p:sp>
              <p:nvSpPr>
                <p:cNvPr id="183" name="Google Shape;183;p19"/>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4" name="Google Shape;184;p19"/>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185" name="Google Shape;185;p19"/>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186" name="Google Shape;186;p19"/>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Vecteurs → KMeans → clusters</a:t>
                </a:r>
                <a:endParaRPr sz="700">
                  <a:solidFill>
                    <a:srgbClr val="858585"/>
                  </a:solidFill>
                  <a:latin typeface="Roboto"/>
                  <a:ea typeface="Roboto"/>
                  <a:cs typeface="Roboto"/>
                  <a:sym typeface="Roboto"/>
                </a:endParaRPr>
              </a:p>
            </p:txBody>
          </p:sp>
          <p:sp>
            <p:nvSpPr>
              <p:cNvPr id="187" name="Google Shape;187;p19"/>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188" name="Google Shape;188;p19"/>
            <p:cNvGrpSpPr/>
            <p:nvPr/>
          </p:nvGrpSpPr>
          <p:grpSpPr>
            <a:xfrm>
              <a:off x="306047" y="2772450"/>
              <a:ext cx="3233628" cy="795401"/>
              <a:chOff x="4284885" y="1141936"/>
              <a:chExt cx="3233628" cy="795401"/>
            </a:xfrm>
          </p:grpSpPr>
          <p:grpSp>
            <p:nvGrpSpPr>
              <p:cNvPr id="189" name="Google Shape;189;p19"/>
              <p:cNvGrpSpPr/>
              <p:nvPr/>
            </p:nvGrpSpPr>
            <p:grpSpPr>
              <a:xfrm>
                <a:off x="4732925" y="1142460"/>
                <a:ext cx="529800" cy="794877"/>
                <a:chOff x="4318975" y="1084322"/>
                <a:chExt cx="529800" cy="470676"/>
              </a:xfrm>
            </p:grpSpPr>
            <p:sp>
              <p:nvSpPr>
                <p:cNvPr id="190" name="Google Shape;190;p19"/>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 name="Google Shape;191;p19"/>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192" name="Google Shape;192;p19"/>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193" name="Google Shape;193;p19"/>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Vecteurs de mots → moyenne</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vecteur document</a:t>
                </a:r>
                <a:endParaRPr sz="700">
                  <a:solidFill>
                    <a:schemeClr val="dk1"/>
                  </a:solidFill>
                  <a:latin typeface="Roboto"/>
                  <a:ea typeface="Roboto"/>
                  <a:cs typeface="Roboto"/>
                  <a:sym typeface="Roboto"/>
                </a:endParaRPr>
              </a:p>
            </p:txBody>
          </p:sp>
          <p:sp>
            <p:nvSpPr>
              <p:cNvPr id="194" name="Google Shape;194;p19"/>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195" name="Google Shape;195;p19"/>
            <p:cNvGrpSpPr/>
            <p:nvPr/>
          </p:nvGrpSpPr>
          <p:grpSpPr>
            <a:xfrm>
              <a:off x="311700" y="1182663"/>
              <a:ext cx="2729377" cy="791917"/>
              <a:chOff x="307438" y="1140891"/>
              <a:chExt cx="2729377" cy="791917"/>
            </a:xfrm>
          </p:grpSpPr>
          <p:grpSp>
            <p:nvGrpSpPr>
              <p:cNvPr id="196" name="Google Shape;196;p19"/>
              <p:cNvGrpSpPr/>
              <p:nvPr/>
            </p:nvGrpSpPr>
            <p:grpSpPr>
              <a:xfrm>
                <a:off x="307438" y="1140891"/>
                <a:ext cx="2729377" cy="791917"/>
                <a:chOff x="307438" y="1140891"/>
                <a:chExt cx="2729377" cy="791917"/>
              </a:xfrm>
            </p:grpSpPr>
            <p:grpSp>
              <p:nvGrpSpPr>
                <p:cNvPr id="197" name="Google Shape;197;p19"/>
                <p:cNvGrpSpPr/>
                <p:nvPr/>
              </p:nvGrpSpPr>
              <p:grpSpPr>
                <a:xfrm>
                  <a:off x="755525" y="1140891"/>
                  <a:ext cx="529800" cy="791917"/>
                  <a:chOff x="4318975" y="1083450"/>
                  <a:chExt cx="529800" cy="676505"/>
                </a:xfrm>
              </p:grpSpPr>
              <p:sp>
                <p:nvSpPr>
                  <p:cNvPr id="198" name="Google Shape;198;p19"/>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9" name="Google Shape;199;p19"/>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200" name="Google Shape;200;p19"/>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201" name="Google Shape;201;p19"/>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Descriptions texte → tokenisation</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tokens</a:t>
                  </a:r>
                  <a:endParaRPr sz="700">
                    <a:solidFill>
                      <a:schemeClr val="dk1"/>
                    </a:solidFill>
                    <a:latin typeface="Roboto"/>
                    <a:ea typeface="Roboto"/>
                    <a:cs typeface="Roboto"/>
                    <a:sym typeface="Roboto"/>
                  </a:endParaRPr>
                </a:p>
              </p:txBody>
            </p:sp>
            <p:sp>
              <p:nvSpPr>
                <p:cNvPr id="202" name="Google Shape;202;p19"/>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203" name="Google Shape;203;p19"/>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204" name="Google Shape;204;p19"/>
            <p:cNvGrpSpPr/>
            <p:nvPr/>
          </p:nvGrpSpPr>
          <p:grpSpPr>
            <a:xfrm>
              <a:off x="310347" y="4351573"/>
              <a:ext cx="2729315" cy="791917"/>
              <a:chOff x="307500" y="1140891"/>
              <a:chExt cx="2729315" cy="791917"/>
            </a:xfrm>
          </p:grpSpPr>
          <p:grpSp>
            <p:nvGrpSpPr>
              <p:cNvPr id="205" name="Google Shape;205;p19"/>
              <p:cNvGrpSpPr/>
              <p:nvPr/>
            </p:nvGrpSpPr>
            <p:grpSpPr>
              <a:xfrm>
                <a:off x="307500" y="1140891"/>
                <a:ext cx="2729315" cy="791917"/>
                <a:chOff x="307500" y="1140891"/>
                <a:chExt cx="2729315" cy="791917"/>
              </a:xfrm>
            </p:grpSpPr>
            <p:grpSp>
              <p:nvGrpSpPr>
                <p:cNvPr id="206" name="Google Shape;206;p19"/>
                <p:cNvGrpSpPr/>
                <p:nvPr/>
              </p:nvGrpSpPr>
              <p:grpSpPr>
                <a:xfrm>
                  <a:off x="755525" y="1140891"/>
                  <a:ext cx="529800" cy="791917"/>
                  <a:chOff x="4318975" y="1083450"/>
                  <a:chExt cx="529800" cy="676505"/>
                </a:xfrm>
              </p:grpSpPr>
              <p:sp>
                <p:nvSpPr>
                  <p:cNvPr id="207" name="Google Shape;207;p19"/>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 name="Google Shape;208;p19"/>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209" name="Google Shape;209;p19"/>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210" name="Google Shape;210;p19"/>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211" name="Google Shape;211;p19"/>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212" name="Google Shape;212;p19"/>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213" name="Google Shape;213;p19"/>
          <p:cNvSpPr txBox="1"/>
          <p:nvPr/>
        </p:nvSpPr>
        <p:spPr>
          <a:xfrm>
            <a:off x="6279400" y="3247925"/>
            <a:ext cx="23607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Clusters très cohérents géométriquement (silhouette élevée)</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Alignement limité avec les catégories réelles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Représentation basée sur la proximité sémantique locale</a:t>
            </a:r>
            <a:endParaRPr sz="8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TEXTE - Cas 3, </a:t>
            </a:r>
            <a:r>
              <a:rPr lang="fr">
                <a:solidFill>
                  <a:schemeClr val="dk1"/>
                </a:solidFill>
              </a:rPr>
              <a:t>BERT</a:t>
            </a:r>
            <a:endParaRPr>
              <a:solidFill>
                <a:schemeClr val="dk1"/>
              </a:solidFill>
            </a:endParaRPr>
          </a:p>
        </p:txBody>
      </p:sp>
      <p:graphicFrame>
        <p:nvGraphicFramePr>
          <p:cNvPr id="219" name="Google Shape;219;p20"/>
          <p:cNvGraphicFramePr/>
          <p:nvPr/>
        </p:nvGraphicFramePr>
        <p:xfrm>
          <a:off x="4098300" y="3254875"/>
          <a:ext cx="3000000" cy="3000000"/>
        </p:xfrm>
        <a:graphic>
          <a:graphicData uri="http://schemas.openxmlformats.org/drawingml/2006/table">
            <a:tbl>
              <a:tblPr>
                <a:noFill/>
                <a:tableStyleId>{D5246A32-94BD-469A-8FF0-07B5B3C936EE}</a:tableStyleId>
              </a:tblPr>
              <a:tblGrid>
                <a:gridCol w="1082275"/>
                <a:gridCol w="1082275"/>
              </a:tblGrid>
              <a:tr h="320800">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0.24</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0.35</a:t>
                      </a:r>
                      <a:endParaRPr b="1" sz="800">
                        <a:solidFill>
                          <a:schemeClr val="accent4"/>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0.20</a:t>
                      </a:r>
                      <a:endParaRPr b="1" sz="800">
                        <a:solidFill>
                          <a:schemeClr val="accent4"/>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2.16</a:t>
                      </a:r>
                      <a:endParaRPr b="1" sz="800">
                        <a:solidFill>
                          <a:schemeClr val="accent4"/>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149.54</a:t>
                      </a:r>
                      <a:endParaRPr b="1" sz="800">
                        <a:solidFill>
                          <a:schemeClr val="accent4"/>
                        </a:solidFill>
                      </a:endParaRPr>
                    </a:p>
                  </a:txBody>
                  <a:tcPr marT="18000" marB="18000" marR="18000" marL="18000" anchor="ctr"/>
                </a:tc>
              </a:tr>
            </a:tbl>
          </a:graphicData>
        </a:graphic>
      </p:graphicFrame>
      <p:pic>
        <p:nvPicPr>
          <p:cNvPr id="220" name="Google Shape;220;p20"/>
          <p:cNvPicPr preferRelativeResize="0"/>
          <p:nvPr/>
        </p:nvPicPr>
        <p:blipFill>
          <a:blip r:embed="rId3">
            <a:alphaModFix/>
          </a:blip>
          <a:stretch>
            <a:fillRect/>
          </a:stretch>
        </p:blipFill>
        <p:spPr>
          <a:xfrm>
            <a:off x="3903328" y="1053303"/>
            <a:ext cx="4766246" cy="1964225"/>
          </a:xfrm>
          <a:prstGeom prst="rect">
            <a:avLst/>
          </a:prstGeom>
          <a:noFill/>
          <a:ln>
            <a:noFill/>
          </a:ln>
        </p:spPr>
      </p:pic>
      <p:grpSp>
        <p:nvGrpSpPr>
          <p:cNvPr id="221" name="Google Shape;221;p20"/>
          <p:cNvGrpSpPr/>
          <p:nvPr/>
        </p:nvGrpSpPr>
        <p:grpSpPr>
          <a:xfrm>
            <a:off x="-3" y="1182663"/>
            <a:ext cx="3233628" cy="3960826"/>
            <a:chOff x="306047" y="1182663"/>
            <a:chExt cx="3233628" cy="3960826"/>
          </a:xfrm>
        </p:grpSpPr>
        <p:grpSp>
          <p:nvGrpSpPr>
            <p:cNvPr id="222" name="Google Shape;222;p20"/>
            <p:cNvGrpSpPr/>
            <p:nvPr/>
          </p:nvGrpSpPr>
          <p:grpSpPr>
            <a:xfrm>
              <a:off x="308925" y="1974575"/>
              <a:ext cx="2735002" cy="797882"/>
              <a:chOff x="4284901" y="1139452"/>
              <a:chExt cx="2735002" cy="797882"/>
            </a:xfrm>
          </p:grpSpPr>
          <p:grpSp>
            <p:nvGrpSpPr>
              <p:cNvPr id="223" name="Google Shape;223;p20"/>
              <p:cNvGrpSpPr/>
              <p:nvPr/>
            </p:nvGrpSpPr>
            <p:grpSpPr>
              <a:xfrm>
                <a:off x="4732925" y="1140987"/>
                <a:ext cx="529800" cy="796347"/>
                <a:chOff x="4318975" y="1083450"/>
                <a:chExt cx="529800" cy="471546"/>
              </a:xfrm>
            </p:grpSpPr>
            <p:sp>
              <p:nvSpPr>
                <p:cNvPr id="224" name="Google Shape;224;p20"/>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5" name="Google Shape;225;p20"/>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226" name="Google Shape;226;p20"/>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227" name="Google Shape;227;p20"/>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Texte → modèle BERT</a:t>
                </a:r>
                <a:endParaRPr sz="700">
                  <a:solidFill>
                    <a:srgbClr val="858585"/>
                  </a:solidFill>
                  <a:latin typeface="Roboto"/>
                  <a:ea typeface="Roboto"/>
                  <a:cs typeface="Roboto"/>
                  <a:sym typeface="Roboto"/>
                </a:endParaRPr>
              </a:p>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 embeddings contextuels</a:t>
                </a:r>
                <a:endParaRPr sz="700">
                  <a:solidFill>
                    <a:srgbClr val="858585"/>
                  </a:solidFill>
                  <a:latin typeface="Roboto"/>
                  <a:ea typeface="Roboto"/>
                  <a:cs typeface="Roboto"/>
                  <a:sym typeface="Roboto"/>
                </a:endParaRPr>
              </a:p>
            </p:txBody>
          </p:sp>
          <p:sp>
            <p:nvSpPr>
              <p:cNvPr id="228" name="Google Shape;228;p20"/>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229" name="Google Shape;229;p20"/>
            <p:cNvGrpSpPr/>
            <p:nvPr/>
          </p:nvGrpSpPr>
          <p:grpSpPr>
            <a:xfrm>
              <a:off x="308925" y="3567850"/>
              <a:ext cx="2735001" cy="795401"/>
              <a:chOff x="4284901" y="1141934"/>
              <a:chExt cx="2735001" cy="795401"/>
            </a:xfrm>
          </p:grpSpPr>
          <p:grpSp>
            <p:nvGrpSpPr>
              <p:cNvPr id="230" name="Google Shape;230;p20"/>
              <p:cNvGrpSpPr/>
              <p:nvPr/>
            </p:nvGrpSpPr>
            <p:grpSpPr>
              <a:xfrm>
                <a:off x="4732925" y="1142460"/>
                <a:ext cx="529800" cy="794874"/>
                <a:chOff x="4318975" y="1084322"/>
                <a:chExt cx="529800" cy="470674"/>
              </a:xfrm>
            </p:grpSpPr>
            <p:sp>
              <p:nvSpPr>
                <p:cNvPr id="231" name="Google Shape;231;p20"/>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p20"/>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233" name="Google Shape;233;p20"/>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234" name="Google Shape;234;p20"/>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Vecteurs → KMeans → clusters</a:t>
                </a:r>
                <a:endParaRPr sz="700">
                  <a:solidFill>
                    <a:srgbClr val="858585"/>
                  </a:solidFill>
                  <a:latin typeface="Roboto"/>
                  <a:ea typeface="Roboto"/>
                  <a:cs typeface="Roboto"/>
                  <a:sym typeface="Roboto"/>
                </a:endParaRPr>
              </a:p>
            </p:txBody>
          </p:sp>
          <p:sp>
            <p:nvSpPr>
              <p:cNvPr id="235" name="Google Shape;235;p20"/>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236" name="Google Shape;236;p20"/>
            <p:cNvGrpSpPr/>
            <p:nvPr/>
          </p:nvGrpSpPr>
          <p:grpSpPr>
            <a:xfrm>
              <a:off x="306047" y="2772450"/>
              <a:ext cx="3233628" cy="795401"/>
              <a:chOff x="4284885" y="1141936"/>
              <a:chExt cx="3233628" cy="795401"/>
            </a:xfrm>
          </p:grpSpPr>
          <p:grpSp>
            <p:nvGrpSpPr>
              <p:cNvPr id="237" name="Google Shape;237;p20"/>
              <p:cNvGrpSpPr/>
              <p:nvPr/>
            </p:nvGrpSpPr>
            <p:grpSpPr>
              <a:xfrm>
                <a:off x="4732925" y="1142460"/>
                <a:ext cx="529800" cy="794877"/>
                <a:chOff x="4318975" y="1084322"/>
                <a:chExt cx="529800" cy="470676"/>
              </a:xfrm>
            </p:grpSpPr>
            <p:sp>
              <p:nvSpPr>
                <p:cNvPr id="238" name="Google Shape;238;p20"/>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9" name="Google Shape;239;p20"/>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240" name="Google Shape;240;p20"/>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241" name="Google Shape;241;p20"/>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Embeddings → extraction [CLS]</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vecteur document</a:t>
                </a:r>
                <a:endParaRPr sz="700">
                  <a:solidFill>
                    <a:schemeClr val="dk1"/>
                  </a:solidFill>
                  <a:latin typeface="Roboto"/>
                  <a:ea typeface="Roboto"/>
                  <a:cs typeface="Roboto"/>
                  <a:sym typeface="Roboto"/>
                </a:endParaRPr>
              </a:p>
            </p:txBody>
          </p:sp>
          <p:sp>
            <p:nvSpPr>
              <p:cNvPr id="242" name="Google Shape;242;p20"/>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243" name="Google Shape;243;p20"/>
            <p:cNvGrpSpPr/>
            <p:nvPr/>
          </p:nvGrpSpPr>
          <p:grpSpPr>
            <a:xfrm>
              <a:off x="311700" y="1182663"/>
              <a:ext cx="2729377" cy="791917"/>
              <a:chOff x="307438" y="1140891"/>
              <a:chExt cx="2729377" cy="791917"/>
            </a:xfrm>
          </p:grpSpPr>
          <p:grpSp>
            <p:nvGrpSpPr>
              <p:cNvPr id="244" name="Google Shape;244;p20"/>
              <p:cNvGrpSpPr/>
              <p:nvPr/>
            </p:nvGrpSpPr>
            <p:grpSpPr>
              <a:xfrm>
                <a:off x="307438" y="1140891"/>
                <a:ext cx="2729377" cy="791917"/>
                <a:chOff x="307438" y="1140891"/>
                <a:chExt cx="2729377" cy="791917"/>
              </a:xfrm>
            </p:grpSpPr>
            <p:grpSp>
              <p:nvGrpSpPr>
                <p:cNvPr id="245" name="Google Shape;245;p20"/>
                <p:cNvGrpSpPr/>
                <p:nvPr/>
              </p:nvGrpSpPr>
              <p:grpSpPr>
                <a:xfrm>
                  <a:off x="755525" y="1140891"/>
                  <a:ext cx="529800" cy="791917"/>
                  <a:chOff x="4318975" y="1083450"/>
                  <a:chExt cx="529800" cy="676505"/>
                </a:xfrm>
              </p:grpSpPr>
              <p:sp>
                <p:nvSpPr>
                  <p:cNvPr id="246" name="Google Shape;246;p20"/>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20"/>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248" name="Google Shape;248;p20"/>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249" name="Google Shape;249;p20"/>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Descriptions texte → nettoyage léger</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texte simplifié</a:t>
                  </a:r>
                  <a:endParaRPr sz="700">
                    <a:solidFill>
                      <a:schemeClr val="dk1"/>
                    </a:solidFill>
                    <a:latin typeface="Roboto"/>
                    <a:ea typeface="Roboto"/>
                    <a:cs typeface="Roboto"/>
                    <a:sym typeface="Roboto"/>
                  </a:endParaRPr>
                </a:p>
              </p:txBody>
            </p:sp>
            <p:sp>
              <p:nvSpPr>
                <p:cNvPr id="250" name="Google Shape;250;p20"/>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251" name="Google Shape;251;p20"/>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252" name="Google Shape;252;p20"/>
            <p:cNvGrpSpPr/>
            <p:nvPr/>
          </p:nvGrpSpPr>
          <p:grpSpPr>
            <a:xfrm>
              <a:off x="310347" y="4351573"/>
              <a:ext cx="2729315" cy="791917"/>
              <a:chOff x="307500" y="1140891"/>
              <a:chExt cx="2729315" cy="791917"/>
            </a:xfrm>
          </p:grpSpPr>
          <p:grpSp>
            <p:nvGrpSpPr>
              <p:cNvPr id="253" name="Google Shape;253;p20"/>
              <p:cNvGrpSpPr/>
              <p:nvPr/>
            </p:nvGrpSpPr>
            <p:grpSpPr>
              <a:xfrm>
                <a:off x="307500" y="1140891"/>
                <a:ext cx="2729315" cy="791917"/>
                <a:chOff x="307500" y="1140891"/>
                <a:chExt cx="2729315" cy="791917"/>
              </a:xfrm>
            </p:grpSpPr>
            <p:grpSp>
              <p:nvGrpSpPr>
                <p:cNvPr id="254" name="Google Shape;254;p20"/>
                <p:cNvGrpSpPr/>
                <p:nvPr/>
              </p:nvGrpSpPr>
              <p:grpSpPr>
                <a:xfrm>
                  <a:off x="755525" y="1140891"/>
                  <a:ext cx="529800" cy="791917"/>
                  <a:chOff x="4318975" y="1083450"/>
                  <a:chExt cx="529800" cy="676505"/>
                </a:xfrm>
              </p:grpSpPr>
              <p:sp>
                <p:nvSpPr>
                  <p:cNvPr id="255" name="Google Shape;255;p20"/>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6" name="Google Shape;256;p20"/>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257" name="Google Shape;257;p20"/>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258" name="Google Shape;258;p20"/>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259" name="Google Shape;259;p20"/>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260" name="Google Shape;260;p20"/>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261" name="Google Shape;261;p20"/>
          <p:cNvSpPr txBox="1"/>
          <p:nvPr/>
        </p:nvSpPr>
        <p:spPr>
          <a:xfrm>
            <a:off x="6279400" y="3247925"/>
            <a:ext cx="23607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Bon compromis entre structure et sémantique</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Alignement correct avec les catégories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Représentation contextuelle plus riche</a:t>
            </a:r>
            <a:endParaRPr sz="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TEXTE - Cas 4, </a:t>
            </a:r>
            <a:r>
              <a:rPr lang="fr">
                <a:solidFill>
                  <a:schemeClr val="dk1"/>
                </a:solidFill>
              </a:rPr>
              <a:t>USE</a:t>
            </a:r>
            <a:endParaRPr>
              <a:solidFill>
                <a:schemeClr val="dk1"/>
              </a:solidFill>
            </a:endParaRPr>
          </a:p>
        </p:txBody>
      </p:sp>
      <p:graphicFrame>
        <p:nvGraphicFramePr>
          <p:cNvPr id="267" name="Google Shape;267;p21"/>
          <p:cNvGraphicFramePr/>
          <p:nvPr/>
        </p:nvGraphicFramePr>
        <p:xfrm>
          <a:off x="4098300" y="3254875"/>
          <a:ext cx="3000000" cy="3000000"/>
        </p:xfrm>
        <a:graphic>
          <a:graphicData uri="http://schemas.openxmlformats.org/drawingml/2006/table">
            <a:tbl>
              <a:tblPr>
                <a:noFill/>
                <a:tableStyleId>{D5246A32-94BD-469A-8FF0-07B5B3C936EE}</a:tableStyleId>
              </a:tblPr>
              <a:tblGrid>
                <a:gridCol w="1082275"/>
                <a:gridCol w="1082275"/>
              </a:tblGrid>
              <a:tr h="320800">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0.28</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0.45</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0.09</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2.73</a:t>
                      </a:r>
                      <a:endParaRPr b="1" sz="800">
                        <a:solidFill>
                          <a:schemeClr val="accent4"/>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72.78</a:t>
                      </a:r>
                      <a:endParaRPr b="1" sz="800">
                        <a:solidFill>
                          <a:schemeClr val="accent4"/>
                        </a:solidFill>
                      </a:endParaRPr>
                    </a:p>
                  </a:txBody>
                  <a:tcPr marT="18000" marB="18000" marR="18000" marL="18000" anchor="ctr"/>
                </a:tc>
              </a:tr>
            </a:tbl>
          </a:graphicData>
        </a:graphic>
      </p:graphicFrame>
      <p:pic>
        <p:nvPicPr>
          <p:cNvPr id="268" name="Google Shape;268;p21"/>
          <p:cNvPicPr preferRelativeResize="0"/>
          <p:nvPr/>
        </p:nvPicPr>
        <p:blipFill>
          <a:blip r:embed="rId3">
            <a:alphaModFix/>
          </a:blip>
          <a:stretch>
            <a:fillRect/>
          </a:stretch>
        </p:blipFill>
        <p:spPr>
          <a:xfrm>
            <a:off x="3889203" y="1140975"/>
            <a:ext cx="4780372" cy="1970050"/>
          </a:xfrm>
          <a:prstGeom prst="rect">
            <a:avLst/>
          </a:prstGeom>
          <a:noFill/>
          <a:ln>
            <a:noFill/>
          </a:ln>
        </p:spPr>
      </p:pic>
      <p:grpSp>
        <p:nvGrpSpPr>
          <p:cNvPr id="269" name="Google Shape;269;p21"/>
          <p:cNvGrpSpPr/>
          <p:nvPr/>
        </p:nvGrpSpPr>
        <p:grpSpPr>
          <a:xfrm>
            <a:off x="-3" y="1182663"/>
            <a:ext cx="3233628" cy="3960826"/>
            <a:chOff x="306047" y="1182663"/>
            <a:chExt cx="3233628" cy="3960826"/>
          </a:xfrm>
        </p:grpSpPr>
        <p:grpSp>
          <p:nvGrpSpPr>
            <p:cNvPr id="270" name="Google Shape;270;p21"/>
            <p:cNvGrpSpPr/>
            <p:nvPr/>
          </p:nvGrpSpPr>
          <p:grpSpPr>
            <a:xfrm>
              <a:off x="308925" y="1974575"/>
              <a:ext cx="2735002" cy="797882"/>
              <a:chOff x="4284901" y="1139452"/>
              <a:chExt cx="2735002" cy="797882"/>
            </a:xfrm>
          </p:grpSpPr>
          <p:grpSp>
            <p:nvGrpSpPr>
              <p:cNvPr id="271" name="Google Shape;271;p21"/>
              <p:cNvGrpSpPr/>
              <p:nvPr/>
            </p:nvGrpSpPr>
            <p:grpSpPr>
              <a:xfrm>
                <a:off x="4732925" y="1140987"/>
                <a:ext cx="529800" cy="796347"/>
                <a:chOff x="4318975" y="1083450"/>
                <a:chExt cx="529800" cy="471546"/>
              </a:xfrm>
            </p:grpSpPr>
            <p:sp>
              <p:nvSpPr>
                <p:cNvPr id="272" name="Google Shape;272;p21"/>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 name="Google Shape;273;p21"/>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274" name="Google Shape;274;p21"/>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275" name="Google Shape;275;p21"/>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Texte → USE → embedding phrase</a:t>
                </a:r>
                <a:endParaRPr sz="700">
                  <a:solidFill>
                    <a:srgbClr val="858585"/>
                  </a:solidFill>
                  <a:latin typeface="Roboto"/>
                  <a:ea typeface="Roboto"/>
                  <a:cs typeface="Roboto"/>
                  <a:sym typeface="Roboto"/>
                </a:endParaRPr>
              </a:p>
            </p:txBody>
          </p:sp>
          <p:sp>
            <p:nvSpPr>
              <p:cNvPr id="276" name="Google Shape;276;p21"/>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277" name="Google Shape;277;p21"/>
            <p:cNvGrpSpPr/>
            <p:nvPr/>
          </p:nvGrpSpPr>
          <p:grpSpPr>
            <a:xfrm>
              <a:off x="308925" y="3567850"/>
              <a:ext cx="2735001" cy="795401"/>
              <a:chOff x="4284901" y="1141934"/>
              <a:chExt cx="2735001" cy="795401"/>
            </a:xfrm>
          </p:grpSpPr>
          <p:grpSp>
            <p:nvGrpSpPr>
              <p:cNvPr id="278" name="Google Shape;278;p21"/>
              <p:cNvGrpSpPr/>
              <p:nvPr/>
            </p:nvGrpSpPr>
            <p:grpSpPr>
              <a:xfrm>
                <a:off x="4732925" y="1142460"/>
                <a:ext cx="529800" cy="794874"/>
                <a:chOff x="4318975" y="1084322"/>
                <a:chExt cx="529800" cy="470674"/>
              </a:xfrm>
            </p:grpSpPr>
            <p:sp>
              <p:nvSpPr>
                <p:cNvPr id="279" name="Google Shape;279;p21"/>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0" name="Google Shape;280;p21"/>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281" name="Google Shape;281;p21"/>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282" name="Google Shape;282;p21"/>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Vecteurs → KMeans → clusters</a:t>
                </a:r>
                <a:endParaRPr sz="700">
                  <a:solidFill>
                    <a:srgbClr val="858585"/>
                  </a:solidFill>
                  <a:latin typeface="Roboto"/>
                  <a:ea typeface="Roboto"/>
                  <a:cs typeface="Roboto"/>
                  <a:sym typeface="Roboto"/>
                </a:endParaRPr>
              </a:p>
            </p:txBody>
          </p:sp>
          <p:sp>
            <p:nvSpPr>
              <p:cNvPr id="283" name="Google Shape;283;p21"/>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284" name="Google Shape;284;p21"/>
            <p:cNvGrpSpPr/>
            <p:nvPr/>
          </p:nvGrpSpPr>
          <p:grpSpPr>
            <a:xfrm>
              <a:off x="306047" y="2772450"/>
              <a:ext cx="3233628" cy="795401"/>
              <a:chOff x="4284885" y="1141936"/>
              <a:chExt cx="3233628" cy="795401"/>
            </a:xfrm>
          </p:grpSpPr>
          <p:grpSp>
            <p:nvGrpSpPr>
              <p:cNvPr id="285" name="Google Shape;285;p21"/>
              <p:cNvGrpSpPr/>
              <p:nvPr/>
            </p:nvGrpSpPr>
            <p:grpSpPr>
              <a:xfrm>
                <a:off x="4732925" y="1142460"/>
                <a:ext cx="529800" cy="794877"/>
                <a:chOff x="4318975" y="1084322"/>
                <a:chExt cx="529800" cy="470676"/>
              </a:xfrm>
            </p:grpSpPr>
            <p:sp>
              <p:nvSpPr>
                <p:cNvPr id="286" name="Google Shape;286;p21"/>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7" name="Google Shape;287;p21"/>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288" name="Google Shape;288;p21"/>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289" name="Google Shape;289;p21"/>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Embedding → vecteur document</a:t>
                </a:r>
                <a:endParaRPr sz="700">
                  <a:solidFill>
                    <a:schemeClr val="dk1"/>
                  </a:solidFill>
                  <a:latin typeface="Roboto"/>
                  <a:ea typeface="Roboto"/>
                  <a:cs typeface="Roboto"/>
                  <a:sym typeface="Roboto"/>
                </a:endParaRPr>
              </a:p>
            </p:txBody>
          </p:sp>
          <p:sp>
            <p:nvSpPr>
              <p:cNvPr id="290" name="Google Shape;290;p21"/>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291" name="Google Shape;291;p21"/>
            <p:cNvGrpSpPr/>
            <p:nvPr/>
          </p:nvGrpSpPr>
          <p:grpSpPr>
            <a:xfrm>
              <a:off x="311700" y="1182663"/>
              <a:ext cx="2729377" cy="791917"/>
              <a:chOff x="307438" y="1140891"/>
              <a:chExt cx="2729377" cy="791917"/>
            </a:xfrm>
          </p:grpSpPr>
          <p:grpSp>
            <p:nvGrpSpPr>
              <p:cNvPr id="292" name="Google Shape;292;p21"/>
              <p:cNvGrpSpPr/>
              <p:nvPr/>
            </p:nvGrpSpPr>
            <p:grpSpPr>
              <a:xfrm>
                <a:off x="307438" y="1140891"/>
                <a:ext cx="2729377" cy="791917"/>
                <a:chOff x="307438" y="1140891"/>
                <a:chExt cx="2729377" cy="791917"/>
              </a:xfrm>
            </p:grpSpPr>
            <p:grpSp>
              <p:nvGrpSpPr>
                <p:cNvPr id="293" name="Google Shape;293;p21"/>
                <p:cNvGrpSpPr/>
                <p:nvPr/>
              </p:nvGrpSpPr>
              <p:grpSpPr>
                <a:xfrm>
                  <a:off x="755525" y="1140891"/>
                  <a:ext cx="529800" cy="791917"/>
                  <a:chOff x="4318975" y="1083450"/>
                  <a:chExt cx="529800" cy="676505"/>
                </a:xfrm>
              </p:grpSpPr>
              <p:sp>
                <p:nvSpPr>
                  <p:cNvPr id="294" name="Google Shape;294;p21"/>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5" name="Google Shape;295;p21"/>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296" name="Google Shape;296;p21"/>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297" name="Google Shape;297;p21"/>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Descriptions texte → nettoyage léger → texte simplifié</a:t>
                  </a:r>
                  <a:endParaRPr sz="700">
                    <a:solidFill>
                      <a:schemeClr val="dk1"/>
                    </a:solidFill>
                    <a:latin typeface="Roboto"/>
                    <a:ea typeface="Roboto"/>
                    <a:cs typeface="Roboto"/>
                    <a:sym typeface="Roboto"/>
                  </a:endParaRPr>
                </a:p>
              </p:txBody>
            </p:sp>
            <p:sp>
              <p:nvSpPr>
                <p:cNvPr id="298" name="Google Shape;298;p21"/>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299" name="Google Shape;299;p21"/>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300" name="Google Shape;300;p21"/>
            <p:cNvGrpSpPr/>
            <p:nvPr/>
          </p:nvGrpSpPr>
          <p:grpSpPr>
            <a:xfrm>
              <a:off x="310347" y="4351573"/>
              <a:ext cx="2729315" cy="791917"/>
              <a:chOff x="307500" y="1140891"/>
              <a:chExt cx="2729315" cy="791917"/>
            </a:xfrm>
          </p:grpSpPr>
          <p:grpSp>
            <p:nvGrpSpPr>
              <p:cNvPr id="301" name="Google Shape;301;p21"/>
              <p:cNvGrpSpPr/>
              <p:nvPr/>
            </p:nvGrpSpPr>
            <p:grpSpPr>
              <a:xfrm>
                <a:off x="307500" y="1140891"/>
                <a:ext cx="2729315" cy="791917"/>
                <a:chOff x="307500" y="1140891"/>
                <a:chExt cx="2729315" cy="791917"/>
              </a:xfrm>
            </p:grpSpPr>
            <p:grpSp>
              <p:nvGrpSpPr>
                <p:cNvPr id="302" name="Google Shape;302;p21"/>
                <p:cNvGrpSpPr/>
                <p:nvPr/>
              </p:nvGrpSpPr>
              <p:grpSpPr>
                <a:xfrm>
                  <a:off x="755525" y="1140891"/>
                  <a:ext cx="529800" cy="791917"/>
                  <a:chOff x="4318975" y="1083450"/>
                  <a:chExt cx="529800" cy="676505"/>
                </a:xfrm>
              </p:grpSpPr>
              <p:sp>
                <p:nvSpPr>
                  <p:cNvPr id="303" name="Google Shape;303;p21"/>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4" name="Google Shape;304;p21"/>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305" name="Google Shape;305;p21"/>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306" name="Google Shape;306;p21"/>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307" name="Google Shape;307;p21"/>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308" name="Google Shape;308;p21"/>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309" name="Google Shape;309;p21"/>
          <p:cNvSpPr txBox="1"/>
          <p:nvPr/>
        </p:nvSpPr>
        <p:spPr>
          <a:xfrm>
            <a:off x="6262825" y="3247925"/>
            <a:ext cx="23772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Très bon alignement avec les catégories (ARI, NMI élevés)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Structure de clusters correcte mais peu marquée</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Représentation globale efficace du texte</a:t>
            </a:r>
            <a:endParaRPr sz="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2"/>
          <p:cNvSpPr txBox="1"/>
          <p:nvPr>
            <p:ph type="title"/>
          </p:nvPr>
        </p:nvSpPr>
        <p:spPr>
          <a:xfrm>
            <a:off x="311700" y="526350"/>
            <a:ext cx="4136100" cy="89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TEXTE</a:t>
            </a:r>
            <a:endParaRPr/>
          </a:p>
        </p:txBody>
      </p:sp>
      <p:graphicFrame>
        <p:nvGraphicFramePr>
          <p:cNvPr id="315" name="Google Shape;315;p22"/>
          <p:cNvGraphicFramePr/>
          <p:nvPr/>
        </p:nvGraphicFramePr>
        <p:xfrm>
          <a:off x="4899600" y="2178681"/>
          <a:ext cx="3000000" cy="3000000"/>
        </p:xfrm>
        <a:graphic>
          <a:graphicData uri="http://schemas.openxmlformats.org/drawingml/2006/table">
            <a:tbl>
              <a:tblPr>
                <a:noFill/>
                <a:tableStyleId>{D5246A32-94BD-469A-8FF0-07B5B3C936EE}</a:tableStyleId>
              </a:tblPr>
              <a:tblGrid>
                <a:gridCol w="786525"/>
                <a:gridCol w="786525"/>
                <a:gridCol w="786525"/>
                <a:gridCol w="786525"/>
                <a:gridCol w="786525"/>
              </a:tblGrid>
              <a:tr h="360000">
                <a:tc>
                  <a:txBody>
                    <a:bodyPr/>
                    <a:lstStyle/>
                    <a:p>
                      <a:pPr indent="0" lvl="0" marL="0" rtl="0" algn="ctr">
                        <a:spcBef>
                          <a:spcPts val="0"/>
                        </a:spcBef>
                        <a:spcAft>
                          <a:spcPts val="0"/>
                        </a:spcAft>
                        <a:buNone/>
                      </a:pPr>
                      <a:r>
                        <a:t/>
                      </a:r>
                      <a:endParaRPr sz="900">
                        <a:solidFill>
                          <a:schemeClr val="lt1"/>
                        </a:solidFill>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TF-IDF</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Word2Vec</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BERT</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USE</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ARI</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0.24</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0.19</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0.24</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0.28</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NMI</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0.44</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0.27</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0.35</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0.45</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Silhouette</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0.07</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0.44</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0.20</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0.09</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DB</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3.60</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0.82</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2.16</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2.73</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AH</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EA9999"/>
                          </a:solidFill>
                        </a:rPr>
                        <a:t>29.82</a:t>
                      </a:r>
                      <a:endParaRPr b="1" sz="9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B6D7A8"/>
                          </a:solidFill>
                        </a:rPr>
                        <a:t>2463.92</a:t>
                      </a:r>
                      <a:endParaRPr b="1" sz="9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149.45</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rgbClr val="FFE599"/>
                          </a:solidFill>
                        </a:rPr>
                        <a:t>72.78</a:t>
                      </a:r>
                      <a:endParaRPr b="1" sz="9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16" name="Google Shape;316;p22"/>
          <p:cNvSpPr txBox="1"/>
          <p:nvPr/>
        </p:nvSpPr>
        <p:spPr>
          <a:xfrm>
            <a:off x="4899600" y="1507975"/>
            <a:ext cx="3932700" cy="67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fr" sz="1000">
                <a:solidFill>
                  <a:schemeClr val="lt1"/>
                </a:solidFill>
                <a:latin typeface="Roboto"/>
                <a:ea typeface="Roboto"/>
                <a:cs typeface="Roboto"/>
                <a:sym typeface="Roboto"/>
              </a:rPr>
              <a:t>Le modèle USE est le plus performant car il offre le meilleur alignement avec les catégories tout en restant simple et robuste, ce qui en fait le choix le plus adapté pour ce problème de clustering.</a:t>
            </a:r>
            <a:endParaRPr sz="1000">
              <a:solidFill>
                <a:schemeClr val="lt1"/>
              </a:solidFill>
              <a:latin typeface="Roboto"/>
              <a:ea typeface="Roboto"/>
              <a:cs typeface="Roboto"/>
              <a:sym typeface="Roboto"/>
            </a:endParaRPr>
          </a:p>
        </p:txBody>
      </p:sp>
      <p:pic>
        <p:nvPicPr>
          <p:cNvPr id="317" name="Google Shape;317;p22"/>
          <p:cNvPicPr preferRelativeResize="0"/>
          <p:nvPr/>
        </p:nvPicPr>
        <p:blipFill>
          <a:blip r:embed="rId3">
            <a:alphaModFix/>
          </a:blip>
          <a:stretch>
            <a:fillRect/>
          </a:stretch>
        </p:blipFill>
        <p:spPr>
          <a:xfrm>
            <a:off x="275300" y="2411425"/>
            <a:ext cx="4208888" cy="2160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IMAGE - Cas 1, </a:t>
            </a:r>
            <a:r>
              <a:rPr lang="fr">
                <a:solidFill>
                  <a:schemeClr val="dk1"/>
                </a:solidFill>
              </a:rPr>
              <a:t>SIFT</a:t>
            </a:r>
            <a:endParaRPr>
              <a:solidFill>
                <a:schemeClr val="dk1"/>
              </a:solidFill>
            </a:endParaRPr>
          </a:p>
        </p:txBody>
      </p:sp>
      <p:graphicFrame>
        <p:nvGraphicFramePr>
          <p:cNvPr id="323" name="Google Shape;323;p23"/>
          <p:cNvGraphicFramePr/>
          <p:nvPr/>
        </p:nvGraphicFramePr>
        <p:xfrm>
          <a:off x="4098300" y="3254875"/>
          <a:ext cx="3000000" cy="3000000"/>
        </p:xfrm>
        <a:graphic>
          <a:graphicData uri="http://schemas.openxmlformats.org/drawingml/2006/table">
            <a:tbl>
              <a:tblPr>
                <a:noFill/>
                <a:tableStyleId>{D5246A32-94BD-469A-8FF0-07B5B3C936EE}</a:tableStyleId>
              </a:tblPr>
              <a:tblGrid>
                <a:gridCol w="1082275"/>
                <a:gridCol w="1082275"/>
              </a:tblGrid>
              <a:tr h="320800">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0.04</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0.07</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0.06</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2.08</a:t>
                      </a:r>
                      <a:endParaRPr b="1" sz="800">
                        <a:solidFill>
                          <a:schemeClr val="accent4"/>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chemeClr val="accent4"/>
                          </a:solidFill>
                        </a:rPr>
                        <a:t>64.30</a:t>
                      </a:r>
                      <a:endParaRPr b="1" sz="800">
                        <a:solidFill>
                          <a:schemeClr val="accent4"/>
                        </a:solidFill>
                      </a:endParaRPr>
                    </a:p>
                  </a:txBody>
                  <a:tcPr marT="18000" marB="18000" marR="18000" marL="18000" anchor="ctr"/>
                </a:tc>
              </a:tr>
            </a:tbl>
          </a:graphicData>
        </a:graphic>
      </p:graphicFrame>
      <p:pic>
        <p:nvPicPr>
          <p:cNvPr id="324" name="Google Shape;324;p23"/>
          <p:cNvPicPr preferRelativeResize="0"/>
          <p:nvPr/>
        </p:nvPicPr>
        <p:blipFill>
          <a:blip r:embed="rId3">
            <a:alphaModFix/>
          </a:blip>
          <a:stretch>
            <a:fillRect/>
          </a:stretch>
        </p:blipFill>
        <p:spPr>
          <a:xfrm>
            <a:off x="3889203" y="1140975"/>
            <a:ext cx="4780372" cy="1970050"/>
          </a:xfrm>
          <a:prstGeom prst="rect">
            <a:avLst/>
          </a:prstGeom>
          <a:noFill/>
          <a:ln>
            <a:noFill/>
          </a:ln>
        </p:spPr>
      </p:pic>
      <p:grpSp>
        <p:nvGrpSpPr>
          <p:cNvPr id="325" name="Google Shape;325;p23"/>
          <p:cNvGrpSpPr/>
          <p:nvPr/>
        </p:nvGrpSpPr>
        <p:grpSpPr>
          <a:xfrm>
            <a:off x="-3" y="1182663"/>
            <a:ext cx="3233628" cy="3960826"/>
            <a:chOff x="306047" y="1182663"/>
            <a:chExt cx="3233628" cy="3960826"/>
          </a:xfrm>
        </p:grpSpPr>
        <p:grpSp>
          <p:nvGrpSpPr>
            <p:cNvPr id="326" name="Google Shape;326;p23"/>
            <p:cNvGrpSpPr/>
            <p:nvPr/>
          </p:nvGrpSpPr>
          <p:grpSpPr>
            <a:xfrm>
              <a:off x="308925" y="1974575"/>
              <a:ext cx="2735002" cy="797882"/>
              <a:chOff x="4284901" y="1139452"/>
              <a:chExt cx="2735002" cy="797882"/>
            </a:xfrm>
          </p:grpSpPr>
          <p:grpSp>
            <p:nvGrpSpPr>
              <p:cNvPr id="327" name="Google Shape;327;p23"/>
              <p:cNvGrpSpPr/>
              <p:nvPr/>
            </p:nvGrpSpPr>
            <p:grpSpPr>
              <a:xfrm>
                <a:off x="4732925" y="1140987"/>
                <a:ext cx="529800" cy="796347"/>
                <a:chOff x="4318975" y="1083450"/>
                <a:chExt cx="529800" cy="471546"/>
              </a:xfrm>
            </p:grpSpPr>
            <p:sp>
              <p:nvSpPr>
                <p:cNvPr id="328" name="Google Shape;328;p23"/>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 name="Google Shape;329;p23"/>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330" name="Google Shape;330;p23"/>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331" name="Google Shape;331;p23"/>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Images → SIFT</a:t>
                </a:r>
                <a:endParaRPr sz="700">
                  <a:solidFill>
                    <a:srgbClr val="858585"/>
                  </a:solidFill>
                  <a:latin typeface="Roboto"/>
                  <a:ea typeface="Roboto"/>
                  <a:cs typeface="Roboto"/>
                  <a:sym typeface="Roboto"/>
                </a:endParaRPr>
              </a:p>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 descripteurs locaux</a:t>
                </a:r>
                <a:endParaRPr sz="700">
                  <a:solidFill>
                    <a:srgbClr val="858585"/>
                  </a:solidFill>
                  <a:latin typeface="Roboto"/>
                  <a:ea typeface="Roboto"/>
                  <a:cs typeface="Roboto"/>
                  <a:sym typeface="Roboto"/>
                </a:endParaRPr>
              </a:p>
            </p:txBody>
          </p:sp>
          <p:sp>
            <p:nvSpPr>
              <p:cNvPr id="332" name="Google Shape;332;p23"/>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333" name="Google Shape;333;p23"/>
            <p:cNvGrpSpPr/>
            <p:nvPr/>
          </p:nvGrpSpPr>
          <p:grpSpPr>
            <a:xfrm>
              <a:off x="308925" y="3567850"/>
              <a:ext cx="2735001" cy="795401"/>
              <a:chOff x="4284901" y="1141934"/>
              <a:chExt cx="2735001" cy="795401"/>
            </a:xfrm>
          </p:grpSpPr>
          <p:grpSp>
            <p:nvGrpSpPr>
              <p:cNvPr id="334" name="Google Shape;334;p23"/>
              <p:cNvGrpSpPr/>
              <p:nvPr/>
            </p:nvGrpSpPr>
            <p:grpSpPr>
              <a:xfrm>
                <a:off x="4732925" y="1142460"/>
                <a:ext cx="529800" cy="794874"/>
                <a:chOff x="4318975" y="1084322"/>
                <a:chExt cx="529800" cy="470674"/>
              </a:xfrm>
            </p:grpSpPr>
            <p:sp>
              <p:nvSpPr>
                <p:cNvPr id="335" name="Google Shape;335;p23"/>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23"/>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337" name="Google Shape;337;p23"/>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338" name="Google Shape;338;p23"/>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Vecteurs → KMeans → clusters</a:t>
                </a:r>
                <a:endParaRPr sz="700">
                  <a:solidFill>
                    <a:srgbClr val="858585"/>
                  </a:solidFill>
                  <a:latin typeface="Roboto"/>
                  <a:ea typeface="Roboto"/>
                  <a:cs typeface="Roboto"/>
                  <a:sym typeface="Roboto"/>
                </a:endParaRPr>
              </a:p>
            </p:txBody>
          </p:sp>
          <p:sp>
            <p:nvSpPr>
              <p:cNvPr id="339" name="Google Shape;339;p23"/>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340" name="Google Shape;340;p23"/>
            <p:cNvGrpSpPr/>
            <p:nvPr/>
          </p:nvGrpSpPr>
          <p:grpSpPr>
            <a:xfrm>
              <a:off x="306047" y="2772450"/>
              <a:ext cx="3233628" cy="795401"/>
              <a:chOff x="4284885" y="1141936"/>
              <a:chExt cx="3233628" cy="795401"/>
            </a:xfrm>
          </p:grpSpPr>
          <p:grpSp>
            <p:nvGrpSpPr>
              <p:cNvPr id="341" name="Google Shape;341;p23"/>
              <p:cNvGrpSpPr/>
              <p:nvPr/>
            </p:nvGrpSpPr>
            <p:grpSpPr>
              <a:xfrm>
                <a:off x="4732925" y="1142460"/>
                <a:ext cx="529800" cy="794877"/>
                <a:chOff x="4318975" y="1084322"/>
                <a:chExt cx="529800" cy="470676"/>
              </a:xfrm>
            </p:grpSpPr>
            <p:sp>
              <p:nvSpPr>
                <p:cNvPr id="342" name="Google Shape;342;p23"/>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 name="Google Shape;343;p23"/>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344" name="Google Shape;344;p23"/>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345" name="Google Shape;345;p23"/>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Descripteurs → BoVW</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vecteurs images</a:t>
                </a:r>
                <a:endParaRPr sz="700">
                  <a:solidFill>
                    <a:schemeClr val="dk1"/>
                  </a:solidFill>
                  <a:latin typeface="Roboto"/>
                  <a:ea typeface="Roboto"/>
                  <a:cs typeface="Roboto"/>
                  <a:sym typeface="Roboto"/>
                </a:endParaRPr>
              </a:p>
            </p:txBody>
          </p:sp>
          <p:sp>
            <p:nvSpPr>
              <p:cNvPr id="346" name="Google Shape;346;p23"/>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347" name="Google Shape;347;p23"/>
            <p:cNvGrpSpPr/>
            <p:nvPr/>
          </p:nvGrpSpPr>
          <p:grpSpPr>
            <a:xfrm>
              <a:off x="311700" y="1182663"/>
              <a:ext cx="2729377" cy="791917"/>
              <a:chOff x="307438" y="1140891"/>
              <a:chExt cx="2729377" cy="791917"/>
            </a:xfrm>
          </p:grpSpPr>
          <p:grpSp>
            <p:nvGrpSpPr>
              <p:cNvPr id="348" name="Google Shape;348;p23"/>
              <p:cNvGrpSpPr/>
              <p:nvPr/>
            </p:nvGrpSpPr>
            <p:grpSpPr>
              <a:xfrm>
                <a:off x="307438" y="1140891"/>
                <a:ext cx="2729377" cy="791917"/>
                <a:chOff x="307438" y="1140891"/>
                <a:chExt cx="2729377" cy="791917"/>
              </a:xfrm>
            </p:grpSpPr>
            <p:grpSp>
              <p:nvGrpSpPr>
                <p:cNvPr id="349" name="Google Shape;349;p23"/>
                <p:cNvGrpSpPr/>
                <p:nvPr/>
              </p:nvGrpSpPr>
              <p:grpSpPr>
                <a:xfrm>
                  <a:off x="755525" y="1140891"/>
                  <a:ext cx="529800" cy="791917"/>
                  <a:chOff x="4318975" y="1083450"/>
                  <a:chExt cx="529800" cy="676505"/>
                </a:xfrm>
              </p:grpSpPr>
              <p:sp>
                <p:nvSpPr>
                  <p:cNvPr id="350" name="Google Shape;350;p23"/>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1" name="Google Shape;351;p23"/>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352" name="Google Shape;352;p23"/>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353" name="Google Shape;353;p23"/>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Images → resize + grayscale</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images préparées</a:t>
                  </a:r>
                  <a:endParaRPr sz="700">
                    <a:solidFill>
                      <a:schemeClr val="dk1"/>
                    </a:solidFill>
                    <a:latin typeface="Roboto"/>
                    <a:ea typeface="Roboto"/>
                    <a:cs typeface="Roboto"/>
                    <a:sym typeface="Roboto"/>
                  </a:endParaRPr>
                </a:p>
              </p:txBody>
            </p:sp>
            <p:sp>
              <p:nvSpPr>
                <p:cNvPr id="354" name="Google Shape;354;p23"/>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355" name="Google Shape;355;p23"/>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356" name="Google Shape;356;p23"/>
            <p:cNvGrpSpPr/>
            <p:nvPr/>
          </p:nvGrpSpPr>
          <p:grpSpPr>
            <a:xfrm>
              <a:off x="310347" y="4351573"/>
              <a:ext cx="2729315" cy="791917"/>
              <a:chOff x="307500" y="1140891"/>
              <a:chExt cx="2729315" cy="791917"/>
            </a:xfrm>
          </p:grpSpPr>
          <p:grpSp>
            <p:nvGrpSpPr>
              <p:cNvPr id="357" name="Google Shape;357;p23"/>
              <p:cNvGrpSpPr/>
              <p:nvPr/>
            </p:nvGrpSpPr>
            <p:grpSpPr>
              <a:xfrm>
                <a:off x="307500" y="1140891"/>
                <a:ext cx="2729315" cy="791917"/>
                <a:chOff x="307500" y="1140891"/>
                <a:chExt cx="2729315" cy="791917"/>
              </a:xfrm>
            </p:grpSpPr>
            <p:grpSp>
              <p:nvGrpSpPr>
                <p:cNvPr id="358" name="Google Shape;358;p23"/>
                <p:cNvGrpSpPr/>
                <p:nvPr/>
              </p:nvGrpSpPr>
              <p:grpSpPr>
                <a:xfrm>
                  <a:off x="755525" y="1140891"/>
                  <a:ext cx="529800" cy="791917"/>
                  <a:chOff x="4318975" y="1083450"/>
                  <a:chExt cx="529800" cy="676505"/>
                </a:xfrm>
              </p:grpSpPr>
              <p:sp>
                <p:nvSpPr>
                  <p:cNvPr id="359" name="Google Shape;359;p23"/>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23"/>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361" name="Google Shape;361;p23"/>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362" name="Google Shape;362;p23"/>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363" name="Google Shape;363;p23"/>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364" name="Google Shape;364;p23"/>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365" name="Google Shape;365;p23"/>
          <p:cNvSpPr txBox="1"/>
          <p:nvPr/>
        </p:nvSpPr>
        <p:spPr>
          <a:xfrm>
            <a:off x="6262825" y="3247925"/>
            <a:ext cx="23772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Très faible alignement avec les catégories réelles (ARI, NMI faibles)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Clusters peu structurés (silhouette faible, DB élevé)</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Représentation essentiellement locale, peu sémantique</a:t>
            </a:r>
            <a:endParaRPr sz="800">
              <a:solidFill>
                <a:schemeClr val="lt2"/>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IMAGE - Cas 2, </a:t>
            </a:r>
            <a:r>
              <a:rPr lang="fr">
                <a:solidFill>
                  <a:schemeClr val="dk1"/>
                </a:solidFill>
              </a:rPr>
              <a:t>CNN VGG16</a:t>
            </a:r>
            <a:endParaRPr>
              <a:solidFill>
                <a:schemeClr val="dk1"/>
              </a:solidFill>
            </a:endParaRPr>
          </a:p>
        </p:txBody>
      </p:sp>
      <p:graphicFrame>
        <p:nvGraphicFramePr>
          <p:cNvPr id="371" name="Google Shape;371;p24"/>
          <p:cNvGraphicFramePr/>
          <p:nvPr/>
        </p:nvGraphicFramePr>
        <p:xfrm>
          <a:off x="4098325" y="3254875"/>
          <a:ext cx="3000000" cy="3000000"/>
        </p:xfrm>
        <a:graphic>
          <a:graphicData uri="http://schemas.openxmlformats.org/drawingml/2006/table">
            <a:tbl>
              <a:tblPr>
                <a:noFill/>
                <a:tableStyleId>{D5246A32-94BD-469A-8FF0-07B5B3C936EE}</a:tableStyleId>
              </a:tblPr>
              <a:tblGrid>
                <a:gridCol w="1082250"/>
                <a:gridCol w="1082250"/>
              </a:tblGrid>
              <a:tr h="320800">
                <a:tc>
                  <a:txBody>
                    <a:bodyPr/>
                    <a:lstStyle/>
                    <a:p>
                      <a:pPr indent="0" lvl="0" marL="0" rtl="0" algn="ctr">
                        <a:spcBef>
                          <a:spcPts val="0"/>
                        </a:spcBef>
                        <a:spcAft>
                          <a:spcPts val="0"/>
                        </a:spcAft>
                        <a:buNone/>
                      </a:pPr>
                      <a:r>
                        <a:rPr lang="fr" sz="800">
                          <a:latin typeface="Calibri"/>
                          <a:ea typeface="Calibri"/>
                          <a:cs typeface="Calibri"/>
                          <a:sym typeface="Calibri"/>
                        </a:rPr>
                        <a:t>ARI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0.26</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NMI</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36AF0B"/>
                          </a:solidFill>
                        </a:rPr>
                        <a:t>0.46</a:t>
                      </a:r>
                      <a:endParaRPr b="1" sz="800">
                        <a:solidFill>
                          <a:srgbClr val="36AF0B"/>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Silhouette score</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0.02</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Davies Bouldin</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4.24</a:t>
                      </a:r>
                      <a:endParaRPr b="1" sz="800">
                        <a:solidFill>
                          <a:srgbClr val="CC0000"/>
                        </a:solidFill>
                      </a:endParaRPr>
                    </a:p>
                  </a:txBody>
                  <a:tcPr marT="18000" marB="18000" marR="18000" marL="18000" anchor="ctr"/>
                </a:tc>
              </a:tr>
              <a:tr h="308475">
                <a:tc>
                  <a:txBody>
                    <a:bodyPr/>
                    <a:lstStyle/>
                    <a:p>
                      <a:pPr indent="0" lvl="0" marL="0" rtl="0" algn="ctr">
                        <a:spcBef>
                          <a:spcPts val="0"/>
                        </a:spcBef>
                        <a:spcAft>
                          <a:spcPts val="0"/>
                        </a:spcAft>
                        <a:buNone/>
                      </a:pPr>
                      <a:r>
                        <a:rPr lang="fr" sz="800">
                          <a:latin typeface="Calibri"/>
                          <a:ea typeface="Calibri"/>
                          <a:cs typeface="Calibri"/>
                          <a:sym typeface="Calibri"/>
                        </a:rPr>
                        <a:t>Calinski Harabasz</a:t>
                      </a:r>
                      <a:endParaRPr sz="800">
                        <a:latin typeface="Calibri"/>
                        <a:ea typeface="Calibri"/>
                        <a:cs typeface="Calibri"/>
                        <a:sym typeface="Calibri"/>
                      </a:endParaRPr>
                    </a:p>
                  </a:txBody>
                  <a:tcPr marT="18000" marB="18000" marR="18000" marL="18000" anchor="ctr"/>
                </a:tc>
                <a:tc>
                  <a:txBody>
                    <a:bodyPr/>
                    <a:lstStyle/>
                    <a:p>
                      <a:pPr indent="0" lvl="0" marL="0" rtl="0" algn="ctr">
                        <a:spcBef>
                          <a:spcPts val="0"/>
                        </a:spcBef>
                        <a:spcAft>
                          <a:spcPts val="0"/>
                        </a:spcAft>
                        <a:buNone/>
                      </a:pPr>
                      <a:r>
                        <a:rPr b="1" lang="fr" sz="800">
                          <a:solidFill>
                            <a:srgbClr val="CC0000"/>
                          </a:solidFill>
                        </a:rPr>
                        <a:t>15.73</a:t>
                      </a:r>
                      <a:endParaRPr b="1" sz="800">
                        <a:solidFill>
                          <a:srgbClr val="CC0000"/>
                        </a:solidFill>
                      </a:endParaRPr>
                    </a:p>
                  </a:txBody>
                  <a:tcPr marT="18000" marB="18000" marR="18000" marL="18000" anchor="ctr"/>
                </a:tc>
              </a:tr>
            </a:tbl>
          </a:graphicData>
        </a:graphic>
      </p:graphicFrame>
      <p:pic>
        <p:nvPicPr>
          <p:cNvPr id="372" name="Google Shape;372;p24"/>
          <p:cNvPicPr preferRelativeResize="0"/>
          <p:nvPr/>
        </p:nvPicPr>
        <p:blipFill>
          <a:blip r:embed="rId3">
            <a:alphaModFix/>
          </a:blip>
          <a:stretch>
            <a:fillRect/>
          </a:stretch>
        </p:blipFill>
        <p:spPr>
          <a:xfrm>
            <a:off x="3889203" y="1140975"/>
            <a:ext cx="4780372" cy="1970050"/>
          </a:xfrm>
          <a:prstGeom prst="rect">
            <a:avLst/>
          </a:prstGeom>
          <a:noFill/>
          <a:ln>
            <a:noFill/>
          </a:ln>
        </p:spPr>
      </p:pic>
      <p:grpSp>
        <p:nvGrpSpPr>
          <p:cNvPr id="373" name="Google Shape;373;p24"/>
          <p:cNvGrpSpPr/>
          <p:nvPr/>
        </p:nvGrpSpPr>
        <p:grpSpPr>
          <a:xfrm>
            <a:off x="-3" y="1182663"/>
            <a:ext cx="3233628" cy="3960826"/>
            <a:chOff x="306047" y="1182663"/>
            <a:chExt cx="3233628" cy="3960826"/>
          </a:xfrm>
        </p:grpSpPr>
        <p:grpSp>
          <p:nvGrpSpPr>
            <p:cNvPr id="374" name="Google Shape;374;p24"/>
            <p:cNvGrpSpPr/>
            <p:nvPr/>
          </p:nvGrpSpPr>
          <p:grpSpPr>
            <a:xfrm>
              <a:off x="308925" y="1974575"/>
              <a:ext cx="2735002" cy="797882"/>
              <a:chOff x="4284901" y="1139452"/>
              <a:chExt cx="2735002" cy="797882"/>
            </a:xfrm>
          </p:grpSpPr>
          <p:grpSp>
            <p:nvGrpSpPr>
              <p:cNvPr id="375" name="Google Shape;375;p24"/>
              <p:cNvGrpSpPr/>
              <p:nvPr/>
            </p:nvGrpSpPr>
            <p:grpSpPr>
              <a:xfrm>
                <a:off x="4732925" y="1140987"/>
                <a:ext cx="529800" cy="796347"/>
                <a:chOff x="4318975" y="1083450"/>
                <a:chExt cx="529800" cy="471546"/>
              </a:xfrm>
            </p:grpSpPr>
            <p:sp>
              <p:nvSpPr>
                <p:cNvPr id="376" name="Google Shape;376;p24"/>
                <p:cNvSpPr/>
                <p:nvPr/>
              </p:nvSpPr>
              <p:spPr>
                <a:xfrm>
                  <a:off x="4517114"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24"/>
                <p:cNvCxnSpPr/>
                <p:nvPr/>
              </p:nvCxnSpPr>
              <p:spPr>
                <a:xfrm rot="10800000">
                  <a:off x="4318975" y="1083450"/>
                  <a:ext cx="529800" cy="0"/>
                </a:xfrm>
                <a:prstGeom prst="straightConnector1">
                  <a:avLst/>
                </a:prstGeom>
                <a:noFill/>
                <a:ln cap="flat" cmpd="sng" w="9525">
                  <a:solidFill>
                    <a:srgbClr val="C2C2C2"/>
                  </a:solidFill>
                  <a:prstDash val="solid"/>
                  <a:round/>
                  <a:headEnd len="sm" w="sm" type="none"/>
                  <a:tailEnd len="sm" w="sm" type="none"/>
                </a:ln>
              </p:spPr>
            </p:cxnSp>
          </p:grpSp>
          <p:sp>
            <p:nvSpPr>
              <p:cNvPr id="378" name="Google Shape;378;p24"/>
              <p:cNvSpPr txBox="1"/>
              <p:nvPr/>
            </p:nvSpPr>
            <p:spPr>
              <a:xfrm>
                <a:off x="5343502" y="1140213"/>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Extraction de features</a:t>
                </a:r>
                <a:endParaRPr b="1" sz="1100">
                  <a:solidFill>
                    <a:srgbClr val="858585"/>
                  </a:solidFill>
                  <a:latin typeface="Roboto"/>
                  <a:ea typeface="Roboto"/>
                  <a:cs typeface="Roboto"/>
                  <a:sym typeface="Roboto"/>
                </a:endParaRPr>
              </a:p>
            </p:txBody>
          </p:sp>
          <p:sp>
            <p:nvSpPr>
              <p:cNvPr id="379" name="Google Shape;379;p24"/>
              <p:cNvSpPr txBox="1"/>
              <p:nvPr/>
            </p:nvSpPr>
            <p:spPr>
              <a:xfrm>
                <a:off x="5343504" y="1416463"/>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Images → VGG16</a:t>
                </a:r>
                <a:endParaRPr sz="700">
                  <a:solidFill>
                    <a:srgbClr val="858585"/>
                  </a:solidFill>
                  <a:latin typeface="Roboto"/>
                  <a:ea typeface="Roboto"/>
                  <a:cs typeface="Roboto"/>
                  <a:sym typeface="Roboto"/>
                </a:endParaRPr>
              </a:p>
              <a:p>
                <a:pPr indent="0" lvl="0" marL="0" rtl="0" algn="l">
                  <a:lnSpc>
                    <a:spcPct val="100000"/>
                  </a:lnSpc>
                  <a:spcBef>
                    <a:spcPts val="0"/>
                  </a:spcBef>
                  <a:spcAft>
                    <a:spcPts val="0"/>
                  </a:spcAft>
                  <a:buNone/>
                </a:pPr>
                <a:r>
                  <a:rPr lang="fr" sz="700">
                    <a:solidFill>
                      <a:srgbClr val="858585"/>
                    </a:solidFill>
                    <a:latin typeface="Roboto"/>
                    <a:ea typeface="Roboto"/>
                    <a:cs typeface="Roboto"/>
                    <a:sym typeface="Roboto"/>
                  </a:rPr>
                  <a:t>→ features profondes</a:t>
                </a:r>
                <a:endParaRPr sz="700">
                  <a:solidFill>
                    <a:srgbClr val="858585"/>
                  </a:solidFill>
                  <a:latin typeface="Roboto"/>
                  <a:ea typeface="Roboto"/>
                  <a:cs typeface="Roboto"/>
                  <a:sym typeface="Roboto"/>
                </a:endParaRPr>
              </a:p>
            </p:txBody>
          </p:sp>
          <p:sp>
            <p:nvSpPr>
              <p:cNvPr id="380" name="Google Shape;380;p24"/>
              <p:cNvSpPr txBox="1"/>
              <p:nvPr/>
            </p:nvSpPr>
            <p:spPr>
              <a:xfrm>
                <a:off x="4284901" y="1139452"/>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2</a:t>
                </a:r>
                <a:endParaRPr b="1" sz="1200">
                  <a:solidFill>
                    <a:srgbClr val="858585"/>
                  </a:solidFill>
                  <a:latin typeface="Roboto"/>
                  <a:ea typeface="Roboto"/>
                  <a:cs typeface="Roboto"/>
                  <a:sym typeface="Roboto"/>
                </a:endParaRPr>
              </a:p>
            </p:txBody>
          </p:sp>
        </p:grpSp>
        <p:grpSp>
          <p:nvGrpSpPr>
            <p:cNvPr id="381" name="Google Shape;381;p24"/>
            <p:cNvGrpSpPr/>
            <p:nvPr/>
          </p:nvGrpSpPr>
          <p:grpSpPr>
            <a:xfrm>
              <a:off x="308925" y="3567850"/>
              <a:ext cx="2735001" cy="795401"/>
              <a:chOff x="4284901" y="1141934"/>
              <a:chExt cx="2735001" cy="795401"/>
            </a:xfrm>
          </p:grpSpPr>
          <p:grpSp>
            <p:nvGrpSpPr>
              <p:cNvPr id="382" name="Google Shape;382;p24"/>
              <p:cNvGrpSpPr/>
              <p:nvPr/>
            </p:nvGrpSpPr>
            <p:grpSpPr>
              <a:xfrm>
                <a:off x="4732925" y="1142460"/>
                <a:ext cx="529800" cy="794874"/>
                <a:chOff x="4318975" y="1084322"/>
                <a:chExt cx="529800" cy="470674"/>
              </a:xfrm>
            </p:grpSpPr>
            <p:sp>
              <p:nvSpPr>
                <p:cNvPr id="383" name="Google Shape;383;p24"/>
                <p:cNvSpPr/>
                <p:nvPr/>
              </p:nvSpPr>
              <p:spPr>
                <a:xfrm>
                  <a:off x="4517139" y="1086096"/>
                  <a:ext cx="133500" cy="4689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4" name="Google Shape;384;p24"/>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385" name="Google Shape;385;p24"/>
              <p:cNvSpPr txBox="1"/>
              <p:nvPr/>
            </p:nvSpPr>
            <p:spPr>
              <a:xfrm>
                <a:off x="5343502" y="1142691"/>
                <a:ext cx="16764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Clustering</a:t>
                </a:r>
                <a:endParaRPr b="1" sz="1100">
                  <a:solidFill>
                    <a:srgbClr val="858585"/>
                  </a:solidFill>
                  <a:latin typeface="Roboto"/>
                  <a:ea typeface="Roboto"/>
                  <a:cs typeface="Roboto"/>
                  <a:sym typeface="Roboto"/>
                </a:endParaRPr>
              </a:p>
            </p:txBody>
          </p:sp>
          <p:sp>
            <p:nvSpPr>
              <p:cNvPr id="386" name="Google Shape;386;p24"/>
              <p:cNvSpPr txBox="1"/>
              <p:nvPr/>
            </p:nvSpPr>
            <p:spPr>
              <a:xfrm>
                <a:off x="5343502" y="1418941"/>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Vecteurs → KMeans → clusters</a:t>
                </a:r>
                <a:endParaRPr sz="700">
                  <a:solidFill>
                    <a:srgbClr val="858585"/>
                  </a:solidFill>
                  <a:latin typeface="Roboto"/>
                  <a:ea typeface="Roboto"/>
                  <a:cs typeface="Roboto"/>
                  <a:sym typeface="Roboto"/>
                </a:endParaRPr>
              </a:p>
            </p:txBody>
          </p:sp>
          <p:sp>
            <p:nvSpPr>
              <p:cNvPr id="387" name="Google Shape;387;p24"/>
              <p:cNvSpPr txBox="1"/>
              <p:nvPr/>
            </p:nvSpPr>
            <p:spPr>
              <a:xfrm>
                <a:off x="4284901" y="1141934"/>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4</a:t>
                </a:r>
                <a:endParaRPr b="1" sz="1200">
                  <a:solidFill>
                    <a:srgbClr val="858585"/>
                  </a:solidFill>
                  <a:latin typeface="Roboto"/>
                  <a:ea typeface="Roboto"/>
                  <a:cs typeface="Roboto"/>
                  <a:sym typeface="Roboto"/>
                </a:endParaRPr>
              </a:p>
            </p:txBody>
          </p:sp>
        </p:grpSp>
        <p:grpSp>
          <p:nvGrpSpPr>
            <p:cNvPr id="388" name="Google Shape;388;p24"/>
            <p:cNvGrpSpPr/>
            <p:nvPr/>
          </p:nvGrpSpPr>
          <p:grpSpPr>
            <a:xfrm>
              <a:off x="306047" y="2772450"/>
              <a:ext cx="3233628" cy="795401"/>
              <a:chOff x="4284885" y="1141936"/>
              <a:chExt cx="3233628" cy="795401"/>
            </a:xfrm>
          </p:grpSpPr>
          <p:grpSp>
            <p:nvGrpSpPr>
              <p:cNvPr id="389" name="Google Shape;389;p24"/>
              <p:cNvGrpSpPr/>
              <p:nvPr/>
            </p:nvGrpSpPr>
            <p:grpSpPr>
              <a:xfrm>
                <a:off x="4732925" y="1142460"/>
                <a:ext cx="529800" cy="794877"/>
                <a:chOff x="4318975" y="1084322"/>
                <a:chExt cx="529800" cy="470676"/>
              </a:xfrm>
            </p:grpSpPr>
            <p:sp>
              <p:nvSpPr>
                <p:cNvPr id="390" name="Google Shape;390;p24"/>
                <p:cNvSpPr/>
                <p:nvPr/>
              </p:nvSpPr>
              <p:spPr>
                <a:xfrm>
                  <a:off x="4517114" y="1086098"/>
                  <a:ext cx="133500" cy="46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1" name="Google Shape;391;p24"/>
                <p:cNvCxnSpPr/>
                <p:nvPr/>
              </p:nvCxnSpPr>
              <p:spPr>
                <a:xfrm rot="10800000">
                  <a:off x="4318975" y="1084322"/>
                  <a:ext cx="529800" cy="0"/>
                </a:xfrm>
                <a:prstGeom prst="straightConnector1">
                  <a:avLst/>
                </a:prstGeom>
                <a:noFill/>
                <a:ln cap="flat" cmpd="sng" w="9525">
                  <a:solidFill>
                    <a:schemeClr val="dk1"/>
                  </a:solidFill>
                  <a:prstDash val="solid"/>
                  <a:round/>
                  <a:headEnd len="sm" w="sm" type="none"/>
                  <a:tailEnd len="sm" w="sm" type="none"/>
                </a:ln>
              </p:spPr>
            </p:cxnSp>
          </p:grpSp>
          <p:sp>
            <p:nvSpPr>
              <p:cNvPr id="392" name="Google Shape;392;p24"/>
              <p:cNvSpPr txBox="1"/>
              <p:nvPr/>
            </p:nvSpPr>
            <p:spPr>
              <a:xfrm>
                <a:off x="5343513" y="1142686"/>
                <a:ext cx="2175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Transformation / vectorisation</a:t>
                </a:r>
                <a:endParaRPr b="1" sz="1100">
                  <a:solidFill>
                    <a:schemeClr val="dk1"/>
                  </a:solidFill>
                  <a:latin typeface="Roboto"/>
                  <a:ea typeface="Roboto"/>
                  <a:cs typeface="Roboto"/>
                  <a:sym typeface="Roboto"/>
                </a:endParaRPr>
              </a:p>
            </p:txBody>
          </p:sp>
          <p:sp>
            <p:nvSpPr>
              <p:cNvPr id="393" name="Google Shape;393;p24"/>
              <p:cNvSpPr txBox="1"/>
              <p:nvPr/>
            </p:nvSpPr>
            <p:spPr>
              <a:xfrm>
                <a:off x="5343502" y="1418944"/>
                <a:ext cx="16764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Features → flatten + scaling + PCA</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vecteurs</a:t>
                </a:r>
                <a:endParaRPr sz="700">
                  <a:solidFill>
                    <a:schemeClr val="dk1"/>
                  </a:solidFill>
                  <a:latin typeface="Roboto"/>
                  <a:ea typeface="Roboto"/>
                  <a:cs typeface="Roboto"/>
                  <a:sym typeface="Roboto"/>
                </a:endParaRPr>
              </a:p>
            </p:txBody>
          </p:sp>
          <p:sp>
            <p:nvSpPr>
              <p:cNvPr id="394" name="Google Shape;394;p24"/>
              <p:cNvSpPr txBox="1"/>
              <p:nvPr/>
            </p:nvSpPr>
            <p:spPr>
              <a:xfrm>
                <a:off x="4284885" y="1141936"/>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3</a:t>
                </a:r>
                <a:endParaRPr b="1" sz="1200">
                  <a:solidFill>
                    <a:schemeClr val="dk1"/>
                  </a:solidFill>
                  <a:latin typeface="Roboto"/>
                  <a:ea typeface="Roboto"/>
                  <a:cs typeface="Roboto"/>
                  <a:sym typeface="Roboto"/>
                </a:endParaRPr>
              </a:p>
            </p:txBody>
          </p:sp>
        </p:grpSp>
        <p:grpSp>
          <p:nvGrpSpPr>
            <p:cNvPr id="395" name="Google Shape;395;p24"/>
            <p:cNvGrpSpPr/>
            <p:nvPr/>
          </p:nvGrpSpPr>
          <p:grpSpPr>
            <a:xfrm>
              <a:off x="311700" y="1182663"/>
              <a:ext cx="2729377" cy="791917"/>
              <a:chOff x="307438" y="1140891"/>
              <a:chExt cx="2729377" cy="791917"/>
            </a:xfrm>
          </p:grpSpPr>
          <p:grpSp>
            <p:nvGrpSpPr>
              <p:cNvPr id="396" name="Google Shape;396;p24"/>
              <p:cNvGrpSpPr/>
              <p:nvPr/>
            </p:nvGrpSpPr>
            <p:grpSpPr>
              <a:xfrm>
                <a:off x="307438" y="1140891"/>
                <a:ext cx="2729377" cy="791917"/>
                <a:chOff x="307438" y="1140891"/>
                <a:chExt cx="2729377" cy="791917"/>
              </a:xfrm>
            </p:grpSpPr>
            <p:grpSp>
              <p:nvGrpSpPr>
                <p:cNvPr id="397" name="Google Shape;397;p24"/>
                <p:cNvGrpSpPr/>
                <p:nvPr/>
              </p:nvGrpSpPr>
              <p:grpSpPr>
                <a:xfrm>
                  <a:off x="755525" y="1140891"/>
                  <a:ext cx="529800" cy="791917"/>
                  <a:chOff x="4318975" y="1083450"/>
                  <a:chExt cx="529800" cy="676505"/>
                </a:xfrm>
              </p:grpSpPr>
              <p:sp>
                <p:nvSpPr>
                  <p:cNvPr id="398" name="Google Shape;398;p24"/>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9" name="Google Shape;399;p24"/>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400" name="Google Shape;400;p24"/>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Prétraitement</a:t>
                  </a:r>
                  <a:endParaRPr b="1" sz="1100">
                    <a:solidFill>
                      <a:schemeClr val="dk1"/>
                    </a:solidFill>
                    <a:latin typeface="Roboto"/>
                    <a:ea typeface="Roboto"/>
                    <a:cs typeface="Roboto"/>
                    <a:sym typeface="Roboto"/>
                  </a:endParaRPr>
                </a:p>
              </p:txBody>
            </p:sp>
            <p:sp>
              <p:nvSpPr>
                <p:cNvPr id="401" name="Google Shape;401;p24"/>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Images → resize</a:t>
                  </a:r>
                  <a:endParaRPr sz="7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 images compatibles</a:t>
                  </a:r>
                  <a:endParaRPr sz="700">
                    <a:solidFill>
                      <a:schemeClr val="dk1"/>
                    </a:solidFill>
                    <a:latin typeface="Roboto"/>
                    <a:ea typeface="Roboto"/>
                    <a:cs typeface="Roboto"/>
                    <a:sym typeface="Roboto"/>
                  </a:endParaRPr>
                </a:p>
              </p:txBody>
            </p:sp>
            <p:sp>
              <p:nvSpPr>
                <p:cNvPr id="402" name="Google Shape;402;p24"/>
                <p:cNvSpPr txBox="1"/>
                <p:nvPr/>
              </p:nvSpPr>
              <p:spPr>
                <a:xfrm>
                  <a:off x="307438" y="114617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1</a:t>
                  </a:r>
                  <a:endParaRPr b="1" sz="1200">
                    <a:solidFill>
                      <a:schemeClr val="dk1"/>
                    </a:solidFill>
                    <a:latin typeface="Roboto"/>
                    <a:ea typeface="Roboto"/>
                    <a:cs typeface="Roboto"/>
                    <a:sym typeface="Roboto"/>
                  </a:endParaRPr>
                </a:p>
              </p:txBody>
            </p:sp>
          </p:grpSp>
          <p:cxnSp>
            <p:nvCxnSpPr>
              <p:cNvPr id="403" name="Google Shape;403;p24"/>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nvGrpSpPr>
            <p:cNvPr id="404" name="Google Shape;404;p24"/>
            <p:cNvGrpSpPr/>
            <p:nvPr/>
          </p:nvGrpSpPr>
          <p:grpSpPr>
            <a:xfrm>
              <a:off x="310347" y="4351573"/>
              <a:ext cx="2729315" cy="791917"/>
              <a:chOff x="307500" y="1140891"/>
              <a:chExt cx="2729315" cy="791917"/>
            </a:xfrm>
          </p:grpSpPr>
          <p:grpSp>
            <p:nvGrpSpPr>
              <p:cNvPr id="405" name="Google Shape;405;p24"/>
              <p:cNvGrpSpPr/>
              <p:nvPr/>
            </p:nvGrpSpPr>
            <p:grpSpPr>
              <a:xfrm>
                <a:off x="307500" y="1140891"/>
                <a:ext cx="2729315" cy="791917"/>
                <a:chOff x="307500" y="1140891"/>
                <a:chExt cx="2729315" cy="791917"/>
              </a:xfrm>
            </p:grpSpPr>
            <p:grpSp>
              <p:nvGrpSpPr>
                <p:cNvPr id="406" name="Google Shape;406;p24"/>
                <p:cNvGrpSpPr/>
                <p:nvPr/>
              </p:nvGrpSpPr>
              <p:grpSpPr>
                <a:xfrm>
                  <a:off x="755525" y="1140891"/>
                  <a:ext cx="529800" cy="791917"/>
                  <a:chOff x="4318975" y="1083450"/>
                  <a:chExt cx="529800" cy="676505"/>
                </a:xfrm>
              </p:grpSpPr>
              <p:sp>
                <p:nvSpPr>
                  <p:cNvPr id="407" name="Google Shape;407;p24"/>
                  <p:cNvSpPr/>
                  <p:nvPr/>
                </p:nvSpPr>
                <p:spPr>
                  <a:xfrm>
                    <a:off x="4517129" y="1083455"/>
                    <a:ext cx="1335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8" name="Google Shape;408;p24"/>
                  <p:cNvCxnSpPr/>
                  <p:nvPr/>
                </p:nvCxnSpPr>
                <p:spPr>
                  <a:xfrm rot="10800000">
                    <a:off x="4318975" y="1083450"/>
                    <a:ext cx="529800" cy="0"/>
                  </a:xfrm>
                  <a:prstGeom prst="straightConnector1">
                    <a:avLst/>
                  </a:prstGeom>
                  <a:noFill/>
                  <a:ln cap="flat" cmpd="sng" w="9525">
                    <a:solidFill>
                      <a:schemeClr val="lt1"/>
                    </a:solidFill>
                    <a:prstDash val="solid"/>
                    <a:round/>
                    <a:headEnd len="sm" w="sm" type="none"/>
                    <a:tailEnd len="sm" w="sm" type="none"/>
                  </a:ln>
                </p:spPr>
              </p:cxnSp>
            </p:grpSp>
            <p:sp>
              <p:nvSpPr>
                <p:cNvPr id="409" name="Google Shape;409;p24"/>
                <p:cNvSpPr txBox="1"/>
                <p:nvPr/>
              </p:nvSpPr>
              <p:spPr>
                <a:xfrm>
                  <a:off x="1366114" y="114617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Évaluation</a:t>
                  </a:r>
                  <a:endParaRPr b="1" sz="1100">
                    <a:solidFill>
                      <a:schemeClr val="dk1"/>
                    </a:solidFill>
                    <a:latin typeface="Roboto"/>
                    <a:ea typeface="Roboto"/>
                    <a:cs typeface="Roboto"/>
                    <a:sym typeface="Roboto"/>
                  </a:endParaRPr>
                </a:p>
              </p:txBody>
            </p:sp>
            <p:sp>
              <p:nvSpPr>
                <p:cNvPr id="410" name="Google Shape;410;p24"/>
                <p:cNvSpPr txBox="1"/>
                <p:nvPr/>
              </p:nvSpPr>
              <p:spPr>
                <a:xfrm>
                  <a:off x="1366115" y="1422421"/>
                  <a:ext cx="1670700" cy="41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Clusters → métriques → scores</a:t>
                  </a:r>
                  <a:endParaRPr sz="700">
                    <a:solidFill>
                      <a:schemeClr val="dk1"/>
                    </a:solidFill>
                    <a:latin typeface="Roboto"/>
                    <a:ea typeface="Roboto"/>
                    <a:cs typeface="Roboto"/>
                    <a:sym typeface="Roboto"/>
                  </a:endParaRPr>
                </a:p>
              </p:txBody>
            </p:sp>
            <p:sp>
              <p:nvSpPr>
                <p:cNvPr id="411" name="Google Shape;411;p24"/>
                <p:cNvSpPr txBox="1"/>
                <p:nvPr/>
              </p:nvSpPr>
              <p:spPr>
                <a:xfrm>
                  <a:off x="307500" y="1146168"/>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5</a:t>
                  </a:r>
                  <a:endParaRPr b="1" sz="1200">
                    <a:solidFill>
                      <a:schemeClr val="dk1"/>
                    </a:solidFill>
                    <a:latin typeface="Roboto"/>
                    <a:ea typeface="Roboto"/>
                    <a:cs typeface="Roboto"/>
                    <a:sym typeface="Roboto"/>
                  </a:endParaRPr>
                </a:p>
              </p:txBody>
            </p:sp>
          </p:grpSp>
          <p:cxnSp>
            <p:nvCxnSpPr>
              <p:cNvPr id="412" name="Google Shape;412;p24"/>
              <p:cNvCxnSpPr/>
              <p:nvPr/>
            </p:nvCxnSpPr>
            <p:spPr>
              <a:xfrm rot="10800000">
                <a:off x="753208" y="1146801"/>
                <a:ext cx="529800" cy="0"/>
              </a:xfrm>
              <a:prstGeom prst="straightConnector1">
                <a:avLst/>
              </a:prstGeom>
              <a:noFill/>
              <a:ln cap="flat" cmpd="sng" w="9525">
                <a:solidFill>
                  <a:schemeClr val="dk1"/>
                </a:solidFill>
                <a:prstDash val="solid"/>
                <a:round/>
                <a:headEnd len="sm" w="sm" type="none"/>
                <a:tailEnd len="sm" w="sm" type="none"/>
              </a:ln>
            </p:spPr>
          </p:cxnSp>
        </p:grpSp>
      </p:grpSp>
      <p:sp>
        <p:nvSpPr>
          <p:cNvPr id="413" name="Google Shape;413;p24"/>
          <p:cNvSpPr txBox="1"/>
          <p:nvPr/>
        </p:nvSpPr>
        <p:spPr>
          <a:xfrm>
            <a:off x="6279400" y="3247925"/>
            <a:ext cx="2360700" cy="15615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Bon alignement avec les catégories réelles (ARI, NMI corrects)</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Structure des clusters peu compacte (silhouette faible)</a:t>
            </a:r>
            <a:endParaRPr sz="800">
              <a:solidFill>
                <a:schemeClr val="lt2"/>
              </a:solidFill>
              <a:latin typeface="Roboto"/>
              <a:ea typeface="Roboto"/>
              <a:cs typeface="Roboto"/>
              <a:sym typeface="Roboto"/>
            </a:endParaRPr>
          </a:p>
          <a:p>
            <a:pPr indent="-279400" lvl="0" marL="457200" rtl="0" algn="l">
              <a:spcBef>
                <a:spcPts val="0"/>
              </a:spcBef>
              <a:spcAft>
                <a:spcPts val="0"/>
              </a:spcAft>
              <a:buClr>
                <a:schemeClr val="lt2"/>
              </a:buClr>
              <a:buSzPts val="800"/>
              <a:buFont typeface="Roboto"/>
              <a:buChar char="➔"/>
            </a:pPr>
            <a:r>
              <a:rPr lang="fr" sz="800">
                <a:solidFill>
                  <a:schemeClr val="lt2"/>
                </a:solidFill>
                <a:latin typeface="Roboto"/>
                <a:ea typeface="Roboto"/>
                <a:cs typeface="Roboto"/>
                <a:sym typeface="Roboto"/>
              </a:rPr>
              <a:t>Les embeddings étant complexes et non linéaires, la faible compacité est attendue</a:t>
            </a:r>
            <a:endParaRPr sz="800">
              <a:solidFill>
                <a:schemeClr val="lt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5"/>
          <p:cNvSpPr txBox="1"/>
          <p:nvPr>
            <p:ph type="title"/>
          </p:nvPr>
        </p:nvSpPr>
        <p:spPr>
          <a:xfrm>
            <a:off x="311700" y="526350"/>
            <a:ext cx="4136100" cy="89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IMAGE</a:t>
            </a:r>
            <a:endParaRPr/>
          </a:p>
        </p:txBody>
      </p:sp>
      <p:graphicFrame>
        <p:nvGraphicFramePr>
          <p:cNvPr id="419" name="Google Shape;419;p25"/>
          <p:cNvGraphicFramePr/>
          <p:nvPr/>
        </p:nvGraphicFramePr>
        <p:xfrm>
          <a:off x="5684460" y="2149117"/>
          <a:ext cx="3000000" cy="3000000"/>
        </p:xfrm>
        <a:graphic>
          <a:graphicData uri="http://schemas.openxmlformats.org/drawingml/2006/table">
            <a:tbl>
              <a:tblPr>
                <a:noFill/>
                <a:tableStyleId>{D5246A32-94BD-469A-8FF0-07B5B3C936EE}</a:tableStyleId>
              </a:tblPr>
              <a:tblGrid>
                <a:gridCol w="786525"/>
                <a:gridCol w="786525"/>
                <a:gridCol w="786525"/>
              </a:tblGrid>
              <a:tr h="360000">
                <a:tc>
                  <a:txBody>
                    <a:bodyPr/>
                    <a:lstStyle/>
                    <a:p>
                      <a:pPr indent="0" lvl="0" marL="0" rtl="0" algn="ctr">
                        <a:spcBef>
                          <a:spcPts val="0"/>
                        </a:spcBef>
                        <a:spcAft>
                          <a:spcPts val="0"/>
                        </a:spcAft>
                        <a:buNone/>
                      </a:pPr>
                      <a:r>
                        <a:t/>
                      </a:r>
                      <a:endParaRPr sz="900">
                        <a:solidFill>
                          <a:schemeClr val="lt1"/>
                        </a:solidFill>
                      </a:endParaRPr>
                    </a:p>
                  </a:txBody>
                  <a:tcPr marT="91425" marB="91425" marR="91425" marL="91425" anchor="ctr">
                    <a:lnL cap="flat" cmpd="sng" w="9525">
                      <a:solidFill>
                        <a:schemeClr val="lt1">
                          <a:alpha val="0"/>
                        </a:scheme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SIFT</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900">
                          <a:solidFill>
                            <a:schemeClr val="lt1"/>
                          </a:solidFill>
                        </a:rPr>
                        <a:t>CNN</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ARI</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0.04</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B6D7A8"/>
                          </a:solidFill>
                        </a:rPr>
                        <a:t>0.26</a:t>
                      </a:r>
                      <a:endParaRPr b="1" sz="8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NMI</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0.07</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B6D7A8"/>
                          </a:solidFill>
                        </a:rPr>
                        <a:t>0.46</a:t>
                      </a:r>
                      <a:endParaRPr b="1" sz="800">
                        <a:solidFill>
                          <a:srgbClr val="B6D7A8"/>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Silhouette</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0.06</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0.02</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DB</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FFE599"/>
                          </a:solidFill>
                        </a:rPr>
                        <a:t>2.08</a:t>
                      </a:r>
                      <a:endParaRPr b="1" sz="8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4.24</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0000">
                <a:tc>
                  <a:txBody>
                    <a:bodyPr/>
                    <a:lstStyle/>
                    <a:p>
                      <a:pPr indent="0" lvl="0" marL="0" rtl="0" algn="ctr">
                        <a:spcBef>
                          <a:spcPts val="0"/>
                        </a:spcBef>
                        <a:spcAft>
                          <a:spcPts val="0"/>
                        </a:spcAft>
                        <a:buNone/>
                      </a:pPr>
                      <a:r>
                        <a:rPr b="1" lang="fr" sz="900">
                          <a:solidFill>
                            <a:schemeClr val="lt1"/>
                          </a:solidFill>
                        </a:rPr>
                        <a:t>AH</a:t>
                      </a:r>
                      <a:endParaRPr b="1" sz="900">
                        <a:solidFill>
                          <a:schemeClr val="lt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FFE599"/>
                          </a:solidFill>
                        </a:rPr>
                        <a:t>64.29</a:t>
                      </a:r>
                      <a:endParaRPr b="1" sz="800">
                        <a:solidFill>
                          <a:srgbClr val="FFE5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fr" sz="800">
                          <a:solidFill>
                            <a:srgbClr val="EA9999"/>
                          </a:solidFill>
                        </a:rPr>
                        <a:t>15.73</a:t>
                      </a:r>
                      <a:endParaRPr b="1" sz="800">
                        <a:solidFill>
                          <a:srgbClr val="EA9999"/>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420" name="Google Shape;420;p25"/>
          <p:cNvSpPr txBox="1"/>
          <p:nvPr/>
        </p:nvSpPr>
        <p:spPr>
          <a:xfrm>
            <a:off x="4899600" y="1032550"/>
            <a:ext cx="3932700" cy="1146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2"/>
              </a:buClr>
              <a:buSzPts val="1100"/>
              <a:buFont typeface="Arial"/>
              <a:buNone/>
            </a:pPr>
            <a:r>
              <a:rPr lang="fr" sz="1000">
                <a:solidFill>
                  <a:schemeClr val="lt1"/>
                </a:solidFill>
                <a:latin typeface="Roboto"/>
                <a:ea typeface="Roboto"/>
                <a:cs typeface="Roboto"/>
                <a:sym typeface="Roboto"/>
              </a:rPr>
              <a:t>Le modèle CNN (VGG16) est le plus performant car il capture des caractéristiques visuelles riches et globales, ce qui lui permet d’obtenir un meilleur alignement avec les catégories réelles.  </a:t>
            </a:r>
            <a:endParaRPr sz="1000">
              <a:solidFill>
                <a:schemeClr val="lt1"/>
              </a:solidFill>
              <a:latin typeface="Roboto"/>
              <a:ea typeface="Roboto"/>
              <a:cs typeface="Roboto"/>
              <a:sym typeface="Roboto"/>
            </a:endParaRPr>
          </a:p>
          <a:p>
            <a:pPr indent="0" lvl="0" marL="0" rtl="0" algn="just">
              <a:lnSpc>
                <a:spcPct val="115000"/>
              </a:lnSpc>
              <a:spcBef>
                <a:spcPts val="0"/>
              </a:spcBef>
              <a:spcAft>
                <a:spcPts val="0"/>
              </a:spcAft>
              <a:buNone/>
            </a:pPr>
            <a:r>
              <a:rPr lang="fr" sz="1000">
                <a:solidFill>
                  <a:schemeClr val="lt1"/>
                </a:solidFill>
                <a:latin typeface="Roboto"/>
                <a:ea typeface="Roboto"/>
                <a:cs typeface="Roboto"/>
                <a:sym typeface="Roboto"/>
              </a:rPr>
              <a:t>Même si les clusters restent peu compacts d’un point de vue géométrique, ces résultats sont cohérents avec la complexité des embeddings profonds utilisés.</a:t>
            </a:r>
            <a:endParaRPr sz="1000">
              <a:solidFill>
                <a:schemeClr val="lt1"/>
              </a:solidFill>
              <a:latin typeface="Roboto"/>
              <a:ea typeface="Roboto"/>
              <a:cs typeface="Roboto"/>
              <a:sym typeface="Roboto"/>
            </a:endParaRPr>
          </a:p>
        </p:txBody>
      </p:sp>
      <p:pic>
        <p:nvPicPr>
          <p:cNvPr id="421" name="Google Shape;421;p25"/>
          <p:cNvPicPr preferRelativeResize="0"/>
          <p:nvPr/>
        </p:nvPicPr>
        <p:blipFill>
          <a:blip r:embed="rId3">
            <a:alphaModFix/>
          </a:blip>
          <a:stretch>
            <a:fillRect/>
          </a:stretch>
        </p:blipFill>
        <p:spPr>
          <a:xfrm>
            <a:off x="286525" y="2509125"/>
            <a:ext cx="4109126" cy="2125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6"/>
          <p:cNvSpPr txBox="1"/>
          <p:nvPr>
            <p:ph type="title"/>
          </p:nvPr>
        </p:nvSpPr>
        <p:spPr>
          <a:xfrm>
            <a:off x="490250" y="526350"/>
            <a:ext cx="8179200" cy="40908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rPr lang="fr"/>
              <a:t>Réalisation d’une classification supervisée d'images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Méthodologie</a:t>
            </a:r>
            <a:endParaRPr/>
          </a:p>
        </p:txBody>
      </p:sp>
      <p:grpSp>
        <p:nvGrpSpPr>
          <p:cNvPr id="432" name="Google Shape;432;p27"/>
          <p:cNvGrpSpPr/>
          <p:nvPr/>
        </p:nvGrpSpPr>
        <p:grpSpPr>
          <a:xfrm>
            <a:off x="143189" y="2819999"/>
            <a:ext cx="1032300" cy="1897975"/>
            <a:chOff x="937392" y="1957150"/>
            <a:chExt cx="1032300" cy="1897975"/>
          </a:xfrm>
        </p:grpSpPr>
        <p:sp>
          <p:nvSpPr>
            <p:cNvPr id="433" name="Google Shape;433;p27"/>
            <p:cNvSpPr/>
            <p:nvPr/>
          </p:nvSpPr>
          <p:spPr>
            <a:xfrm>
              <a:off x="11518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34" name="Google Shape;434;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sp>
          <p:nvSpPr>
            <p:cNvPr id="435" name="Google Shape;435;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Données brutes</a:t>
              </a:r>
              <a:endParaRPr b="1" sz="1000">
                <a:solidFill>
                  <a:srgbClr val="858585"/>
                </a:solidFill>
                <a:latin typeface="Roboto"/>
                <a:ea typeface="Roboto"/>
                <a:cs typeface="Roboto"/>
                <a:sym typeface="Roboto"/>
              </a:endParaRPr>
            </a:p>
          </p:txBody>
        </p:sp>
        <p:sp>
          <p:nvSpPr>
            <p:cNvPr id="436" name="Google Shape;436;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fr" sz="800">
                  <a:solidFill>
                    <a:srgbClr val="858585"/>
                  </a:solidFill>
                  <a:latin typeface="Roboto"/>
                  <a:ea typeface="Roboto"/>
                  <a:cs typeface="Roboto"/>
                  <a:sym typeface="Roboto"/>
                </a:rPr>
                <a:t>Images RVB</a:t>
              </a:r>
              <a:endParaRPr sz="800">
                <a:solidFill>
                  <a:srgbClr val="858585"/>
                </a:solidFill>
                <a:latin typeface="Roboto"/>
                <a:ea typeface="Roboto"/>
                <a:cs typeface="Roboto"/>
                <a:sym typeface="Roboto"/>
              </a:endParaRPr>
            </a:p>
          </p:txBody>
        </p:sp>
      </p:grpSp>
      <p:sp>
        <p:nvSpPr>
          <p:cNvPr id="437" name="Google Shape;437;p27"/>
          <p:cNvSpPr/>
          <p:nvPr/>
        </p:nvSpPr>
        <p:spPr>
          <a:xfrm>
            <a:off x="392150" y="1092053"/>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 name="Google Shape;438;p27"/>
          <p:cNvGrpSpPr/>
          <p:nvPr/>
        </p:nvGrpSpPr>
        <p:grpSpPr>
          <a:xfrm>
            <a:off x="1122578" y="2819999"/>
            <a:ext cx="1032300" cy="1897975"/>
            <a:chOff x="937392" y="1957150"/>
            <a:chExt cx="1032300" cy="1897975"/>
          </a:xfrm>
        </p:grpSpPr>
        <p:sp>
          <p:nvSpPr>
            <p:cNvPr id="439" name="Google Shape;439;p27"/>
            <p:cNvSpPr/>
            <p:nvPr/>
          </p:nvSpPr>
          <p:spPr>
            <a:xfrm>
              <a:off x="11518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40" name="Google Shape;440;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441" name="Google Shape;441;p27"/>
            <p:cNvSpPr txBox="1"/>
            <p:nvPr/>
          </p:nvSpPr>
          <p:spPr>
            <a:xfrm>
              <a:off x="937392" y="2671325"/>
              <a:ext cx="1032300" cy="446400"/>
            </a:xfrm>
            <a:prstGeom prst="rect">
              <a:avLst/>
            </a:prstGeom>
            <a:noFill/>
            <a:ln>
              <a:noFill/>
            </a:ln>
            <a:effectLst>
              <a:outerShdw blurRad="57150" rotWithShape="0" algn="bl" dir="5400000" dist="19050">
                <a:schemeClr val="accent6">
                  <a:alpha val="89999"/>
                </a:schemeClr>
              </a:outerShdw>
            </a:effectLst>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1A9988"/>
                  </a:solidFill>
                  <a:latin typeface="Roboto"/>
                  <a:ea typeface="Roboto"/>
                  <a:cs typeface="Roboto"/>
                  <a:sym typeface="Roboto"/>
                </a:rPr>
                <a:t>Chargement</a:t>
              </a:r>
              <a:endParaRPr b="1" sz="1000">
                <a:solidFill>
                  <a:srgbClr val="1A9988"/>
                </a:solidFill>
                <a:latin typeface="Roboto"/>
                <a:ea typeface="Roboto"/>
                <a:cs typeface="Roboto"/>
                <a:sym typeface="Roboto"/>
              </a:endParaRPr>
            </a:p>
          </p:txBody>
        </p:sp>
        <p:sp>
          <p:nvSpPr>
            <p:cNvPr id="442" name="Google Shape;442;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Séquentiel</a:t>
              </a:r>
              <a:endParaRPr b="1"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OU</a:t>
              </a:r>
              <a:endParaRPr b="1"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optimisé </a:t>
              </a:r>
              <a:endParaRPr b="1" sz="800">
                <a:solidFill>
                  <a:schemeClr val="dk1"/>
                </a:solidFill>
                <a:latin typeface="Roboto"/>
                <a:ea typeface="Roboto"/>
                <a:cs typeface="Roboto"/>
                <a:sym typeface="Roboto"/>
              </a:endParaRPr>
            </a:p>
          </p:txBody>
        </p:sp>
      </p:grpSp>
      <p:grpSp>
        <p:nvGrpSpPr>
          <p:cNvPr id="443" name="Google Shape;443;p27"/>
          <p:cNvGrpSpPr/>
          <p:nvPr/>
        </p:nvGrpSpPr>
        <p:grpSpPr>
          <a:xfrm>
            <a:off x="2101967" y="2819999"/>
            <a:ext cx="1032300" cy="1897975"/>
            <a:chOff x="937392" y="1957150"/>
            <a:chExt cx="1032300" cy="1897975"/>
          </a:xfrm>
        </p:grpSpPr>
        <p:sp>
          <p:nvSpPr>
            <p:cNvPr id="444" name="Google Shape;444;p27"/>
            <p:cNvSpPr/>
            <p:nvPr/>
          </p:nvSpPr>
          <p:spPr>
            <a:xfrm>
              <a:off x="11518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45" name="Google Shape;445;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sp>
          <p:nvSpPr>
            <p:cNvPr id="446" name="Google Shape;446;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Prétraitement</a:t>
              </a:r>
              <a:endParaRPr b="1" sz="1000">
                <a:solidFill>
                  <a:srgbClr val="858585"/>
                </a:solidFill>
                <a:latin typeface="Roboto"/>
                <a:ea typeface="Roboto"/>
                <a:cs typeface="Roboto"/>
                <a:sym typeface="Roboto"/>
              </a:endParaRPr>
            </a:p>
          </p:txBody>
        </p:sp>
        <p:sp>
          <p:nvSpPr>
            <p:cNvPr id="447" name="Google Shape;447;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rgbClr val="858585"/>
                  </a:solidFill>
                  <a:latin typeface="Roboto"/>
                  <a:ea typeface="Roboto"/>
                  <a:cs typeface="Roboto"/>
                  <a:sym typeface="Roboto"/>
                </a:rPr>
                <a:t>Redimensionnement</a:t>
              </a:r>
              <a:r>
                <a:rPr lang="fr" sz="800">
                  <a:solidFill>
                    <a:srgbClr val="858585"/>
                  </a:solidFill>
                  <a:latin typeface="Roboto"/>
                  <a:ea typeface="Roboto"/>
                  <a:cs typeface="Roboto"/>
                  <a:sym typeface="Roboto"/>
                </a:rPr>
                <a:t> et normalisation pour le modèle</a:t>
              </a:r>
              <a:endParaRPr sz="800">
                <a:solidFill>
                  <a:srgbClr val="858585"/>
                </a:solidFill>
                <a:latin typeface="Roboto"/>
                <a:ea typeface="Roboto"/>
                <a:cs typeface="Roboto"/>
                <a:sym typeface="Roboto"/>
              </a:endParaRPr>
            </a:p>
          </p:txBody>
        </p:sp>
      </p:grpSp>
      <p:grpSp>
        <p:nvGrpSpPr>
          <p:cNvPr id="448" name="Google Shape;448;p27"/>
          <p:cNvGrpSpPr/>
          <p:nvPr/>
        </p:nvGrpSpPr>
        <p:grpSpPr>
          <a:xfrm>
            <a:off x="3081356" y="2819999"/>
            <a:ext cx="1032300" cy="1897975"/>
            <a:chOff x="937392" y="1957150"/>
            <a:chExt cx="1032300" cy="1897975"/>
          </a:xfrm>
        </p:grpSpPr>
        <p:sp>
          <p:nvSpPr>
            <p:cNvPr id="449" name="Google Shape;449;p27"/>
            <p:cNvSpPr/>
            <p:nvPr/>
          </p:nvSpPr>
          <p:spPr>
            <a:xfrm>
              <a:off x="11518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50" name="Google Shape;450;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sp>
          <p:nvSpPr>
            <p:cNvPr id="451" name="Google Shape;451;p27"/>
            <p:cNvSpPr txBox="1"/>
            <p:nvPr/>
          </p:nvSpPr>
          <p:spPr>
            <a:xfrm>
              <a:off x="937392" y="2671325"/>
              <a:ext cx="1032300" cy="446400"/>
            </a:xfrm>
            <a:prstGeom prst="rect">
              <a:avLst/>
            </a:prstGeom>
            <a:noFill/>
            <a:ln>
              <a:noFill/>
            </a:ln>
            <a:effectLst>
              <a:outerShdw blurRad="57150" rotWithShape="0" algn="bl" dir="5400000" dist="19050">
                <a:schemeClr val="accent6">
                  <a:alpha val="89999"/>
                </a:schemeClr>
              </a:outerShdw>
            </a:effectLst>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Data augmentation</a:t>
              </a:r>
              <a:endParaRPr b="1" sz="1000">
                <a:solidFill>
                  <a:schemeClr val="dk1"/>
                </a:solidFill>
                <a:latin typeface="Roboto"/>
                <a:ea typeface="Roboto"/>
                <a:cs typeface="Roboto"/>
                <a:sym typeface="Roboto"/>
              </a:endParaRPr>
            </a:p>
          </p:txBody>
        </p:sp>
        <p:sp>
          <p:nvSpPr>
            <p:cNvPr id="452" name="Google Shape;452;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Appliquée</a:t>
              </a:r>
              <a:endParaRPr b="1"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OU</a:t>
              </a:r>
              <a:endParaRPr b="1"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dk1"/>
                  </a:solidFill>
                  <a:latin typeface="Roboto"/>
                  <a:ea typeface="Roboto"/>
                  <a:cs typeface="Roboto"/>
                  <a:sym typeface="Roboto"/>
                </a:rPr>
                <a:t>non-appliquée</a:t>
              </a:r>
              <a:endParaRPr b="1" sz="800">
                <a:solidFill>
                  <a:schemeClr val="dk1"/>
                </a:solidFill>
                <a:latin typeface="Roboto"/>
                <a:ea typeface="Roboto"/>
                <a:cs typeface="Roboto"/>
                <a:sym typeface="Roboto"/>
              </a:endParaRPr>
            </a:p>
          </p:txBody>
        </p:sp>
      </p:grpSp>
      <p:grpSp>
        <p:nvGrpSpPr>
          <p:cNvPr id="453" name="Google Shape;453;p27"/>
          <p:cNvGrpSpPr/>
          <p:nvPr/>
        </p:nvGrpSpPr>
        <p:grpSpPr>
          <a:xfrm>
            <a:off x="4060745" y="2819999"/>
            <a:ext cx="1058700" cy="1897976"/>
            <a:chOff x="911068" y="1957150"/>
            <a:chExt cx="1058700" cy="1897976"/>
          </a:xfrm>
        </p:grpSpPr>
        <p:sp>
          <p:nvSpPr>
            <p:cNvPr id="454" name="Google Shape;454;p27"/>
            <p:cNvSpPr/>
            <p:nvPr/>
          </p:nvSpPr>
          <p:spPr>
            <a:xfrm>
              <a:off x="11518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55" name="Google Shape;455;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sp>
          <p:nvSpPr>
            <p:cNvPr id="456" name="Google Shape;456;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Feature extraction</a:t>
              </a:r>
              <a:endParaRPr b="1" sz="1000">
                <a:solidFill>
                  <a:srgbClr val="858585"/>
                </a:solidFill>
                <a:latin typeface="Roboto"/>
                <a:ea typeface="Roboto"/>
                <a:cs typeface="Roboto"/>
                <a:sym typeface="Roboto"/>
              </a:endParaRPr>
            </a:p>
          </p:txBody>
        </p:sp>
        <p:sp>
          <p:nvSpPr>
            <p:cNvPr id="457" name="Google Shape;457;p27"/>
            <p:cNvSpPr txBox="1"/>
            <p:nvPr/>
          </p:nvSpPr>
          <p:spPr>
            <a:xfrm>
              <a:off x="911068" y="3117726"/>
              <a:ext cx="10587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rgbClr val="858585"/>
                  </a:solidFill>
                  <a:latin typeface="Roboto"/>
                  <a:ea typeface="Roboto"/>
                  <a:cs typeface="Roboto"/>
                  <a:sym typeface="Roboto"/>
                </a:rPr>
                <a:t>CNN VGG16 (</a:t>
              </a:r>
              <a:r>
                <a:rPr lang="fr" sz="800" strike="sngStrike">
                  <a:solidFill>
                    <a:srgbClr val="858585"/>
                  </a:solidFill>
                  <a:latin typeface="Roboto"/>
                  <a:ea typeface="Roboto"/>
                  <a:cs typeface="Roboto"/>
                  <a:sym typeface="Roboto"/>
                </a:rPr>
                <a:t>couche de classification</a:t>
              </a:r>
              <a:r>
                <a:rPr lang="fr" sz="800">
                  <a:solidFill>
                    <a:srgbClr val="858585"/>
                  </a:solidFill>
                  <a:latin typeface="Roboto"/>
                  <a:ea typeface="Roboto"/>
                  <a:cs typeface="Roboto"/>
                  <a:sym typeface="Roboto"/>
                </a:rPr>
                <a:t>, gelé)</a:t>
              </a:r>
              <a:endParaRPr sz="800">
                <a:solidFill>
                  <a:srgbClr val="858585"/>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rgbClr val="858585"/>
                  </a:solidFill>
                  <a:latin typeface="Roboto"/>
                  <a:ea typeface="Roboto"/>
                  <a:cs typeface="Roboto"/>
                  <a:sym typeface="Roboto"/>
                </a:rPr>
                <a:t>output : (7×7×512)</a:t>
              </a:r>
              <a:endParaRPr sz="800">
                <a:solidFill>
                  <a:srgbClr val="858585"/>
                </a:solidFill>
                <a:latin typeface="Roboto"/>
                <a:ea typeface="Roboto"/>
                <a:cs typeface="Roboto"/>
                <a:sym typeface="Roboto"/>
              </a:endParaRPr>
            </a:p>
          </p:txBody>
        </p:sp>
      </p:grpSp>
      <p:grpSp>
        <p:nvGrpSpPr>
          <p:cNvPr id="458" name="Google Shape;458;p27"/>
          <p:cNvGrpSpPr/>
          <p:nvPr/>
        </p:nvGrpSpPr>
        <p:grpSpPr>
          <a:xfrm>
            <a:off x="5066534" y="2819999"/>
            <a:ext cx="1032300" cy="1897975"/>
            <a:chOff x="937392" y="1957150"/>
            <a:chExt cx="1032300" cy="1897975"/>
          </a:xfrm>
        </p:grpSpPr>
        <p:sp>
          <p:nvSpPr>
            <p:cNvPr id="459" name="Google Shape;459;p27"/>
            <p:cNvSpPr/>
            <p:nvPr/>
          </p:nvSpPr>
          <p:spPr>
            <a:xfrm>
              <a:off x="11518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60" name="Google Shape;460;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sp>
          <p:nvSpPr>
            <p:cNvPr id="461" name="Google Shape;461;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Réduction</a:t>
              </a:r>
              <a:endParaRPr b="1" sz="1000">
                <a:solidFill>
                  <a:schemeClr val="dk1"/>
                </a:solidFill>
                <a:latin typeface="Roboto"/>
                <a:ea typeface="Roboto"/>
                <a:cs typeface="Roboto"/>
                <a:sym typeface="Roboto"/>
              </a:endParaRPr>
            </a:p>
          </p:txBody>
        </p:sp>
        <p:sp>
          <p:nvSpPr>
            <p:cNvPr id="462" name="Google Shape;462;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chemeClr val="dk1"/>
                  </a:solidFill>
                  <a:latin typeface="Roboto"/>
                  <a:ea typeface="Roboto"/>
                  <a:cs typeface="Roboto"/>
                  <a:sym typeface="Roboto"/>
                </a:rPr>
                <a:t>GAP</a:t>
              </a:r>
              <a:endParaRPr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chemeClr val="dk1"/>
                  </a:solidFill>
                  <a:latin typeface="Roboto"/>
                  <a:ea typeface="Roboto"/>
                  <a:cs typeface="Roboto"/>
                  <a:sym typeface="Roboto"/>
                </a:rPr>
                <a:t>output : 512 features globales</a:t>
              </a:r>
              <a:endParaRPr sz="800">
                <a:solidFill>
                  <a:schemeClr val="dk1"/>
                </a:solidFill>
                <a:latin typeface="Roboto"/>
                <a:ea typeface="Roboto"/>
                <a:cs typeface="Roboto"/>
                <a:sym typeface="Roboto"/>
              </a:endParaRPr>
            </a:p>
          </p:txBody>
        </p:sp>
      </p:grpSp>
      <p:grpSp>
        <p:nvGrpSpPr>
          <p:cNvPr id="463" name="Google Shape;463;p27"/>
          <p:cNvGrpSpPr/>
          <p:nvPr/>
        </p:nvGrpSpPr>
        <p:grpSpPr>
          <a:xfrm>
            <a:off x="6045923" y="2819999"/>
            <a:ext cx="1032300" cy="1897975"/>
            <a:chOff x="937392" y="1957150"/>
            <a:chExt cx="1032300" cy="1897975"/>
          </a:xfrm>
        </p:grpSpPr>
        <p:sp>
          <p:nvSpPr>
            <p:cNvPr id="464" name="Google Shape;464;p27"/>
            <p:cNvSpPr/>
            <p:nvPr/>
          </p:nvSpPr>
          <p:spPr>
            <a:xfrm>
              <a:off x="1151886" y="195715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65" name="Google Shape;465;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rgbClr val="858585"/>
                  </a:solidFill>
                  <a:latin typeface="Roboto"/>
                  <a:ea typeface="Roboto"/>
                  <a:cs typeface="Roboto"/>
                  <a:sym typeface="Roboto"/>
                </a:rPr>
                <a:t>7</a:t>
              </a:r>
              <a:endParaRPr b="1" sz="1200">
                <a:solidFill>
                  <a:srgbClr val="858585"/>
                </a:solidFill>
                <a:latin typeface="Roboto"/>
                <a:ea typeface="Roboto"/>
                <a:cs typeface="Roboto"/>
                <a:sym typeface="Roboto"/>
              </a:endParaRPr>
            </a:p>
          </p:txBody>
        </p:sp>
        <p:sp>
          <p:nvSpPr>
            <p:cNvPr id="466" name="Google Shape;466;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rgbClr val="858585"/>
                  </a:solidFill>
                  <a:latin typeface="Roboto"/>
                  <a:ea typeface="Roboto"/>
                  <a:cs typeface="Roboto"/>
                  <a:sym typeface="Roboto"/>
                </a:rPr>
                <a:t>Classification</a:t>
              </a:r>
              <a:endParaRPr b="1" sz="1000">
                <a:solidFill>
                  <a:srgbClr val="858585"/>
                </a:solidFill>
                <a:latin typeface="Roboto"/>
                <a:ea typeface="Roboto"/>
                <a:cs typeface="Roboto"/>
                <a:sym typeface="Roboto"/>
              </a:endParaRPr>
            </a:p>
          </p:txBody>
        </p:sp>
        <p:sp>
          <p:nvSpPr>
            <p:cNvPr id="467" name="Google Shape;467;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rgbClr val="858585"/>
                  </a:solidFill>
                  <a:latin typeface="Roboto"/>
                  <a:ea typeface="Roboto"/>
                  <a:cs typeface="Roboto"/>
                  <a:sym typeface="Roboto"/>
                </a:rPr>
                <a:t>Tête personnalisée : Dense (ReLU) &gt; Dropout &gt; </a:t>
              </a:r>
              <a:endParaRPr sz="800">
                <a:solidFill>
                  <a:srgbClr val="858585"/>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rgbClr val="858585"/>
                  </a:solidFill>
                  <a:latin typeface="Roboto"/>
                  <a:ea typeface="Roboto"/>
                  <a:cs typeface="Roboto"/>
                  <a:sym typeface="Roboto"/>
                </a:rPr>
                <a:t>Dense + softmax</a:t>
              </a:r>
              <a:endParaRPr sz="800">
                <a:solidFill>
                  <a:srgbClr val="858585"/>
                </a:solidFill>
                <a:latin typeface="Roboto"/>
                <a:ea typeface="Roboto"/>
                <a:cs typeface="Roboto"/>
                <a:sym typeface="Roboto"/>
              </a:endParaRPr>
            </a:p>
          </p:txBody>
        </p:sp>
      </p:grpSp>
      <p:grpSp>
        <p:nvGrpSpPr>
          <p:cNvPr id="468" name="Google Shape;468;p27"/>
          <p:cNvGrpSpPr/>
          <p:nvPr/>
        </p:nvGrpSpPr>
        <p:grpSpPr>
          <a:xfrm>
            <a:off x="7025312" y="2819999"/>
            <a:ext cx="1032300" cy="1897975"/>
            <a:chOff x="937392" y="1957150"/>
            <a:chExt cx="1032300" cy="1897975"/>
          </a:xfrm>
        </p:grpSpPr>
        <p:sp>
          <p:nvSpPr>
            <p:cNvPr id="469" name="Google Shape;469;p27"/>
            <p:cNvSpPr/>
            <p:nvPr/>
          </p:nvSpPr>
          <p:spPr>
            <a:xfrm>
              <a:off x="1151886" y="1957150"/>
              <a:ext cx="594300" cy="594300"/>
            </a:xfrm>
            <a:prstGeom prst="ellips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858585"/>
                </a:solidFill>
              </a:endParaRPr>
            </a:p>
          </p:txBody>
        </p:sp>
        <p:sp>
          <p:nvSpPr>
            <p:cNvPr id="470" name="Google Shape;470;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dk1"/>
                  </a:solidFill>
                  <a:latin typeface="Roboto"/>
                  <a:ea typeface="Roboto"/>
                  <a:cs typeface="Roboto"/>
                  <a:sym typeface="Roboto"/>
                </a:rPr>
                <a:t>8</a:t>
              </a:r>
              <a:endParaRPr b="1" sz="1200">
                <a:solidFill>
                  <a:schemeClr val="dk1"/>
                </a:solidFill>
                <a:latin typeface="Roboto"/>
                <a:ea typeface="Roboto"/>
                <a:cs typeface="Roboto"/>
                <a:sym typeface="Roboto"/>
              </a:endParaRPr>
            </a:p>
          </p:txBody>
        </p:sp>
        <p:sp>
          <p:nvSpPr>
            <p:cNvPr id="471" name="Google Shape;471;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dk1"/>
                  </a:solidFill>
                  <a:latin typeface="Roboto"/>
                  <a:ea typeface="Roboto"/>
                  <a:cs typeface="Roboto"/>
                  <a:sym typeface="Roboto"/>
                </a:rPr>
                <a:t>Apprentissage</a:t>
              </a:r>
              <a:endParaRPr b="1" sz="1000">
                <a:solidFill>
                  <a:schemeClr val="dk1"/>
                </a:solidFill>
                <a:latin typeface="Roboto"/>
                <a:ea typeface="Roboto"/>
                <a:cs typeface="Roboto"/>
                <a:sym typeface="Roboto"/>
              </a:endParaRPr>
            </a:p>
          </p:txBody>
        </p:sp>
        <p:sp>
          <p:nvSpPr>
            <p:cNvPr id="472" name="Google Shape;472;p27"/>
            <p:cNvSpPr txBox="1"/>
            <p:nvPr/>
          </p:nvSpPr>
          <p:spPr>
            <a:xfrm>
              <a:off x="937392" y="3117725"/>
              <a:ext cx="10323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chemeClr val="dk1"/>
                  </a:solidFill>
                  <a:latin typeface="Roboto"/>
                  <a:ea typeface="Roboto"/>
                  <a:cs typeface="Roboto"/>
                  <a:sym typeface="Roboto"/>
                </a:rPr>
                <a:t>Optimiseur : Adam</a:t>
              </a:r>
              <a:endParaRPr sz="800">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chemeClr val="dk1"/>
                  </a:solidFill>
                  <a:latin typeface="Roboto"/>
                  <a:ea typeface="Roboto"/>
                  <a:cs typeface="Roboto"/>
                  <a:sym typeface="Roboto"/>
                </a:rPr>
                <a:t>Fonction de perte : Cross-Entropy</a:t>
              </a:r>
              <a:endParaRPr sz="800">
                <a:solidFill>
                  <a:schemeClr val="dk1"/>
                </a:solidFill>
                <a:latin typeface="Roboto"/>
                <a:ea typeface="Roboto"/>
                <a:cs typeface="Roboto"/>
                <a:sym typeface="Roboto"/>
              </a:endParaRPr>
            </a:p>
          </p:txBody>
        </p:sp>
      </p:grpSp>
      <p:sp>
        <p:nvSpPr>
          <p:cNvPr id="473" name="Google Shape;473;p27"/>
          <p:cNvSpPr/>
          <p:nvPr/>
        </p:nvSpPr>
        <p:spPr>
          <a:xfrm>
            <a:off x="1015900"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27" title="Image2.png"/>
          <p:cNvPicPr preferRelativeResize="0"/>
          <p:nvPr/>
        </p:nvPicPr>
        <p:blipFill>
          <a:blip r:embed="rId3">
            <a:alphaModFix/>
          </a:blip>
          <a:stretch>
            <a:fillRect/>
          </a:stretch>
        </p:blipFill>
        <p:spPr>
          <a:xfrm>
            <a:off x="1458435" y="2489264"/>
            <a:ext cx="360600" cy="360600"/>
          </a:xfrm>
          <a:prstGeom prst="rect">
            <a:avLst/>
          </a:prstGeom>
          <a:noFill/>
          <a:ln>
            <a:noFill/>
          </a:ln>
        </p:spPr>
      </p:pic>
      <p:pic>
        <p:nvPicPr>
          <p:cNvPr id="475" name="Google Shape;475;p27" title="Image2.png"/>
          <p:cNvPicPr preferRelativeResize="0"/>
          <p:nvPr/>
        </p:nvPicPr>
        <p:blipFill>
          <a:blip r:embed="rId3">
            <a:alphaModFix/>
          </a:blip>
          <a:stretch>
            <a:fillRect/>
          </a:stretch>
        </p:blipFill>
        <p:spPr>
          <a:xfrm>
            <a:off x="3417220" y="2489264"/>
            <a:ext cx="360600" cy="360600"/>
          </a:xfrm>
          <a:prstGeom prst="rect">
            <a:avLst/>
          </a:prstGeom>
          <a:noFill/>
          <a:ln>
            <a:noFill/>
          </a:ln>
        </p:spPr>
      </p:pic>
      <p:grpSp>
        <p:nvGrpSpPr>
          <p:cNvPr id="476" name="Google Shape;476;p27"/>
          <p:cNvGrpSpPr/>
          <p:nvPr/>
        </p:nvGrpSpPr>
        <p:grpSpPr>
          <a:xfrm>
            <a:off x="1532575" y="1420712"/>
            <a:ext cx="6164400" cy="673800"/>
            <a:chOff x="1476175" y="4319787"/>
            <a:chExt cx="6164400" cy="673800"/>
          </a:xfrm>
        </p:grpSpPr>
        <p:sp>
          <p:nvSpPr>
            <p:cNvPr id="477" name="Google Shape;477;p27"/>
            <p:cNvSpPr/>
            <p:nvPr/>
          </p:nvSpPr>
          <p:spPr>
            <a:xfrm>
              <a:off x="1476175" y="4319787"/>
              <a:ext cx="6164400" cy="673800"/>
            </a:xfrm>
            <a:prstGeom prst="roundRect">
              <a:avLst>
                <a:gd fmla="val 16667" name="adj"/>
              </a:avLst>
            </a:prstGeom>
            <a:solidFill>
              <a:schemeClr val="dk1"/>
            </a:solidFill>
            <a:ln cap="flat" cmpd="sng" w="28575">
              <a:solidFill>
                <a:srgbClr val="75E7D7"/>
              </a:solidFill>
              <a:prstDash val="solid"/>
              <a:round/>
              <a:headEnd len="sm" w="sm" type="none"/>
              <a:tailEnd len="sm" w="sm" type="none"/>
            </a:ln>
          </p:spPr>
          <p:txBody>
            <a:bodyPr anchorCtr="0" anchor="ctr" bIns="91425" lIns="737975" spcFirstLastPara="1" rIns="91425" wrap="square" tIns="91425">
              <a:noAutofit/>
            </a:bodyPr>
            <a:lstStyle/>
            <a:p>
              <a:pPr indent="0" lvl="0" marL="0" rtl="0" algn="l">
                <a:spcBef>
                  <a:spcPts val="0"/>
                </a:spcBef>
                <a:spcAft>
                  <a:spcPts val="0"/>
                </a:spcAft>
                <a:buNone/>
              </a:pPr>
              <a:r>
                <a:rPr lang="fr" sz="1200">
                  <a:solidFill>
                    <a:schemeClr val="lt1"/>
                  </a:solidFill>
                  <a:latin typeface="Roboto"/>
                  <a:ea typeface="Roboto"/>
                  <a:cs typeface="Roboto"/>
                  <a:sym typeface="Roboto"/>
                </a:rPr>
                <a:t>Étapes différentes entre les cas testés :</a:t>
              </a:r>
              <a:endParaRPr sz="1200">
                <a:solidFill>
                  <a:schemeClr val="lt1"/>
                </a:solidFill>
                <a:latin typeface="Roboto"/>
                <a:ea typeface="Roboto"/>
                <a:cs typeface="Roboto"/>
                <a:sym typeface="Roboto"/>
              </a:endParaRPr>
            </a:p>
            <a:p>
              <a:pPr indent="0" lvl="0" marL="0" rtl="0" algn="l">
                <a:spcBef>
                  <a:spcPts val="0"/>
                </a:spcBef>
                <a:spcAft>
                  <a:spcPts val="0"/>
                </a:spcAft>
                <a:buNone/>
              </a:pPr>
              <a:r>
                <a:rPr lang="fr" sz="1200">
                  <a:solidFill>
                    <a:schemeClr val="lt1"/>
                  </a:solidFill>
                  <a:latin typeface="Roboto"/>
                  <a:ea typeface="Roboto"/>
                  <a:cs typeface="Roboto"/>
                  <a:sym typeface="Roboto"/>
                </a:rPr>
                <a:t>type de chargement des données &amp; application ou non de data augmentation </a:t>
              </a:r>
              <a:endParaRPr sz="1200">
                <a:solidFill>
                  <a:schemeClr val="lt1"/>
                </a:solidFill>
                <a:latin typeface="Roboto"/>
                <a:ea typeface="Roboto"/>
                <a:cs typeface="Roboto"/>
                <a:sym typeface="Roboto"/>
              </a:endParaRPr>
            </a:p>
          </p:txBody>
        </p:sp>
        <p:pic>
          <p:nvPicPr>
            <p:cNvPr id="478" name="Google Shape;478;p27" title="Image3.png"/>
            <p:cNvPicPr preferRelativeResize="0"/>
            <p:nvPr/>
          </p:nvPicPr>
          <p:blipFill>
            <a:blip r:embed="rId4">
              <a:alphaModFix/>
            </a:blip>
            <a:stretch>
              <a:fillRect/>
            </a:stretch>
          </p:blipFill>
          <p:spPr>
            <a:xfrm>
              <a:off x="1673109" y="4460665"/>
              <a:ext cx="392075" cy="392058"/>
            </a:xfrm>
            <a:prstGeom prst="rect">
              <a:avLst/>
            </a:prstGeom>
            <a:noFill/>
            <a:ln>
              <a:noFill/>
            </a:ln>
          </p:spPr>
        </p:pic>
      </p:grpSp>
      <p:grpSp>
        <p:nvGrpSpPr>
          <p:cNvPr id="479" name="Google Shape;479;p27"/>
          <p:cNvGrpSpPr/>
          <p:nvPr/>
        </p:nvGrpSpPr>
        <p:grpSpPr>
          <a:xfrm>
            <a:off x="7972900" y="2819999"/>
            <a:ext cx="1095900" cy="1897976"/>
            <a:chOff x="905590" y="1957150"/>
            <a:chExt cx="1095900" cy="1897976"/>
          </a:xfrm>
        </p:grpSpPr>
        <p:sp>
          <p:nvSpPr>
            <p:cNvPr id="480" name="Google Shape;480;p27"/>
            <p:cNvSpPr/>
            <p:nvPr/>
          </p:nvSpPr>
          <p:spPr>
            <a:xfrm>
              <a:off x="1151886" y="1957150"/>
              <a:ext cx="594300" cy="5943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481" name="Google Shape;481;p27"/>
            <p:cNvSpPr txBox="1"/>
            <p:nvPr/>
          </p:nvSpPr>
          <p:spPr>
            <a:xfrm>
              <a:off x="1230642" y="2091450"/>
              <a:ext cx="436800" cy="347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fr" sz="1200">
                  <a:solidFill>
                    <a:schemeClr val="lt2"/>
                  </a:solidFill>
                  <a:latin typeface="Roboto"/>
                  <a:ea typeface="Roboto"/>
                  <a:cs typeface="Roboto"/>
                  <a:sym typeface="Roboto"/>
                </a:rPr>
                <a:t>9</a:t>
              </a:r>
              <a:endParaRPr b="1" sz="1200">
                <a:solidFill>
                  <a:schemeClr val="lt2"/>
                </a:solidFill>
                <a:latin typeface="Roboto"/>
                <a:ea typeface="Roboto"/>
                <a:cs typeface="Roboto"/>
                <a:sym typeface="Roboto"/>
              </a:endParaRPr>
            </a:p>
          </p:txBody>
        </p:sp>
        <p:sp>
          <p:nvSpPr>
            <p:cNvPr id="482" name="Google Shape;482;p27"/>
            <p:cNvSpPr txBox="1"/>
            <p:nvPr/>
          </p:nvSpPr>
          <p:spPr>
            <a:xfrm>
              <a:off x="937392" y="2671325"/>
              <a:ext cx="10323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1000">
                  <a:solidFill>
                    <a:schemeClr val="lt2"/>
                  </a:solidFill>
                  <a:latin typeface="Roboto"/>
                  <a:ea typeface="Roboto"/>
                  <a:cs typeface="Roboto"/>
                  <a:sym typeface="Roboto"/>
                </a:rPr>
                <a:t>Évaluation</a:t>
              </a:r>
              <a:endParaRPr b="1" sz="1000">
                <a:solidFill>
                  <a:schemeClr val="lt2"/>
                </a:solidFill>
                <a:latin typeface="Roboto"/>
                <a:ea typeface="Roboto"/>
                <a:cs typeface="Roboto"/>
                <a:sym typeface="Roboto"/>
              </a:endParaRPr>
            </a:p>
          </p:txBody>
        </p:sp>
        <p:sp>
          <p:nvSpPr>
            <p:cNvPr id="483" name="Google Shape;483;p27"/>
            <p:cNvSpPr txBox="1"/>
            <p:nvPr/>
          </p:nvSpPr>
          <p:spPr>
            <a:xfrm>
              <a:off x="905590" y="3117726"/>
              <a:ext cx="10959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800">
                  <a:solidFill>
                    <a:schemeClr val="lt2"/>
                  </a:solidFill>
                  <a:latin typeface="Roboto"/>
                  <a:ea typeface="Roboto"/>
                  <a:cs typeface="Roboto"/>
                  <a:sym typeface="Roboto"/>
                </a:rPr>
                <a:t>Test commun</a:t>
              </a:r>
              <a:endParaRPr sz="800">
                <a:solidFill>
                  <a:schemeClr val="lt2"/>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chemeClr val="lt2"/>
                  </a:solidFill>
                  <a:latin typeface="Roboto"/>
                  <a:ea typeface="Roboto"/>
                  <a:cs typeface="Roboto"/>
                  <a:sym typeface="Roboto"/>
                </a:rPr>
                <a:t>Sans augmentation</a:t>
              </a:r>
              <a:endParaRPr sz="800">
                <a:solidFill>
                  <a:schemeClr val="lt2"/>
                </a:solidFill>
                <a:latin typeface="Roboto"/>
                <a:ea typeface="Roboto"/>
                <a:cs typeface="Roboto"/>
                <a:sym typeface="Roboto"/>
              </a:endParaRPr>
            </a:p>
            <a:p>
              <a:pPr indent="0" lvl="0" marL="0" rtl="0" algn="ctr">
                <a:lnSpc>
                  <a:spcPct val="115000"/>
                </a:lnSpc>
                <a:spcBef>
                  <a:spcPts val="0"/>
                </a:spcBef>
                <a:spcAft>
                  <a:spcPts val="0"/>
                </a:spcAft>
                <a:buNone/>
              </a:pPr>
              <a:r>
                <a:rPr lang="fr" sz="800">
                  <a:solidFill>
                    <a:schemeClr val="lt2"/>
                  </a:solidFill>
                  <a:latin typeface="Roboto"/>
                  <a:ea typeface="Roboto"/>
                  <a:cs typeface="Roboto"/>
                  <a:sym typeface="Roboto"/>
                </a:rPr>
                <a:t>Conditions réelles</a:t>
              </a:r>
              <a:endParaRPr sz="800">
                <a:solidFill>
                  <a:schemeClr val="lt2"/>
                </a:solidFill>
                <a:latin typeface="Roboto"/>
                <a:ea typeface="Roboto"/>
                <a:cs typeface="Roboto"/>
                <a:sym typeface="Roboto"/>
              </a:endParaRPr>
            </a:p>
          </p:txBody>
        </p:sp>
      </p:grpSp>
      <p:sp>
        <p:nvSpPr>
          <p:cNvPr id="484" name="Google Shape;484;p27"/>
          <p:cNvSpPr/>
          <p:nvPr/>
        </p:nvSpPr>
        <p:spPr>
          <a:xfrm>
            <a:off x="1998855"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a:off x="2981811"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3964766"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7"/>
          <p:cNvSpPr/>
          <p:nvPr/>
        </p:nvSpPr>
        <p:spPr>
          <a:xfrm>
            <a:off x="4947721"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7"/>
          <p:cNvSpPr/>
          <p:nvPr/>
        </p:nvSpPr>
        <p:spPr>
          <a:xfrm>
            <a:off x="5930677"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7"/>
          <p:cNvSpPr/>
          <p:nvPr/>
        </p:nvSpPr>
        <p:spPr>
          <a:xfrm>
            <a:off x="6913632"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7"/>
          <p:cNvSpPr/>
          <p:nvPr/>
        </p:nvSpPr>
        <p:spPr>
          <a:xfrm>
            <a:off x="7896587" y="3118601"/>
            <a:ext cx="2556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Cas 1, </a:t>
            </a:r>
            <a:r>
              <a:rPr lang="fr">
                <a:solidFill>
                  <a:schemeClr val="dk1"/>
                </a:solidFill>
              </a:rPr>
              <a:t>Baseline</a:t>
            </a:r>
            <a:endParaRPr>
              <a:solidFill>
                <a:schemeClr val="dk1"/>
              </a:solidFill>
            </a:endParaRPr>
          </a:p>
        </p:txBody>
      </p:sp>
      <p:sp>
        <p:nvSpPr>
          <p:cNvPr id="496" name="Google Shape;496;p28"/>
          <p:cNvSpPr txBox="1"/>
          <p:nvPr/>
        </p:nvSpPr>
        <p:spPr>
          <a:xfrm>
            <a:off x="74916" y="16633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497" name="Google Shape;497;p28"/>
          <p:cNvSpPr txBox="1"/>
          <p:nvPr/>
        </p:nvSpPr>
        <p:spPr>
          <a:xfrm>
            <a:off x="72053" y="26050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sp>
        <p:nvSpPr>
          <p:cNvPr id="498" name="Google Shape;498;p28"/>
          <p:cNvSpPr txBox="1"/>
          <p:nvPr/>
        </p:nvSpPr>
        <p:spPr>
          <a:xfrm>
            <a:off x="72763" y="213870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sp>
        <p:nvSpPr>
          <p:cNvPr id="499" name="Google Shape;499;p28"/>
          <p:cNvSpPr txBox="1"/>
          <p:nvPr/>
        </p:nvSpPr>
        <p:spPr>
          <a:xfrm>
            <a:off x="80566" y="11879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cxnSp>
        <p:nvCxnSpPr>
          <p:cNvPr id="500" name="Google Shape;500;p28"/>
          <p:cNvCxnSpPr/>
          <p:nvPr/>
        </p:nvCxnSpPr>
        <p:spPr>
          <a:xfrm rot="10800000">
            <a:off x="527471" y="1186999"/>
            <a:ext cx="529800" cy="0"/>
          </a:xfrm>
          <a:prstGeom prst="straightConnector1">
            <a:avLst/>
          </a:prstGeom>
          <a:noFill/>
          <a:ln cap="flat" cmpd="sng" w="9525">
            <a:solidFill>
              <a:srgbClr val="C2C2C2"/>
            </a:solidFill>
            <a:prstDash val="solid"/>
            <a:round/>
            <a:headEnd len="sm" w="sm" type="none"/>
            <a:tailEnd len="sm" w="sm" type="none"/>
          </a:ln>
        </p:spPr>
      </p:cxnSp>
      <p:sp>
        <p:nvSpPr>
          <p:cNvPr id="501" name="Google Shape;501;p28"/>
          <p:cNvSpPr txBox="1"/>
          <p:nvPr/>
        </p:nvSpPr>
        <p:spPr>
          <a:xfrm>
            <a:off x="72076" y="30713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cxnSp>
        <p:nvCxnSpPr>
          <p:cNvPr id="502" name="Google Shape;502;p28"/>
          <p:cNvCxnSpPr/>
          <p:nvPr/>
        </p:nvCxnSpPr>
        <p:spPr>
          <a:xfrm rot="10800000">
            <a:off x="527471" y="4474660"/>
            <a:ext cx="529800" cy="0"/>
          </a:xfrm>
          <a:prstGeom prst="straightConnector1">
            <a:avLst/>
          </a:prstGeom>
          <a:noFill/>
          <a:ln cap="flat" cmpd="sng" w="9525">
            <a:solidFill>
              <a:schemeClr val="dk1"/>
            </a:solidFill>
            <a:prstDash val="solid"/>
            <a:round/>
            <a:headEnd len="sm" w="sm" type="none"/>
            <a:tailEnd len="sm" w="sm" type="none"/>
          </a:ln>
        </p:spPr>
      </p:cxnSp>
      <p:grpSp>
        <p:nvGrpSpPr>
          <p:cNvPr id="503" name="Google Shape;503;p28"/>
          <p:cNvGrpSpPr/>
          <p:nvPr/>
        </p:nvGrpSpPr>
        <p:grpSpPr>
          <a:xfrm>
            <a:off x="1063923" y="1150124"/>
            <a:ext cx="1670700" cy="481082"/>
            <a:chOff x="3417475" y="1182668"/>
            <a:chExt cx="1670700" cy="481082"/>
          </a:xfrm>
        </p:grpSpPr>
        <p:sp>
          <p:nvSpPr>
            <p:cNvPr id="504" name="Google Shape;504;p28"/>
            <p:cNvSpPr txBox="1"/>
            <p:nvPr/>
          </p:nvSpPr>
          <p:spPr>
            <a:xfrm>
              <a:off x="3417475" y="11826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Données brutes</a:t>
              </a:r>
              <a:endParaRPr b="1" sz="1100">
                <a:solidFill>
                  <a:srgbClr val="858585"/>
                </a:solidFill>
                <a:latin typeface="Roboto"/>
                <a:ea typeface="Roboto"/>
                <a:cs typeface="Roboto"/>
                <a:sym typeface="Roboto"/>
              </a:endParaRPr>
            </a:p>
          </p:txBody>
        </p:sp>
        <p:sp>
          <p:nvSpPr>
            <p:cNvPr id="505" name="Google Shape;505;p28"/>
            <p:cNvSpPr txBox="1"/>
            <p:nvPr/>
          </p:nvSpPr>
          <p:spPr>
            <a:xfrm>
              <a:off x="3417475" y="1387750"/>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Images RVB</a:t>
              </a:r>
              <a:endParaRPr sz="700">
                <a:solidFill>
                  <a:srgbClr val="858585"/>
                </a:solidFill>
                <a:latin typeface="Roboto"/>
                <a:ea typeface="Roboto"/>
                <a:cs typeface="Roboto"/>
                <a:sym typeface="Roboto"/>
              </a:endParaRPr>
            </a:p>
          </p:txBody>
        </p:sp>
      </p:grpSp>
      <p:grpSp>
        <p:nvGrpSpPr>
          <p:cNvPr id="506" name="Google Shape;506;p28"/>
          <p:cNvGrpSpPr/>
          <p:nvPr/>
        </p:nvGrpSpPr>
        <p:grpSpPr>
          <a:xfrm>
            <a:off x="1063923" y="4422974"/>
            <a:ext cx="1670700" cy="486182"/>
            <a:chOff x="3417475" y="4455518"/>
            <a:chExt cx="1670700" cy="486182"/>
          </a:xfrm>
        </p:grpSpPr>
        <p:sp>
          <p:nvSpPr>
            <p:cNvPr id="507" name="Google Shape;507;p28"/>
            <p:cNvSpPr txBox="1"/>
            <p:nvPr/>
          </p:nvSpPr>
          <p:spPr>
            <a:xfrm>
              <a:off x="3417475" y="44555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Apprentissage</a:t>
              </a:r>
              <a:endParaRPr b="1" sz="1100">
                <a:solidFill>
                  <a:schemeClr val="dk1"/>
                </a:solidFill>
                <a:latin typeface="Roboto"/>
                <a:ea typeface="Roboto"/>
                <a:cs typeface="Roboto"/>
                <a:sym typeface="Roboto"/>
              </a:endParaRPr>
            </a:p>
          </p:txBody>
        </p:sp>
        <p:sp>
          <p:nvSpPr>
            <p:cNvPr id="508" name="Google Shape;508;p28"/>
            <p:cNvSpPr txBox="1"/>
            <p:nvPr/>
          </p:nvSpPr>
          <p:spPr>
            <a:xfrm>
              <a:off x="3417475" y="466570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Adam / Cross-Entropy</a:t>
              </a:r>
              <a:endParaRPr sz="700">
                <a:solidFill>
                  <a:schemeClr val="dk1"/>
                </a:solidFill>
                <a:latin typeface="Roboto"/>
                <a:ea typeface="Roboto"/>
                <a:cs typeface="Roboto"/>
                <a:sym typeface="Roboto"/>
              </a:endParaRPr>
            </a:p>
          </p:txBody>
        </p:sp>
      </p:grpSp>
      <p:grpSp>
        <p:nvGrpSpPr>
          <p:cNvPr id="509" name="Google Shape;509;p28"/>
          <p:cNvGrpSpPr/>
          <p:nvPr/>
        </p:nvGrpSpPr>
        <p:grpSpPr>
          <a:xfrm>
            <a:off x="1063923" y="1617674"/>
            <a:ext cx="2241000" cy="513894"/>
            <a:chOff x="3417475" y="1650218"/>
            <a:chExt cx="2241000" cy="513894"/>
          </a:xfrm>
        </p:grpSpPr>
        <p:sp>
          <p:nvSpPr>
            <p:cNvPr id="510" name="Google Shape;510;p28"/>
            <p:cNvSpPr txBox="1"/>
            <p:nvPr/>
          </p:nvSpPr>
          <p:spPr>
            <a:xfrm>
              <a:off x="3417475" y="16502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Chargement </a:t>
              </a:r>
              <a:r>
                <a:rPr lang="fr" sz="1050">
                  <a:solidFill>
                    <a:schemeClr val="dk1"/>
                  </a:solidFill>
                </a:rPr>
                <a:t>➡️</a:t>
              </a:r>
              <a:r>
                <a:rPr b="1" lang="fr" sz="1050">
                  <a:solidFill>
                    <a:schemeClr val="dk1"/>
                  </a:solidFill>
                </a:rPr>
                <a:t>🖼️</a:t>
              </a:r>
              <a:r>
                <a:rPr b="1" lang="fr" sz="1050">
                  <a:solidFill>
                    <a:schemeClr val="dk1"/>
                  </a:solidFill>
                </a:rPr>
                <a:t>➡️</a:t>
              </a:r>
              <a:endParaRPr b="1" sz="1050">
                <a:solidFill>
                  <a:schemeClr val="dk1"/>
                </a:solidFill>
              </a:endParaRPr>
            </a:p>
            <a:p>
              <a:pPr indent="0" lvl="0" marL="0" rtl="0" algn="l">
                <a:lnSpc>
                  <a:spcPct val="115000"/>
                </a:lnSpc>
                <a:spcBef>
                  <a:spcPts val="0"/>
                </a:spcBef>
                <a:spcAft>
                  <a:spcPts val="0"/>
                </a:spcAft>
                <a:buNone/>
              </a:pPr>
              <a:r>
                <a:t/>
              </a:r>
              <a:endParaRPr b="1" sz="1100">
                <a:solidFill>
                  <a:schemeClr val="dk1"/>
                </a:solidFill>
                <a:latin typeface="Roboto"/>
                <a:ea typeface="Roboto"/>
                <a:cs typeface="Roboto"/>
                <a:sym typeface="Roboto"/>
              </a:endParaRPr>
            </a:p>
          </p:txBody>
        </p:sp>
        <p:sp>
          <p:nvSpPr>
            <p:cNvPr id="511" name="Google Shape;511;p28"/>
            <p:cNvSpPr txBox="1"/>
            <p:nvPr/>
          </p:nvSpPr>
          <p:spPr>
            <a:xfrm>
              <a:off x="3417475" y="1888112"/>
              <a:ext cx="2241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ImageDataGenerator : streaming (séquentiel)</a:t>
              </a:r>
              <a:endParaRPr sz="700">
                <a:solidFill>
                  <a:schemeClr val="dk1"/>
                </a:solidFill>
                <a:latin typeface="Roboto"/>
                <a:ea typeface="Roboto"/>
                <a:cs typeface="Roboto"/>
                <a:sym typeface="Roboto"/>
              </a:endParaRPr>
            </a:p>
          </p:txBody>
        </p:sp>
      </p:grpSp>
      <p:grpSp>
        <p:nvGrpSpPr>
          <p:cNvPr id="512" name="Google Shape;512;p28"/>
          <p:cNvGrpSpPr/>
          <p:nvPr/>
        </p:nvGrpSpPr>
        <p:grpSpPr>
          <a:xfrm>
            <a:off x="1063923" y="2085224"/>
            <a:ext cx="1670700" cy="482534"/>
            <a:chOff x="3417475" y="2117768"/>
            <a:chExt cx="1670700" cy="482534"/>
          </a:xfrm>
        </p:grpSpPr>
        <p:sp>
          <p:nvSpPr>
            <p:cNvPr id="513" name="Google Shape;513;p28"/>
            <p:cNvSpPr txBox="1"/>
            <p:nvPr/>
          </p:nvSpPr>
          <p:spPr>
            <a:xfrm>
              <a:off x="3417475" y="21177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Prétraitement</a:t>
              </a:r>
              <a:endParaRPr b="1" sz="1100">
                <a:solidFill>
                  <a:srgbClr val="858585"/>
                </a:solidFill>
                <a:latin typeface="Roboto"/>
                <a:ea typeface="Roboto"/>
                <a:cs typeface="Roboto"/>
                <a:sym typeface="Roboto"/>
              </a:endParaRPr>
            </a:p>
          </p:txBody>
        </p:sp>
        <p:sp>
          <p:nvSpPr>
            <p:cNvPr id="514" name="Google Shape;514;p28"/>
            <p:cNvSpPr txBox="1"/>
            <p:nvPr/>
          </p:nvSpPr>
          <p:spPr>
            <a:xfrm>
              <a:off x="3417475" y="2324303"/>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R</a:t>
              </a:r>
              <a:r>
                <a:rPr lang="fr" sz="700">
                  <a:solidFill>
                    <a:srgbClr val="858585"/>
                  </a:solidFill>
                  <a:latin typeface="Roboto"/>
                  <a:ea typeface="Roboto"/>
                  <a:cs typeface="Roboto"/>
                  <a:sym typeface="Roboto"/>
                </a:rPr>
                <a:t>esize &amp; normalisation</a:t>
              </a:r>
              <a:endParaRPr sz="700">
                <a:solidFill>
                  <a:srgbClr val="858585"/>
                </a:solidFill>
                <a:latin typeface="Roboto"/>
                <a:ea typeface="Roboto"/>
                <a:cs typeface="Roboto"/>
                <a:sym typeface="Roboto"/>
              </a:endParaRPr>
            </a:p>
          </p:txBody>
        </p:sp>
      </p:grpSp>
      <p:grpSp>
        <p:nvGrpSpPr>
          <p:cNvPr id="515" name="Google Shape;515;p28"/>
          <p:cNvGrpSpPr/>
          <p:nvPr/>
        </p:nvGrpSpPr>
        <p:grpSpPr>
          <a:xfrm>
            <a:off x="1063923" y="2552768"/>
            <a:ext cx="1823700" cy="483266"/>
            <a:chOff x="3417475" y="2585313"/>
            <a:chExt cx="1823700" cy="483266"/>
          </a:xfrm>
        </p:grpSpPr>
        <p:sp>
          <p:nvSpPr>
            <p:cNvPr id="516" name="Google Shape;516;p28"/>
            <p:cNvSpPr txBox="1"/>
            <p:nvPr/>
          </p:nvSpPr>
          <p:spPr>
            <a:xfrm>
              <a:off x="3417475" y="2585313"/>
              <a:ext cx="1823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Data augmentation </a:t>
              </a:r>
              <a:r>
                <a:rPr lang="fr" sz="700">
                  <a:solidFill>
                    <a:schemeClr val="dk1"/>
                  </a:solidFill>
                  <a:latin typeface="Roboto"/>
                  <a:ea typeface="Roboto"/>
                  <a:cs typeface="Roboto"/>
                  <a:sym typeface="Roboto"/>
                </a:rPr>
                <a:t>❌</a:t>
              </a:r>
              <a:r>
                <a:rPr lang="fr" sz="1050">
                  <a:solidFill>
                    <a:schemeClr val="dk1"/>
                  </a:solidFill>
                </a:rPr>
                <a:t>🧬</a:t>
              </a:r>
              <a:endParaRPr b="1" sz="1100">
                <a:solidFill>
                  <a:schemeClr val="dk1"/>
                </a:solidFill>
                <a:latin typeface="Roboto"/>
                <a:ea typeface="Roboto"/>
                <a:cs typeface="Roboto"/>
                <a:sym typeface="Roboto"/>
              </a:endParaRPr>
            </a:p>
          </p:txBody>
        </p:sp>
        <p:sp>
          <p:nvSpPr>
            <p:cNvPr id="517" name="Google Shape;517;p28"/>
            <p:cNvSpPr txBox="1"/>
            <p:nvPr/>
          </p:nvSpPr>
          <p:spPr>
            <a:xfrm>
              <a:off x="3417475" y="279257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Désactivée</a:t>
              </a:r>
              <a:r>
                <a:rPr lang="fr" sz="700">
                  <a:solidFill>
                    <a:schemeClr val="dk1"/>
                  </a:solidFill>
                  <a:latin typeface="Roboto"/>
                  <a:ea typeface="Roboto"/>
                  <a:cs typeface="Roboto"/>
                  <a:sym typeface="Roboto"/>
                </a:rPr>
                <a:t> </a:t>
              </a:r>
              <a:endParaRPr sz="700">
                <a:solidFill>
                  <a:schemeClr val="dk1"/>
                </a:solidFill>
                <a:latin typeface="Roboto"/>
                <a:ea typeface="Roboto"/>
                <a:cs typeface="Roboto"/>
                <a:sym typeface="Roboto"/>
              </a:endParaRPr>
            </a:p>
          </p:txBody>
        </p:sp>
      </p:grpSp>
      <p:grpSp>
        <p:nvGrpSpPr>
          <p:cNvPr id="518" name="Google Shape;518;p28"/>
          <p:cNvGrpSpPr/>
          <p:nvPr/>
        </p:nvGrpSpPr>
        <p:grpSpPr>
          <a:xfrm>
            <a:off x="1063923" y="3020324"/>
            <a:ext cx="1670700" cy="484004"/>
            <a:chOff x="3417475" y="3052868"/>
            <a:chExt cx="1670700" cy="484004"/>
          </a:xfrm>
        </p:grpSpPr>
        <p:sp>
          <p:nvSpPr>
            <p:cNvPr id="519" name="Google Shape;519;p28"/>
            <p:cNvSpPr txBox="1"/>
            <p:nvPr/>
          </p:nvSpPr>
          <p:spPr>
            <a:xfrm>
              <a:off x="3417475" y="30528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Feature extraction</a:t>
              </a:r>
              <a:endParaRPr b="1" sz="1100">
                <a:solidFill>
                  <a:srgbClr val="858585"/>
                </a:solidFill>
                <a:latin typeface="Roboto"/>
                <a:ea typeface="Roboto"/>
                <a:cs typeface="Roboto"/>
                <a:sym typeface="Roboto"/>
              </a:endParaRPr>
            </a:p>
          </p:txBody>
        </p:sp>
        <p:sp>
          <p:nvSpPr>
            <p:cNvPr id="520" name="Google Shape;520;p28"/>
            <p:cNvSpPr txBox="1"/>
            <p:nvPr/>
          </p:nvSpPr>
          <p:spPr>
            <a:xfrm>
              <a:off x="3417475" y="3260872"/>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CNN VGG16 gelé</a:t>
              </a:r>
              <a:endParaRPr sz="700">
                <a:solidFill>
                  <a:srgbClr val="858585"/>
                </a:solidFill>
                <a:latin typeface="Roboto"/>
                <a:ea typeface="Roboto"/>
                <a:cs typeface="Roboto"/>
                <a:sym typeface="Roboto"/>
              </a:endParaRPr>
            </a:p>
          </p:txBody>
        </p:sp>
      </p:grpSp>
      <p:grpSp>
        <p:nvGrpSpPr>
          <p:cNvPr id="521" name="Google Shape;521;p28"/>
          <p:cNvGrpSpPr/>
          <p:nvPr/>
        </p:nvGrpSpPr>
        <p:grpSpPr>
          <a:xfrm>
            <a:off x="1063923" y="3487874"/>
            <a:ext cx="1670700" cy="484730"/>
            <a:chOff x="3417475" y="3520418"/>
            <a:chExt cx="1670700" cy="484730"/>
          </a:xfrm>
        </p:grpSpPr>
        <p:sp>
          <p:nvSpPr>
            <p:cNvPr id="522" name="Google Shape;522;p28"/>
            <p:cNvSpPr txBox="1"/>
            <p:nvPr/>
          </p:nvSpPr>
          <p:spPr>
            <a:xfrm>
              <a:off x="3417475" y="35204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Réduction</a:t>
              </a:r>
              <a:endParaRPr b="1" sz="1100">
                <a:solidFill>
                  <a:schemeClr val="dk1"/>
                </a:solidFill>
                <a:latin typeface="Roboto"/>
                <a:ea typeface="Roboto"/>
                <a:cs typeface="Roboto"/>
                <a:sym typeface="Roboto"/>
              </a:endParaRPr>
            </a:p>
          </p:txBody>
        </p:sp>
        <p:sp>
          <p:nvSpPr>
            <p:cNvPr id="523" name="Google Shape;523;p28"/>
            <p:cNvSpPr txBox="1"/>
            <p:nvPr/>
          </p:nvSpPr>
          <p:spPr>
            <a:xfrm>
              <a:off x="3417475" y="372914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GAP</a:t>
              </a:r>
              <a:endParaRPr sz="700">
                <a:solidFill>
                  <a:schemeClr val="dk1"/>
                </a:solidFill>
                <a:latin typeface="Roboto"/>
                <a:ea typeface="Roboto"/>
                <a:cs typeface="Roboto"/>
                <a:sym typeface="Roboto"/>
              </a:endParaRPr>
            </a:p>
          </p:txBody>
        </p:sp>
      </p:grpSp>
      <p:grpSp>
        <p:nvGrpSpPr>
          <p:cNvPr id="524" name="Google Shape;524;p28"/>
          <p:cNvGrpSpPr/>
          <p:nvPr/>
        </p:nvGrpSpPr>
        <p:grpSpPr>
          <a:xfrm>
            <a:off x="1063923" y="3955424"/>
            <a:ext cx="1670700" cy="485456"/>
            <a:chOff x="3417475" y="3987968"/>
            <a:chExt cx="1670700" cy="485456"/>
          </a:xfrm>
        </p:grpSpPr>
        <p:sp>
          <p:nvSpPr>
            <p:cNvPr id="525" name="Google Shape;525;p28"/>
            <p:cNvSpPr txBox="1"/>
            <p:nvPr/>
          </p:nvSpPr>
          <p:spPr>
            <a:xfrm>
              <a:off x="3417475" y="39879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Classification</a:t>
              </a:r>
              <a:endParaRPr b="1" sz="1100">
                <a:solidFill>
                  <a:srgbClr val="858585"/>
                </a:solidFill>
                <a:latin typeface="Roboto"/>
                <a:ea typeface="Roboto"/>
                <a:cs typeface="Roboto"/>
                <a:sym typeface="Roboto"/>
              </a:endParaRPr>
            </a:p>
          </p:txBody>
        </p:sp>
        <p:sp>
          <p:nvSpPr>
            <p:cNvPr id="526" name="Google Shape;526;p28"/>
            <p:cNvSpPr txBox="1"/>
            <p:nvPr/>
          </p:nvSpPr>
          <p:spPr>
            <a:xfrm>
              <a:off x="3417475" y="4197424"/>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Tête personnalisée : Dense + softmax</a:t>
              </a:r>
              <a:endParaRPr sz="700">
                <a:solidFill>
                  <a:srgbClr val="858585"/>
                </a:solidFill>
                <a:latin typeface="Roboto"/>
                <a:ea typeface="Roboto"/>
                <a:cs typeface="Roboto"/>
                <a:sym typeface="Roboto"/>
              </a:endParaRPr>
            </a:p>
          </p:txBody>
        </p:sp>
      </p:grpSp>
      <p:grpSp>
        <p:nvGrpSpPr>
          <p:cNvPr id="527" name="Google Shape;527;p28"/>
          <p:cNvGrpSpPr/>
          <p:nvPr/>
        </p:nvGrpSpPr>
        <p:grpSpPr>
          <a:xfrm>
            <a:off x="725621" y="1182675"/>
            <a:ext cx="133501" cy="3960950"/>
            <a:chOff x="3024100" y="1182675"/>
            <a:chExt cx="133501" cy="3960950"/>
          </a:xfrm>
        </p:grpSpPr>
        <p:sp>
          <p:nvSpPr>
            <p:cNvPr id="528" name="Google Shape;528;p28"/>
            <p:cNvSpPr/>
            <p:nvPr/>
          </p:nvSpPr>
          <p:spPr>
            <a:xfrm>
              <a:off x="3024101" y="1182675"/>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a:off x="3024101" y="1652782"/>
              <a:ext cx="133500" cy="467400"/>
            </a:xfrm>
            <a:prstGeom prst="rect">
              <a:avLst/>
            </a:prstGeom>
            <a:solidFill>
              <a:srgbClr val="1A99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3024101" y="4003318"/>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024101" y="3063103"/>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024101" y="2122889"/>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8"/>
            <p:cNvSpPr/>
            <p:nvPr/>
          </p:nvSpPr>
          <p:spPr>
            <a:xfrm>
              <a:off x="3024100" y="4473425"/>
              <a:ext cx="133500" cy="67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8"/>
            <p:cNvSpPr/>
            <p:nvPr/>
          </p:nvSpPr>
          <p:spPr>
            <a:xfrm>
              <a:off x="3024101" y="3533211"/>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8"/>
            <p:cNvSpPr/>
            <p:nvPr/>
          </p:nvSpPr>
          <p:spPr>
            <a:xfrm>
              <a:off x="3024101" y="2592996"/>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36" name="Google Shape;536;p28"/>
          <p:cNvCxnSpPr/>
          <p:nvPr/>
        </p:nvCxnSpPr>
        <p:spPr>
          <a:xfrm rot="10800000">
            <a:off x="527471" y="4004708"/>
            <a:ext cx="529800" cy="0"/>
          </a:xfrm>
          <a:prstGeom prst="straightConnector1">
            <a:avLst/>
          </a:prstGeom>
          <a:noFill/>
          <a:ln cap="flat" cmpd="sng" w="9525">
            <a:solidFill>
              <a:srgbClr val="C2C2C2"/>
            </a:solidFill>
            <a:prstDash val="solid"/>
            <a:round/>
            <a:headEnd len="sm" w="sm" type="none"/>
            <a:tailEnd len="sm" w="sm" type="none"/>
          </a:ln>
        </p:spPr>
      </p:cxnSp>
      <p:cxnSp>
        <p:nvCxnSpPr>
          <p:cNvPr id="537" name="Google Shape;537;p28"/>
          <p:cNvCxnSpPr/>
          <p:nvPr/>
        </p:nvCxnSpPr>
        <p:spPr>
          <a:xfrm rot="10800000">
            <a:off x="527471" y="3536433"/>
            <a:ext cx="529800" cy="0"/>
          </a:xfrm>
          <a:prstGeom prst="straightConnector1">
            <a:avLst/>
          </a:prstGeom>
          <a:noFill/>
          <a:ln cap="flat" cmpd="sng" w="9525">
            <a:solidFill>
              <a:schemeClr val="dk1"/>
            </a:solidFill>
            <a:prstDash val="solid"/>
            <a:round/>
            <a:headEnd len="sm" w="sm" type="none"/>
            <a:tailEnd len="sm" w="sm" type="none"/>
          </a:ln>
        </p:spPr>
      </p:cxnSp>
      <p:cxnSp>
        <p:nvCxnSpPr>
          <p:cNvPr id="538" name="Google Shape;538;p28"/>
          <p:cNvCxnSpPr/>
          <p:nvPr/>
        </p:nvCxnSpPr>
        <p:spPr>
          <a:xfrm rot="10800000">
            <a:off x="527471" y="3058108"/>
            <a:ext cx="529800" cy="0"/>
          </a:xfrm>
          <a:prstGeom prst="straightConnector1">
            <a:avLst/>
          </a:prstGeom>
          <a:noFill/>
          <a:ln cap="flat" cmpd="sng" w="9525">
            <a:solidFill>
              <a:srgbClr val="C2C2C2"/>
            </a:solidFill>
            <a:prstDash val="solid"/>
            <a:round/>
            <a:headEnd len="sm" w="sm" type="none"/>
            <a:tailEnd len="sm" w="sm" type="none"/>
          </a:ln>
        </p:spPr>
      </p:cxnSp>
      <p:cxnSp>
        <p:nvCxnSpPr>
          <p:cNvPr id="539" name="Google Shape;539;p28"/>
          <p:cNvCxnSpPr/>
          <p:nvPr/>
        </p:nvCxnSpPr>
        <p:spPr>
          <a:xfrm rot="10800000">
            <a:off x="527471" y="2588233"/>
            <a:ext cx="529800" cy="0"/>
          </a:xfrm>
          <a:prstGeom prst="straightConnector1">
            <a:avLst/>
          </a:prstGeom>
          <a:noFill/>
          <a:ln cap="flat" cmpd="sng" w="9525">
            <a:solidFill>
              <a:schemeClr val="dk1"/>
            </a:solidFill>
            <a:prstDash val="solid"/>
            <a:round/>
            <a:headEnd len="sm" w="sm" type="none"/>
            <a:tailEnd len="sm" w="sm" type="none"/>
          </a:ln>
        </p:spPr>
      </p:cxnSp>
      <p:cxnSp>
        <p:nvCxnSpPr>
          <p:cNvPr id="540" name="Google Shape;540;p28"/>
          <p:cNvCxnSpPr/>
          <p:nvPr/>
        </p:nvCxnSpPr>
        <p:spPr>
          <a:xfrm rot="10800000">
            <a:off x="527471" y="2121533"/>
            <a:ext cx="529800" cy="0"/>
          </a:xfrm>
          <a:prstGeom prst="straightConnector1">
            <a:avLst/>
          </a:prstGeom>
          <a:noFill/>
          <a:ln cap="flat" cmpd="sng" w="9525">
            <a:solidFill>
              <a:srgbClr val="C2C2C2"/>
            </a:solidFill>
            <a:prstDash val="solid"/>
            <a:round/>
            <a:headEnd len="sm" w="sm" type="none"/>
            <a:tailEnd len="sm" w="sm" type="none"/>
          </a:ln>
        </p:spPr>
      </p:cxnSp>
      <p:cxnSp>
        <p:nvCxnSpPr>
          <p:cNvPr id="541" name="Google Shape;541;p28"/>
          <p:cNvCxnSpPr/>
          <p:nvPr/>
        </p:nvCxnSpPr>
        <p:spPr>
          <a:xfrm rot="10800000">
            <a:off x="527471" y="1650436"/>
            <a:ext cx="529800" cy="0"/>
          </a:xfrm>
          <a:prstGeom prst="straightConnector1">
            <a:avLst/>
          </a:prstGeom>
          <a:noFill/>
          <a:ln cap="flat" cmpd="sng" w="9525">
            <a:solidFill>
              <a:schemeClr val="dk1"/>
            </a:solidFill>
            <a:prstDash val="solid"/>
            <a:round/>
            <a:headEnd len="sm" w="sm" type="none"/>
            <a:tailEnd len="sm" w="sm" type="none"/>
          </a:ln>
        </p:spPr>
      </p:cxnSp>
      <p:sp>
        <p:nvSpPr>
          <p:cNvPr id="542" name="Google Shape;542;p28"/>
          <p:cNvSpPr txBox="1"/>
          <p:nvPr/>
        </p:nvSpPr>
        <p:spPr>
          <a:xfrm>
            <a:off x="81991" y="35376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sp>
        <p:nvSpPr>
          <p:cNvPr id="543" name="Google Shape;543;p28"/>
          <p:cNvSpPr txBox="1"/>
          <p:nvPr/>
        </p:nvSpPr>
        <p:spPr>
          <a:xfrm>
            <a:off x="79128" y="44793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8</a:t>
            </a:r>
            <a:endParaRPr b="1" sz="1200">
              <a:solidFill>
                <a:schemeClr val="dk1"/>
              </a:solidFill>
              <a:latin typeface="Roboto"/>
              <a:ea typeface="Roboto"/>
              <a:cs typeface="Roboto"/>
              <a:sym typeface="Roboto"/>
            </a:endParaRPr>
          </a:p>
        </p:txBody>
      </p:sp>
      <p:sp>
        <p:nvSpPr>
          <p:cNvPr id="544" name="Google Shape;544;p28"/>
          <p:cNvSpPr txBox="1"/>
          <p:nvPr/>
        </p:nvSpPr>
        <p:spPr>
          <a:xfrm>
            <a:off x="79838" y="40130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7</a:t>
            </a:r>
            <a:endParaRPr b="1" sz="1200">
              <a:solidFill>
                <a:srgbClr val="858585"/>
              </a:solidFill>
              <a:latin typeface="Roboto"/>
              <a:ea typeface="Roboto"/>
              <a:cs typeface="Roboto"/>
              <a:sym typeface="Roboto"/>
            </a:endParaRPr>
          </a:p>
        </p:txBody>
      </p:sp>
      <p:pic>
        <p:nvPicPr>
          <p:cNvPr id="545" name="Google Shape;545;p28" title="Image2.png"/>
          <p:cNvPicPr preferRelativeResize="0"/>
          <p:nvPr/>
        </p:nvPicPr>
        <p:blipFill>
          <a:blip r:embed="rId3">
            <a:alphaModFix/>
          </a:blip>
          <a:stretch>
            <a:fillRect/>
          </a:stretch>
        </p:blipFill>
        <p:spPr>
          <a:xfrm>
            <a:off x="186452" y="1740547"/>
            <a:ext cx="159200" cy="159200"/>
          </a:xfrm>
          <a:prstGeom prst="rect">
            <a:avLst/>
          </a:prstGeom>
          <a:noFill/>
          <a:ln>
            <a:noFill/>
          </a:ln>
        </p:spPr>
      </p:pic>
      <p:pic>
        <p:nvPicPr>
          <p:cNvPr id="546" name="Google Shape;546;p28" title="Image2.png"/>
          <p:cNvPicPr preferRelativeResize="0"/>
          <p:nvPr/>
        </p:nvPicPr>
        <p:blipFill>
          <a:blip r:embed="rId3">
            <a:alphaModFix/>
          </a:blip>
          <a:stretch>
            <a:fillRect/>
          </a:stretch>
        </p:blipFill>
        <p:spPr>
          <a:xfrm>
            <a:off x="195813" y="2694297"/>
            <a:ext cx="159200" cy="159200"/>
          </a:xfrm>
          <a:prstGeom prst="rect">
            <a:avLst/>
          </a:prstGeom>
          <a:noFill/>
          <a:ln>
            <a:noFill/>
          </a:ln>
        </p:spPr>
      </p:pic>
      <p:graphicFrame>
        <p:nvGraphicFramePr>
          <p:cNvPr id="547" name="Google Shape;547;p28"/>
          <p:cNvGraphicFramePr/>
          <p:nvPr/>
        </p:nvGraphicFramePr>
        <p:xfrm>
          <a:off x="3843025" y="1602575"/>
          <a:ext cx="3000000" cy="3000000"/>
        </p:xfrm>
        <a:graphic>
          <a:graphicData uri="http://schemas.openxmlformats.org/drawingml/2006/table">
            <a:tbl>
              <a:tblPr>
                <a:noFill/>
                <a:tableStyleId>{D5246A32-94BD-469A-8FF0-07B5B3C936EE}</a:tableStyleId>
              </a:tblPr>
              <a:tblGrid>
                <a:gridCol w="568850"/>
                <a:gridCol w="513550"/>
              </a:tblGrid>
              <a:tr h="21972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Accuracy</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0.83</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1127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Loss</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0.76</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548" name="Google Shape;548;p28"/>
          <p:cNvSpPr txBox="1"/>
          <p:nvPr/>
        </p:nvSpPr>
        <p:spPr>
          <a:xfrm>
            <a:off x="6134875" y="2694300"/>
            <a:ext cx="2697300" cy="22845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Accuracy élevée → bonne capture des patterns</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Convergence rapide dès les premières epochs</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Overfitting marqué → écart train (~96%) / validation (~84%)</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Confusions limitées → classes proches (Home / Decor / Furnishing)</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Dataset riche → pas besoin d’augmentation</a:t>
            </a:r>
            <a:endParaRPr sz="900">
              <a:solidFill>
                <a:schemeClr val="lt2"/>
              </a:solidFill>
              <a:latin typeface="Roboto"/>
              <a:ea typeface="Roboto"/>
              <a:cs typeface="Roboto"/>
              <a:sym typeface="Roboto"/>
            </a:endParaRPr>
          </a:p>
        </p:txBody>
      </p:sp>
      <p:pic>
        <p:nvPicPr>
          <p:cNvPr id="549" name="Google Shape;549;p28"/>
          <p:cNvPicPr preferRelativeResize="0"/>
          <p:nvPr/>
        </p:nvPicPr>
        <p:blipFill>
          <a:blip r:embed="rId4">
            <a:alphaModFix/>
          </a:blip>
          <a:stretch>
            <a:fillRect/>
          </a:stretch>
        </p:blipFill>
        <p:spPr>
          <a:xfrm>
            <a:off x="5222773" y="1109538"/>
            <a:ext cx="3609413" cy="1417075"/>
          </a:xfrm>
          <a:prstGeom prst="rect">
            <a:avLst/>
          </a:prstGeom>
          <a:noFill/>
          <a:ln>
            <a:noFill/>
          </a:ln>
        </p:spPr>
      </p:pic>
      <p:pic>
        <p:nvPicPr>
          <p:cNvPr id="550" name="Google Shape;550;p28"/>
          <p:cNvPicPr preferRelativeResize="0"/>
          <p:nvPr/>
        </p:nvPicPr>
        <p:blipFill>
          <a:blip r:embed="rId5">
            <a:alphaModFix/>
          </a:blip>
          <a:stretch>
            <a:fillRect/>
          </a:stretch>
        </p:blipFill>
        <p:spPr>
          <a:xfrm>
            <a:off x="3189125" y="2567750"/>
            <a:ext cx="2810688" cy="2428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Cas 2, </a:t>
            </a:r>
            <a:r>
              <a:rPr lang="fr">
                <a:solidFill>
                  <a:schemeClr val="dk1"/>
                </a:solidFill>
              </a:rPr>
              <a:t>Data augmentation hors modèle</a:t>
            </a:r>
            <a:endParaRPr>
              <a:solidFill>
                <a:schemeClr val="dk1"/>
              </a:solidFill>
            </a:endParaRPr>
          </a:p>
        </p:txBody>
      </p:sp>
      <p:sp>
        <p:nvSpPr>
          <p:cNvPr id="556" name="Google Shape;556;p29"/>
          <p:cNvSpPr txBox="1"/>
          <p:nvPr/>
        </p:nvSpPr>
        <p:spPr>
          <a:xfrm>
            <a:off x="74916" y="16633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557" name="Google Shape;557;p29"/>
          <p:cNvSpPr txBox="1"/>
          <p:nvPr/>
        </p:nvSpPr>
        <p:spPr>
          <a:xfrm>
            <a:off x="72053" y="26050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sp>
        <p:nvSpPr>
          <p:cNvPr id="558" name="Google Shape;558;p29"/>
          <p:cNvSpPr txBox="1"/>
          <p:nvPr/>
        </p:nvSpPr>
        <p:spPr>
          <a:xfrm>
            <a:off x="72763" y="213870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sp>
        <p:nvSpPr>
          <p:cNvPr id="559" name="Google Shape;559;p29"/>
          <p:cNvSpPr txBox="1"/>
          <p:nvPr/>
        </p:nvSpPr>
        <p:spPr>
          <a:xfrm>
            <a:off x="80566" y="11879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cxnSp>
        <p:nvCxnSpPr>
          <p:cNvPr id="560" name="Google Shape;560;p29"/>
          <p:cNvCxnSpPr/>
          <p:nvPr/>
        </p:nvCxnSpPr>
        <p:spPr>
          <a:xfrm rot="10800000">
            <a:off x="527471" y="1186999"/>
            <a:ext cx="529800" cy="0"/>
          </a:xfrm>
          <a:prstGeom prst="straightConnector1">
            <a:avLst/>
          </a:prstGeom>
          <a:noFill/>
          <a:ln cap="flat" cmpd="sng" w="9525">
            <a:solidFill>
              <a:srgbClr val="C2C2C2"/>
            </a:solidFill>
            <a:prstDash val="solid"/>
            <a:round/>
            <a:headEnd len="sm" w="sm" type="none"/>
            <a:tailEnd len="sm" w="sm" type="none"/>
          </a:ln>
        </p:spPr>
      </p:cxnSp>
      <p:sp>
        <p:nvSpPr>
          <p:cNvPr id="561" name="Google Shape;561;p29"/>
          <p:cNvSpPr txBox="1"/>
          <p:nvPr/>
        </p:nvSpPr>
        <p:spPr>
          <a:xfrm>
            <a:off x="72076" y="30713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cxnSp>
        <p:nvCxnSpPr>
          <p:cNvPr id="562" name="Google Shape;562;p29"/>
          <p:cNvCxnSpPr/>
          <p:nvPr/>
        </p:nvCxnSpPr>
        <p:spPr>
          <a:xfrm rot="10800000">
            <a:off x="527471" y="4474660"/>
            <a:ext cx="529800" cy="0"/>
          </a:xfrm>
          <a:prstGeom prst="straightConnector1">
            <a:avLst/>
          </a:prstGeom>
          <a:noFill/>
          <a:ln cap="flat" cmpd="sng" w="9525">
            <a:solidFill>
              <a:schemeClr val="dk1"/>
            </a:solidFill>
            <a:prstDash val="solid"/>
            <a:round/>
            <a:headEnd len="sm" w="sm" type="none"/>
            <a:tailEnd len="sm" w="sm" type="none"/>
          </a:ln>
        </p:spPr>
      </p:cxnSp>
      <p:grpSp>
        <p:nvGrpSpPr>
          <p:cNvPr id="563" name="Google Shape;563;p29"/>
          <p:cNvGrpSpPr/>
          <p:nvPr/>
        </p:nvGrpSpPr>
        <p:grpSpPr>
          <a:xfrm>
            <a:off x="1063923" y="1150124"/>
            <a:ext cx="1670700" cy="481082"/>
            <a:chOff x="3417475" y="1182668"/>
            <a:chExt cx="1670700" cy="481082"/>
          </a:xfrm>
        </p:grpSpPr>
        <p:sp>
          <p:nvSpPr>
            <p:cNvPr id="564" name="Google Shape;564;p29"/>
            <p:cNvSpPr txBox="1"/>
            <p:nvPr/>
          </p:nvSpPr>
          <p:spPr>
            <a:xfrm>
              <a:off x="3417475" y="11826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Données brutes</a:t>
              </a:r>
              <a:endParaRPr b="1" sz="1100">
                <a:solidFill>
                  <a:srgbClr val="858585"/>
                </a:solidFill>
                <a:latin typeface="Roboto"/>
                <a:ea typeface="Roboto"/>
                <a:cs typeface="Roboto"/>
                <a:sym typeface="Roboto"/>
              </a:endParaRPr>
            </a:p>
          </p:txBody>
        </p:sp>
        <p:sp>
          <p:nvSpPr>
            <p:cNvPr id="565" name="Google Shape;565;p29"/>
            <p:cNvSpPr txBox="1"/>
            <p:nvPr/>
          </p:nvSpPr>
          <p:spPr>
            <a:xfrm>
              <a:off x="3417475" y="1387750"/>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Images RVB</a:t>
              </a:r>
              <a:endParaRPr sz="700">
                <a:solidFill>
                  <a:srgbClr val="858585"/>
                </a:solidFill>
                <a:latin typeface="Roboto"/>
                <a:ea typeface="Roboto"/>
                <a:cs typeface="Roboto"/>
                <a:sym typeface="Roboto"/>
              </a:endParaRPr>
            </a:p>
          </p:txBody>
        </p:sp>
      </p:grpSp>
      <p:grpSp>
        <p:nvGrpSpPr>
          <p:cNvPr id="566" name="Google Shape;566;p29"/>
          <p:cNvGrpSpPr/>
          <p:nvPr/>
        </p:nvGrpSpPr>
        <p:grpSpPr>
          <a:xfrm>
            <a:off x="1063923" y="4422974"/>
            <a:ext cx="1670700" cy="486182"/>
            <a:chOff x="3417475" y="4455518"/>
            <a:chExt cx="1670700" cy="486182"/>
          </a:xfrm>
        </p:grpSpPr>
        <p:sp>
          <p:nvSpPr>
            <p:cNvPr id="567" name="Google Shape;567;p29"/>
            <p:cNvSpPr txBox="1"/>
            <p:nvPr/>
          </p:nvSpPr>
          <p:spPr>
            <a:xfrm>
              <a:off x="3417475" y="44555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Apprentissage</a:t>
              </a:r>
              <a:endParaRPr b="1" sz="1100">
                <a:solidFill>
                  <a:schemeClr val="dk1"/>
                </a:solidFill>
                <a:latin typeface="Roboto"/>
                <a:ea typeface="Roboto"/>
                <a:cs typeface="Roboto"/>
                <a:sym typeface="Roboto"/>
              </a:endParaRPr>
            </a:p>
          </p:txBody>
        </p:sp>
        <p:sp>
          <p:nvSpPr>
            <p:cNvPr id="568" name="Google Shape;568;p29"/>
            <p:cNvSpPr txBox="1"/>
            <p:nvPr/>
          </p:nvSpPr>
          <p:spPr>
            <a:xfrm>
              <a:off x="3417475" y="466570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Adam / Cross-Entropy</a:t>
              </a:r>
              <a:endParaRPr sz="700">
                <a:solidFill>
                  <a:schemeClr val="dk1"/>
                </a:solidFill>
                <a:latin typeface="Roboto"/>
                <a:ea typeface="Roboto"/>
                <a:cs typeface="Roboto"/>
                <a:sym typeface="Roboto"/>
              </a:endParaRPr>
            </a:p>
          </p:txBody>
        </p:sp>
      </p:grpSp>
      <p:grpSp>
        <p:nvGrpSpPr>
          <p:cNvPr id="569" name="Google Shape;569;p29"/>
          <p:cNvGrpSpPr/>
          <p:nvPr/>
        </p:nvGrpSpPr>
        <p:grpSpPr>
          <a:xfrm>
            <a:off x="1063923" y="1617674"/>
            <a:ext cx="2241000" cy="513894"/>
            <a:chOff x="3417475" y="1650218"/>
            <a:chExt cx="2241000" cy="513894"/>
          </a:xfrm>
        </p:grpSpPr>
        <p:sp>
          <p:nvSpPr>
            <p:cNvPr id="570" name="Google Shape;570;p29"/>
            <p:cNvSpPr txBox="1"/>
            <p:nvPr/>
          </p:nvSpPr>
          <p:spPr>
            <a:xfrm>
              <a:off x="3417475" y="16502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Chargement </a:t>
              </a:r>
              <a:r>
                <a:rPr lang="fr" sz="1050">
                  <a:solidFill>
                    <a:schemeClr val="dk1"/>
                  </a:solidFill>
                </a:rPr>
                <a:t>➡️</a:t>
              </a:r>
              <a:r>
                <a:rPr b="1" lang="fr" sz="1050">
                  <a:solidFill>
                    <a:schemeClr val="dk1"/>
                  </a:solidFill>
                </a:rPr>
                <a:t>🖼️➡️</a:t>
              </a:r>
              <a:endParaRPr b="1" sz="1050">
                <a:solidFill>
                  <a:schemeClr val="dk1"/>
                </a:solidFill>
              </a:endParaRPr>
            </a:p>
            <a:p>
              <a:pPr indent="0" lvl="0" marL="0" rtl="0" algn="l">
                <a:lnSpc>
                  <a:spcPct val="115000"/>
                </a:lnSpc>
                <a:spcBef>
                  <a:spcPts val="0"/>
                </a:spcBef>
                <a:spcAft>
                  <a:spcPts val="0"/>
                </a:spcAft>
                <a:buNone/>
              </a:pPr>
              <a:r>
                <a:t/>
              </a:r>
              <a:endParaRPr b="1" sz="1100">
                <a:solidFill>
                  <a:schemeClr val="dk1"/>
                </a:solidFill>
                <a:latin typeface="Roboto"/>
                <a:ea typeface="Roboto"/>
                <a:cs typeface="Roboto"/>
                <a:sym typeface="Roboto"/>
              </a:endParaRPr>
            </a:p>
          </p:txBody>
        </p:sp>
        <p:sp>
          <p:nvSpPr>
            <p:cNvPr id="571" name="Google Shape;571;p29"/>
            <p:cNvSpPr txBox="1"/>
            <p:nvPr/>
          </p:nvSpPr>
          <p:spPr>
            <a:xfrm>
              <a:off x="3417475" y="1888112"/>
              <a:ext cx="2241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ImageDataGenerator : streaming (séquentiel)</a:t>
              </a:r>
              <a:endParaRPr sz="700">
                <a:solidFill>
                  <a:schemeClr val="dk1"/>
                </a:solidFill>
                <a:latin typeface="Roboto"/>
                <a:ea typeface="Roboto"/>
                <a:cs typeface="Roboto"/>
                <a:sym typeface="Roboto"/>
              </a:endParaRPr>
            </a:p>
          </p:txBody>
        </p:sp>
      </p:grpSp>
      <p:grpSp>
        <p:nvGrpSpPr>
          <p:cNvPr id="572" name="Google Shape;572;p29"/>
          <p:cNvGrpSpPr/>
          <p:nvPr/>
        </p:nvGrpSpPr>
        <p:grpSpPr>
          <a:xfrm>
            <a:off x="1063923" y="2085224"/>
            <a:ext cx="1670700" cy="482534"/>
            <a:chOff x="3417475" y="2117768"/>
            <a:chExt cx="1670700" cy="482534"/>
          </a:xfrm>
        </p:grpSpPr>
        <p:sp>
          <p:nvSpPr>
            <p:cNvPr id="573" name="Google Shape;573;p29"/>
            <p:cNvSpPr txBox="1"/>
            <p:nvPr/>
          </p:nvSpPr>
          <p:spPr>
            <a:xfrm>
              <a:off x="3417475" y="21177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Prétraitement</a:t>
              </a:r>
              <a:endParaRPr b="1" sz="1100">
                <a:solidFill>
                  <a:srgbClr val="858585"/>
                </a:solidFill>
                <a:latin typeface="Roboto"/>
                <a:ea typeface="Roboto"/>
                <a:cs typeface="Roboto"/>
                <a:sym typeface="Roboto"/>
              </a:endParaRPr>
            </a:p>
          </p:txBody>
        </p:sp>
        <p:sp>
          <p:nvSpPr>
            <p:cNvPr id="574" name="Google Shape;574;p29"/>
            <p:cNvSpPr txBox="1"/>
            <p:nvPr/>
          </p:nvSpPr>
          <p:spPr>
            <a:xfrm>
              <a:off x="3417475" y="2324303"/>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Resize &amp; normalisation</a:t>
              </a:r>
              <a:endParaRPr sz="700">
                <a:solidFill>
                  <a:srgbClr val="858585"/>
                </a:solidFill>
                <a:latin typeface="Roboto"/>
                <a:ea typeface="Roboto"/>
                <a:cs typeface="Roboto"/>
                <a:sym typeface="Roboto"/>
              </a:endParaRPr>
            </a:p>
          </p:txBody>
        </p:sp>
      </p:grpSp>
      <p:grpSp>
        <p:nvGrpSpPr>
          <p:cNvPr id="575" name="Google Shape;575;p29"/>
          <p:cNvGrpSpPr/>
          <p:nvPr/>
        </p:nvGrpSpPr>
        <p:grpSpPr>
          <a:xfrm>
            <a:off x="1063923" y="2552768"/>
            <a:ext cx="1823700" cy="483266"/>
            <a:chOff x="3417475" y="2585313"/>
            <a:chExt cx="1823700" cy="483266"/>
          </a:xfrm>
        </p:grpSpPr>
        <p:sp>
          <p:nvSpPr>
            <p:cNvPr id="576" name="Google Shape;576;p29"/>
            <p:cNvSpPr txBox="1"/>
            <p:nvPr/>
          </p:nvSpPr>
          <p:spPr>
            <a:xfrm>
              <a:off x="3417475" y="2585313"/>
              <a:ext cx="1823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Data augmentation </a:t>
              </a:r>
              <a:r>
                <a:rPr lang="fr" sz="1050">
                  <a:solidFill>
                    <a:schemeClr val="dk1"/>
                  </a:solidFill>
                </a:rPr>
                <a:t>🧬</a:t>
              </a:r>
              <a:endParaRPr b="1" sz="1100">
                <a:solidFill>
                  <a:schemeClr val="dk1"/>
                </a:solidFill>
                <a:latin typeface="Roboto"/>
                <a:ea typeface="Roboto"/>
                <a:cs typeface="Roboto"/>
                <a:sym typeface="Roboto"/>
              </a:endParaRPr>
            </a:p>
          </p:txBody>
        </p:sp>
        <p:sp>
          <p:nvSpPr>
            <p:cNvPr id="577" name="Google Shape;577;p29"/>
            <p:cNvSpPr txBox="1"/>
            <p:nvPr/>
          </p:nvSpPr>
          <p:spPr>
            <a:xfrm>
              <a:off x="3417475" y="279257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Placée avant le modèle</a:t>
              </a:r>
              <a:endParaRPr sz="700">
                <a:solidFill>
                  <a:schemeClr val="dk1"/>
                </a:solidFill>
                <a:latin typeface="Roboto"/>
                <a:ea typeface="Roboto"/>
                <a:cs typeface="Roboto"/>
                <a:sym typeface="Roboto"/>
              </a:endParaRPr>
            </a:p>
          </p:txBody>
        </p:sp>
      </p:grpSp>
      <p:grpSp>
        <p:nvGrpSpPr>
          <p:cNvPr id="578" name="Google Shape;578;p29"/>
          <p:cNvGrpSpPr/>
          <p:nvPr/>
        </p:nvGrpSpPr>
        <p:grpSpPr>
          <a:xfrm>
            <a:off x="1063923" y="3020324"/>
            <a:ext cx="1670700" cy="484004"/>
            <a:chOff x="3417475" y="3052868"/>
            <a:chExt cx="1670700" cy="484004"/>
          </a:xfrm>
        </p:grpSpPr>
        <p:sp>
          <p:nvSpPr>
            <p:cNvPr id="579" name="Google Shape;579;p29"/>
            <p:cNvSpPr txBox="1"/>
            <p:nvPr/>
          </p:nvSpPr>
          <p:spPr>
            <a:xfrm>
              <a:off x="3417475" y="30528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Feature extraction</a:t>
              </a:r>
              <a:endParaRPr b="1" sz="1100">
                <a:solidFill>
                  <a:srgbClr val="858585"/>
                </a:solidFill>
                <a:latin typeface="Roboto"/>
                <a:ea typeface="Roboto"/>
                <a:cs typeface="Roboto"/>
                <a:sym typeface="Roboto"/>
              </a:endParaRPr>
            </a:p>
          </p:txBody>
        </p:sp>
        <p:sp>
          <p:nvSpPr>
            <p:cNvPr id="580" name="Google Shape;580;p29"/>
            <p:cNvSpPr txBox="1"/>
            <p:nvPr/>
          </p:nvSpPr>
          <p:spPr>
            <a:xfrm>
              <a:off x="3417475" y="3260872"/>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CNN VGG16 gelé</a:t>
              </a:r>
              <a:endParaRPr sz="700">
                <a:solidFill>
                  <a:srgbClr val="858585"/>
                </a:solidFill>
                <a:latin typeface="Roboto"/>
                <a:ea typeface="Roboto"/>
                <a:cs typeface="Roboto"/>
                <a:sym typeface="Roboto"/>
              </a:endParaRPr>
            </a:p>
          </p:txBody>
        </p:sp>
      </p:grpSp>
      <p:grpSp>
        <p:nvGrpSpPr>
          <p:cNvPr id="581" name="Google Shape;581;p29"/>
          <p:cNvGrpSpPr/>
          <p:nvPr/>
        </p:nvGrpSpPr>
        <p:grpSpPr>
          <a:xfrm>
            <a:off x="1063923" y="3487874"/>
            <a:ext cx="1670700" cy="484730"/>
            <a:chOff x="3417475" y="3520418"/>
            <a:chExt cx="1670700" cy="484730"/>
          </a:xfrm>
        </p:grpSpPr>
        <p:sp>
          <p:nvSpPr>
            <p:cNvPr id="582" name="Google Shape;582;p29"/>
            <p:cNvSpPr txBox="1"/>
            <p:nvPr/>
          </p:nvSpPr>
          <p:spPr>
            <a:xfrm>
              <a:off x="3417475" y="35204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Réduction</a:t>
              </a:r>
              <a:endParaRPr b="1" sz="1100">
                <a:solidFill>
                  <a:schemeClr val="dk1"/>
                </a:solidFill>
                <a:latin typeface="Roboto"/>
                <a:ea typeface="Roboto"/>
                <a:cs typeface="Roboto"/>
                <a:sym typeface="Roboto"/>
              </a:endParaRPr>
            </a:p>
          </p:txBody>
        </p:sp>
        <p:sp>
          <p:nvSpPr>
            <p:cNvPr id="583" name="Google Shape;583;p29"/>
            <p:cNvSpPr txBox="1"/>
            <p:nvPr/>
          </p:nvSpPr>
          <p:spPr>
            <a:xfrm>
              <a:off x="3417475" y="372914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GAP</a:t>
              </a:r>
              <a:endParaRPr sz="700">
                <a:solidFill>
                  <a:schemeClr val="dk1"/>
                </a:solidFill>
                <a:latin typeface="Roboto"/>
                <a:ea typeface="Roboto"/>
                <a:cs typeface="Roboto"/>
                <a:sym typeface="Roboto"/>
              </a:endParaRPr>
            </a:p>
          </p:txBody>
        </p:sp>
      </p:grpSp>
      <p:grpSp>
        <p:nvGrpSpPr>
          <p:cNvPr id="584" name="Google Shape;584;p29"/>
          <p:cNvGrpSpPr/>
          <p:nvPr/>
        </p:nvGrpSpPr>
        <p:grpSpPr>
          <a:xfrm>
            <a:off x="1063923" y="3955424"/>
            <a:ext cx="1670700" cy="485456"/>
            <a:chOff x="3417475" y="3987968"/>
            <a:chExt cx="1670700" cy="485456"/>
          </a:xfrm>
        </p:grpSpPr>
        <p:sp>
          <p:nvSpPr>
            <p:cNvPr id="585" name="Google Shape;585;p29"/>
            <p:cNvSpPr txBox="1"/>
            <p:nvPr/>
          </p:nvSpPr>
          <p:spPr>
            <a:xfrm>
              <a:off x="3417475" y="39879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Classification</a:t>
              </a:r>
              <a:endParaRPr b="1" sz="1100">
                <a:solidFill>
                  <a:srgbClr val="858585"/>
                </a:solidFill>
                <a:latin typeface="Roboto"/>
                <a:ea typeface="Roboto"/>
                <a:cs typeface="Roboto"/>
                <a:sym typeface="Roboto"/>
              </a:endParaRPr>
            </a:p>
          </p:txBody>
        </p:sp>
        <p:sp>
          <p:nvSpPr>
            <p:cNvPr id="586" name="Google Shape;586;p29"/>
            <p:cNvSpPr txBox="1"/>
            <p:nvPr/>
          </p:nvSpPr>
          <p:spPr>
            <a:xfrm>
              <a:off x="3417475" y="4197424"/>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Tête personnalisée : Dense + softmax</a:t>
              </a:r>
              <a:endParaRPr sz="700">
                <a:solidFill>
                  <a:srgbClr val="858585"/>
                </a:solidFill>
                <a:latin typeface="Roboto"/>
                <a:ea typeface="Roboto"/>
                <a:cs typeface="Roboto"/>
                <a:sym typeface="Roboto"/>
              </a:endParaRPr>
            </a:p>
          </p:txBody>
        </p:sp>
      </p:grpSp>
      <p:grpSp>
        <p:nvGrpSpPr>
          <p:cNvPr id="587" name="Google Shape;587;p29"/>
          <p:cNvGrpSpPr/>
          <p:nvPr/>
        </p:nvGrpSpPr>
        <p:grpSpPr>
          <a:xfrm>
            <a:off x="725621" y="1182675"/>
            <a:ext cx="133501" cy="3960950"/>
            <a:chOff x="3024100" y="1182675"/>
            <a:chExt cx="133501" cy="3960950"/>
          </a:xfrm>
        </p:grpSpPr>
        <p:sp>
          <p:nvSpPr>
            <p:cNvPr id="588" name="Google Shape;588;p29"/>
            <p:cNvSpPr/>
            <p:nvPr/>
          </p:nvSpPr>
          <p:spPr>
            <a:xfrm>
              <a:off x="3024101" y="1182675"/>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9"/>
            <p:cNvSpPr/>
            <p:nvPr/>
          </p:nvSpPr>
          <p:spPr>
            <a:xfrm>
              <a:off x="3024101" y="1652782"/>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p:nvPr/>
          </p:nvSpPr>
          <p:spPr>
            <a:xfrm>
              <a:off x="3024101" y="4003318"/>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9"/>
            <p:cNvSpPr/>
            <p:nvPr/>
          </p:nvSpPr>
          <p:spPr>
            <a:xfrm>
              <a:off x="3024101" y="3063103"/>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9"/>
            <p:cNvSpPr/>
            <p:nvPr/>
          </p:nvSpPr>
          <p:spPr>
            <a:xfrm>
              <a:off x="3024101" y="2122889"/>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9"/>
            <p:cNvSpPr/>
            <p:nvPr/>
          </p:nvSpPr>
          <p:spPr>
            <a:xfrm>
              <a:off x="3024100" y="4473425"/>
              <a:ext cx="133500" cy="67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9"/>
            <p:cNvSpPr/>
            <p:nvPr/>
          </p:nvSpPr>
          <p:spPr>
            <a:xfrm>
              <a:off x="3024101" y="3533211"/>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9"/>
            <p:cNvSpPr/>
            <p:nvPr/>
          </p:nvSpPr>
          <p:spPr>
            <a:xfrm>
              <a:off x="3024101" y="2592996"/>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96" name="Google Shape;596;p29"/>
          <p:cNvCxnSpPr/>
          <p:nvPr/>
        </p:nvCxnSpPr>
        <p:spPr>
          <a:xfrm rot="10800000">
            <a:off x="527471" y="4004708"/>
            <a:ext cx="529800" cy="0"/>
          </a:xfrm>
          <a:prstGeom prst="straightConnector1">
            <a:avLst/>
          </a:prstGeom>
          <a:noFill/>
          <a:ln cap="flat" cmpd="sng" w="9525">
            <a:solidFill>
              <a:srgbClr val="C2C2C2"/>
            </a:solidFill>
            <a:prstDash val="solid"/>
            <a:round/>
            <a:headEnd len="sm" w="sm" type="none"/>
            <a:tailEnd len="sm" w="sm" type="none"/>
          </a:ln>
        </p:spPr>
      </p:cxnSp>
      <p:cxnSp>
        <p:nvCxnSpPr>
          <p:cNvPr id="597" name="Google Shape;597;p29"/>
          <p:cNvCxnSpPr/>
          <p:nvPr/>
        </p:nvCxnSpPr>
        <p:spPr>
          <a:xfrm rot="10800000">
            <a:off x="527471" y="3536433"/>
            <a:ext cx="529800" cy="0"/>
          </a:xfrm>
          <a:prstGeom prst="straightConnector1">
            <a:avLst/>
          </a:prstGeom>
          <a:noFill/>
          <a:ln cap="flat" cmpd="sng" w="9525">
            <a:solidFill>
              <a:schemeClr val="dk1"/>
            </a:solidFill>
            <a:prstDash val="solid"/>
            <a:round/>
            <a:headEnd len="sm" w="sm" type="none"/>
            <a:tailEnd len="sm" w="sm" type="none"/>
          </a:ln>
        </p:spPr>
      </p:cxnSp>
      <p:cxnSp>
        <p:nvCxnSpPr>
          <p:cNvPr id="598" name="Google Shape;598;p29"/>
          <p:cNvCxnSpPr/>
          <p:nvPr/>
        </p:nvCxnSpPr>
        <p:spPr>
          <a:xfrm rot="10800000">
            <a:off x="527471" y="3058108"/>
            <a:ext cx="529800" cy="0"/>
          </a:xfrm>
          <a:prstGeom prst="straightConnector1">
            <a:avLst/>
          </a:prstGeom>
          <a:noFill/>
          <a:ln cap="flat" cmpd="sng" w="9525">
            <a:solidFill>
              <a:srgbClr val="C2C2C2"/>
            </a:solidFill>
            <a:prstDash val="solid"/>
            <a:round/>
            <a:headEnd len="sm" w="sm" type="none"/>
            <a:tailEnd len="sm" w="sm" type="none"/>
          </a:ln>
        </p:spPr>
      </p:cxnSp>
      <p:cxnSp>
        <p:nvCxnSpPr>
          <p:cNvPr id="599" name="Google Shape;599;p29"/>
          <p:cNvCxnSpPr/>
          <p:nvPr/>
        </p:nvCxnSpPr>
        <p:spPr>
          <a:xfrm rot="10800000">
            <a:off x="527471" y="2588233"/>
            <a:ext cx="529800" cy="0"/>
          </a:xfrm>
          <a:prstGeom prst="straightConnector1">
            <a:avLst/>
          </a:prstGeom>
          <a:noFill/>
          <a:ln cap="flat" cmpd="sng" w="9525">
            <a:solidFill>
              <a:schemeClr val="dk1"/>
            </a:solidFill>
            <a:prstDash val="solid"/>
            <a:round/>
            <a:headEnd len="sm" w="sm" type="none"/>
            <a:tailEnd len="sm" w="sm" type="none"/>
          </a:ln>
        </p:spPr>
      </p:cxnSp>
      <p:cxnSp>
        <p:nvCxnSpPr>
          <p:cNvPr id="600" name="Google Shape;600;p29"/>
          <p:cNvCxnSpPr/>
          <p:nvPr/>
        </p:nvCxnSpPr>
        <p:spPr>
          <a:xfrm rot="10800000">
            <a:off x="527471" y="2121533"/>
            <a:ext cx="529800" cy="0"/>
          </a:xfrm>
          <a:prstGeom prst="straightConnector1">
            <a:avLst/>
          </a:prstGeom>
          <a:noFill/>
          <a:ln cap="flat" cmpd="sng" w="9525">
            <a:solidFill>
              <a:srgbClr val="C2C2C2"/>
            </a:solidFill>
            <a:prstDash val="solid"/>
            <a:round/>
            <a:headEnd len="sm" w="sm" type="none"/>
            <a:tailEnd len="sm" w="sm" type="none"/>
          </a:ln>
        </p:spPr>
      </p:cxnSp>
      <p:cxnSp>
        <p:nvCxnSpPr>
          <p:cNvPr id="601" name="Google Shape;601;p29"/>
          <p:cNvCxnSpPr/>
          <p:nvPr/>
        </p:nvCxnSpPr>
        <p:spPr>
          <a:xfrm rot="10800000">
            <a:off x="527471" y="1650436"/>
            <a:ext cx="529800" cy="0"/>
          </a:xfrm>
          <a:prstGeom prst="straightConnector1">
            <a:avLst/>
          </a:prstGeom>
          <a:noFill/>
          <a:ln cap="flat" cmpd="sng" w="9525">
            <a:solidFill>
              <a:schemeClr val="dk1"/>
            </a:solidFill>
            <a:prstDash val="solid"/>
            <a:round/>
            <a:headEnd len="sm" w="sm" type="none"/>
            <a:tailEnd len="sm" w="sm" type="none"/>
          </a:ln>
        </p:spPr>
      </p:cxnSp>
      <p:sp>
        <p:nvSpPr>
          <p:cNvPr id="602" name="Google Shape;602;p29"/>
          <p:cNvSpPr txBox="1"/>
          <p:nvPr/>
        </p:nvSpPr>
        <p:spPr>
          <a:xfrm>
            <a:off x="81991" y="35376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sp>
        <p:nvSpPr>
          <p:cNvPr id="603" name="Google Shape;603;p29"/>
          <p:cNvSpPr txBox="1"/>
          <p:nvPr/>
        </p:nvSpPr>
        <p:spPr>
          <a:xfrm>
            <a:off x="79128" y="44793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8</a:t>
            </a:r>
            <a:endParaRPr b="1" sz="1200">
              <a:solidFill>
                <a:schemeClr val="dk1"/>
              </a:solidFill>
              <a:latin typeface="Roboto"/>
              <a:ea typeface="Roboto"/>
              <a:cs typeface="Roboto"/>
              <a:sym typeface="Roboto"/>
            </a:endParaRPr>
          </a:p>
        </p:txBody>
      </p:sp>
      <p:sp>
        <p:nvSpPr>
          <p:cNvPr id="604" name="Google Shape;604;p29"/>
          <p:cNvSpPr txBox="1"/>
          <p:nvPr/>
        </p:nvSpPr>
        <p:spPr>
          <a:xfrm>
            <a:off x="79838" y="40130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7</a:t>
            </a:r>
            <a:endParaRPr b="1" sz="1200">
              <a:solidFill>
                <a:srgbClr val="858585"/>
              </a:solidFill>
              <a:latin typeface="Roboto"/>
              <a:ea typeface="Roboto"/>
              <a:cs typeface="Roboto"/>
              <a:sym typeface="Roboto"/>
            </a:endParaRPr>
          </a:p>
        </p:txBody>
      </p:sp>
      <p:pic>
        <p:nvPicPr>
          <p:cNvPr id="605" name="Google Shape;605;p29" title="Image2.png"/>
          <p:cNvPicPr preferRelativeResize="0"/>
          <p:nvPr/>
        </p:nvPicPr>
        <p:blipFill>
          <a:blip r:embed="rId3">
            <a:alphaModFix/>
          </a:blip>
          <a:stretch>
            <a:fillRect/>
          </a:stretch>
        </p:blipFill>
        <p:spPr>
          <a:xfrm>
            <a:off x="186452" y="1740547"/>
            <a:ext cx="159200" cy="159200"/>
          </a:xfrm>
          <a:prstGeom prst="rect">
            <a:avLst/>
          </a:prstGeom>
          <a:noFill/>
          <a:ln>
            <a:noFill/>
          </a:ln>
        </p:spPr>
      </p:pic>
      <p:pic>
        <p:nvPicPr>
          <p:cNvPr id="606" name="Google Shape;606;p29" title="Image2.png"/>
          <p:cNvPicPr preferRelativeResize="0"/>
          <p:nvPr/>
        </p:nvPicPr>
        <p:blipFill>
          <a:blip r:embed="rId3">
            <a:alphaModFix/>
          </a:blip>
          <a:stretch>
            <a:fillRect/>
          </a:stretch>
        </p:blipFill>
        <p:spPr>
          <a:xfrm>
            <a:off x="195813" y="2694297"/>
            <a:ext cx="159200" cy="159200"/>
          </a:xfrm>
          <a:prstGeom prst="rect">
            <a:avLst/>
          </a:prstGeom>
          <a:noFill/>
          <a:ln>
            <a:noFill/>
          </a:ln>
        </p:spPr>
      </p:pic>
      <p:graphicFrame>
        <p:nvGraphicFramePr>
          <p:cNvPr id="607" name="Google Shape;607;p29"/>
          <p:cNvGraphicFramePr/>
          <p:nvPr/>
        </p:nvGraphicFramePr>
        <p:xfrm>
          <a:off x="3843025" y="1602575"/>
          <a:ext cx="3000000" cy="3000000"/>
        </p:xfrm>
        <a:graphic>
          <a:graphicData uri="http://schemas.openxmlformats.org/drawingml/2006/table">
            <a:tbl>
              <a:tblPr>
                <a:noFill/>
                <a:tableStyleId>{D5246A32-94BD-469A-8FF0-07B5B3C936EE}</a:tableStyleId>
              </a:tblPr>
              <a:tblGrid>
                <a:gridCol w="568850"/>
                <a:gridCol w="513550"/>
              </a:tblGrid>
              <a:tr h="21972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Accuracy</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0.81</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1127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Loss</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0.66</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608" name="Google Shape;608;p29"/>
          <p:cNvSpPr txBox="1"/>
          <p:nvPr/>
        </p:nvSpPr>
        <p:spPr>
          <a:xfrm>
            <a:off x="6134875" y="2694300"/>
            <a:ext cx="2697300" cy="22845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lt2"/>
              </a:buClr>
              <a:buSzPts val="900"/>
              <a:buFont typeface="Roboto"/>
              <a:buChar char="➔"/>
            </a:pPr>
            <a:r>
              <a:rPr b="1" lang="fr" sz="900">
                <a:solidFill>
                  <a:schemeClr val="lt2"/>
                </a:solidFill>
                <a:latin typeface="Roboto"/>
                <a:ea typeface="Roboto"/>
                <a:cs typeface="Roboto"/>
                <a:sym typeface="Roboto"/>
              </a:rPr>
              <a:t>Diversification des données → meilleure généralisation</a:t>
            </a:r>
            <a:endParaRPr b="1"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Apprentissage plus lent (transformations à la volée)</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Overfitting réduit mais toujours présent</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Introduction de bruit → légère baisse de performance possible</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Résultats globalement stables</a:t>
            </a:r>
            <a:endParaRPr sz="900">
              <a:solidFill>
                <a:schemeClr val="lt2"/>
              </a:solidFill>
              <a:latin typeface="Roboto"/>
              <a:ea typeface="Roboto"/>
              <a:cs typeface="Roboto"/>
              <a:sym typeface="Roboto"/>
            </a:endParaRPr>
          </a:p>
        </p:txBody>
      </p:sp>
      <p:pic>
        <p:nvPicPr>
          <p:cNvPr id="609" name="Google Shape;609;p29"/>
          <p:cNvPicPr preferRelativeResize="0"/>
          <p:nvPr/>
        </p:nvPicPr>
        <p:blipFill>
          <a:blip r:embed="rId4">
            <a:alphaModFix/>
          </a:blip>
          <a:stretch>
            <a:fillRect/>
          </a:stretch>
        </p:blipFill>
        <p:spPr>
          <a:xfrm>
            <a:off x="5222775" y="1110675"/>
            <a:ext cx="3609401" cy="1417075"/>
          </a:xfrm>
          <a:prstGeom prst="rect">
            <a:avLst/>
          </a:prstGeom>
          <a:noFill/>
          <a:ln>
            <a:noFill/>
          </a:ln>
        </p:spPr>
      </p:pic>
      <p:pic>
        <p:nvPicPr>
          <p:cNvPr id="610" name="Google Shape;610;p29"/>
          <p:cNvPicPr preferRelativeResize="0"/>
          <p:nvPr/>
        </p:nvPicPr>
        <p:blipFill>
          <a:blip r:embed="rId5">
            <a:alphaModFix/>
          </a:blip>
          <a:stretch>
            <a:fillRect/>
          </a:stretch>
        </p:blipFill>
        <p:spPr>
          <a:xfrm>
            <a:off x="3184516" y="2570000"/>
            <a:ext cx="2815309" cy="242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Cas 3, </a:t>
            </a:r>
            <a:r>
              <a:rPr lang="fr">
                <a:solidFill>
                  <a:schemeClr val="dk1"/>
                </a:solidFill>
              </a:rPr>
              <a:t>tf-data</a:t>
            </a:r>
            <a:endParaRPr>
              <a:solidFill>
                <a:schemeClr val="dk1"/>
              </a:solidFill>
            </a:endParaRPr>
          </a:p>
        </p:txBody>
      </p:sp>
      <p:sp>
        <p:nvSpPr>
          <p:cNvPr id="616" name="Google Shape;616;p30"/>
          <p:cNvSpPr txBox="1"/>
          <p:nvPr/>
        </p:nvSpPr>
        <p:spPr>
          <a:xfrm>
            <a:off x="74916" y="16633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617" name="Google Shape;617;p30"/>
          <p:cNvSpPr txBox="1"/>
          <p:nvPr/>
        </p:nvSpPr>
        <p:spPr>
          <a:xfrm>
            <a:off x="72053" y="26050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sp>
        <p:nvSpPr>
          <p:cNvPr id="618" name="Google Shape;618;p30"/>
          <p:cNvSpPr txBox="1"/>
          <p:nvPr/>
        </p:nvSpPr>
        <p:spPr>
          <a:xfrm>
            <a:off x="72763" y="213870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sp>
        <p:nvSpPr>
          <p:cNvPr id="619" name="Google Shape;619;p30"/>
          <p:cNvSpPr txBox="1"/>
          <p:nvPr/>
        </p:nvSpPr>
        <p:spPr>
          <a:xfrm>
            <a:off x="80566" y="11879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cxnSp>
        <p:nvCxnSpPr>
          <p:cNvPr id="620" name="Google Shape;620;p30"/>
          <p:cNvCxnSpPr/>
          <p:nvPr/>
        </p:nvCxnSpPr>
        <p:spPr>
          <a:xfrm rot="10800000">
            <a:off x="527471" y="1186999"/>
            <a:ext cx="529800" cy="0"/>
          </a:xfrm>
          <a:prstGeom prst="straightConnector1">
            <a:avLst/>
          </a:prstGeom>
          <a:noFill/>
          <a:ln cap="flat" cmpd="sng" w="9525">
            <a:solidFill>
              <a:srgbClr val="C2C2C2"/>
            </a:solidFill>
            <a:prstDash val="solid"/>
            <a:round/>
            <a:headEnd len="sm" w="sm" type="none"/>
            <a:tailEnd len="sm" w="sm" type="none"/>
          </a:ln>
        </p:spPr>
      </p:cxnSp>
      <p:sp>
        <p:nvSpPr>
          <p:cNvPr id="621" name="Google Shape;621;p30"/>
          <p:cNvSpPr txBox="1"/>
          <p:nvPr/>
        </p:nvSpPr>
        <p:spPr>
          <a:xfrm>
            <a:off x="72076" y="30713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cxnSp>
        <p:nvCxnSpPr>
          <p:cNvPr id="622" name="Google Shape;622;p30"/>
          <p:cNvCxnSpPr/>
          <p:nvPr/>
        </p:nvCxnSpPr>
        <p:spPr>
          <a:xfrm rot="10800000">
            <a:off x="527471" y="4474660"/>
            <a:ext cx="529800" cy="0"/>
          </a:xfrm>
          <a:prstGeom prst="straightConnector1">
            <a:avLst/>
          </a:prstGeom>
          <a:noFill/>
          <a:ln cap="flat" cmpd="sng" w="9525">
            <a:solidFill>
              <a:schemeClr val="dk1"/>
            </a:solidFill>
            <a:prstDash val="solid"/>
            <a:round/>
            <a:headEnd len="sm" w="sm" type="none"/>
            <a:tailEnd len="sm" w="sm" type="none"/>
          </a:ln>
        </p:spPr>
      </p:cxnSp>
      <p:grpSp>
        <p:nvGrpSpPr>
          <p:cNvPr id="623" name="Google Shape;623;p30"/>
          <p:cNvGrpSpPr/>
          <p:nvPr/>
        </p:nvGrpSpPr>
        <p:grpSpPr>
          <a:xfrm>
            <a:off x="1063923" y="1150124"/>
            <a:ext cx="1670700" cy="481082"/>
            <a:chOff x="3417475" y="1182668"/>
            <a:chExt cx="1670700" cy="481082"/>
          </a:xfrm>
        </p:grpSpPr>
        <p:sp>
          <p:nvSpPr>
            <p:cNvPr id="624" name="Google Shape;624;p30"/>
            <p:cNvSpPr txBox="1"/>
            <p:nvPr/>
          </p:nvSpPr>
          <p:spPr>
            <a:xfrm>
              <a:off x="3417475" y="11826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Données brutes</a:t>
              </a:r>
              <a:endParaRPr b="1" sz="1100">
                <a:solidFill>
                  <a:srgbClr val="858585"/>
                </a:solidFill>
                <a:latin typeface="Roboto"/>
                <a:ea typeface="Roboto"/>
                <a:cs typeface="Roboto"/>
                <a:sym typeface="Roboto"/>
              </a:endParaRPr>
            </a:p>
          </p:txBody>
        </p:sp>
        <p:sp>
          <p:nvSpPr>
            <p:cNvPr id="625" name="Google Shape;625;p30"/>
            <p:cNvSpPr txBox="1"/>
            <p:nvPr/>
          </p:nvSpPr>
          <p:spPr>
            <a:xfrm>
              <a:off x="3417475" y="1387750"/>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Images RVB</a:t>
              </a:r>
              <a:endParaRPr sz="700">
                <a:solidFill>
                  <a:srgbClr val="858585"/>
                </a:solidFill>
                <a:latin typeface="Roboto"/>
                <a:ea typeface="Roboto"/>
                <a:cs typeface="Roboto"/>
                <a:sym typeface="Roboto"/>
              </a:endParaRPr>
            </a:p>
          </p:txBody>
        </p:sp>
      </p:grpSp>
      <p:grpSp>
        <p:nvGrpSpPr>
          <p:cNvPr id="626" name="Google Shape;626;p30"/>
          <p:cNvGrpSpPr/>
          <p:nvPr/>
        </p:nvGrpSpPr>
        <p:grpSpPr>
          <a:xfrm>
            <a:off x="1063923" y="4422974"/>
            <a:ext cx="1670700" cy="486182"/>
            <a:chOff x="3417475" y="4455518"/>
            <a:chExt cx="1670700" cy="486182"/>
          </a:xfrm>
        </p:grpSpPr>
        <p:sp>
          <p:nvSpPr>
            <p:cNvPr id="627" name="Google Shape;627;p30"/>
            <p:cNvSpPr txBox="1"/>
            <p:nvPr/>
          </p:nvSpPr>
          <p:spPr>
            <a:xfrm>
              <a:off x="3417475" y="44555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Apprentissage</a:t>
              </a:r>
              <a:endParaRPr b="1" sz="1100">
                <a:solidFill>
                  <a:schemeClr val="dk1"/>
                </a:solidFill>
                <a:latin typeface="Roboto"/>
                <a:ea typeface="Roboto"/>
                <a:cs typeface="Roboto"/>
                <a:sym typeface="Roboto"/>
              </a:endParaRPr>
            </a:p>
          </p:txBody>
        </p:sp>
        <p:sp>
          <p:nvSpPr>
            <p:cNvPr id="628" name="Google Shape;628;p30"/>
            <p:cNvSpPr txBox="1"/>
            <p:nvPr/>
          </p:nvSpPr>
          <p:spPr>
            <a:xfrm>
              <a:off x="3417475" y="466570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Adam / Cross-Entropy</a:t>
              </a:r>
              <a:endParaRPr sz="700">
                <a:solidFill>
                  <a:schemeClr val="dk1"/>
                </a:solidFill>
                <a:latin typeface="Roboto"/>
                <a:ea typeface="Roboto"/>
                <a:cs typeface="Roboto"/>
                <a:sym typeface="Roboto"/>
              </a:endParaRPr>
            </a:p>
          </p:txBody>
        </p:sp>
      </p:grpSp>
      <p:grpSp>
        <p:nvGrpSpPr>
          <p:cNvPr id="629" name="Google Shape;629;p30"/>
          <p:cNvGrpSpPr/>
          <p:nvPr/>
        </p:nvGrpSpPr>
        <p:grpSpPr>
          <a:xfrm>
            <a:off x="1063923" y="1617674"/>
            <a:ext cx="2241000" cy="513894"/>
            <a:chOff x="3417475" y="1650218"/>
            <a:chExt cx="2241000" cy="513894"/>
          </a:xfrm>
        </p:grpSpPr>
        <p:sp>
          <p:nvSpPr>
            <p:cNvPr id="630" name="Google Shape;630;p30"/>
            <p:cNvSpPr txBox="1"/>
            <p:nvPr/>
          </p:nvSpPr>
          <p:spPr>
            <a:xfrm>
              <a:off x="3417475" y="16502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Chargement </a:t>
              </a:r>
              <a:r>
                <a:rPr lang="fr" sz="1050">
                  <a:solidFill>
                    <a:schemeClr val="dk1"/>
                  </a:solidFill>
                </a:rPr>
                <a:t>➡️</a:t>
              </a:r>
              <a:r>
                <a:rPr lang="fr" sz="1050">
                  <a:solidFill>
                    <a:schemeClr val="dk2"/>
                  </a:solidFill>
                </a:rPr>
                <a:t>⚡</a:t>
              </a:r>
              <a:endParaRPr b="1" sz="1050">
                <a:solidFill>
                  <a:schemeClr val="dk1"/>
                </a:solidFill>
              </a:endParaRPr>
            </a:p>
            <a:p>
              <a:pPr indent="0" lvl="0" marL="0" rtl="0" algn="l">
                <a:lnSpc>
                  <a:spcPct val="115000"/>
                </a:lnSpc>
                <a:spcBef>
                  <a:spcPts val="0"/>
                </a:spcBef>
                <a:spcAft>
                  <a:spcPts val="0"/>
                </a:spcAft>
                <a:buNone/>
              </a:pPr>
              <a:r>
                <a:t/>
              </a:r>
              <a:endParaRPr b="1" sz="1100">
                <a:solidFill>
                  <a:schemeClr val="dk1"/>
                </a:solidFill>
                <a:latin typeface="Roboto"/>
                <a:ea typeface="Roboto"/>
                <a:cs typeface="Roboto"/>
                <a:sym typeface="Roboto"/>
              </a:endParaRPr>
            </a:p>
          </p:txBody>
        </p:sp>
        <p:sp>
          <p:nvSpPr>
            <p:cNvPr id="631" name="Google Shape;631;p30"/>
            <p:cNvSpPr txBox="1"/>
            <p:nvPr/>
          </p:nvSpPr>
          <p:spPr>
            <a:xfrm>
              <a:off x="3417475" y="1888112"/>
              <a:ext cx="2241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tf.data : parallèle + préchargement (optimisé)</a:t>
              </a:r>
              <a:endParaRPr sz="700">
                <a:solidFill>
                  <a:schemeClr val="dk1"/>
                </a:solidFill>
                <a:latin typeface="Roboto"/>
                <a:ea typeface="Roboto"/>
                <a:cs typeface="Roboto"/>
                <a:sym typeface="Roboto"/>
              </a:endParaRPr>
            </a:p>
          </p:txBody>
        </p:sp>
      </p:grpSp>
      <p:grpSp>
        <p:nvGrpSpPr>
          <p:cNvPr id="632" name="Google Shape;632;p30"/>
          <p:cNvGrpSpPr/>
          <p:nvPr/>
        </p:nvGrpSpPr>
        <p:grpSpPr>
          <a:xfrm>
            <a:off x="1063923" y="2085224"/>
            <a:ext cx="1670700" cy="482534"/>
            <a:chOff x="3417475" y="2117768"/>
            <a:chExt cx="1670700" cy="482534"/>
          </a:xfrm>
        </p:grpSpPr>
        <p:sp>
          <p:nvSpPr>
            <p:cNvPr id="633" name="Google Shape;633;p30"/>
            <p:cNvSpPr txBox="1"/>
            <p:nvPr/>
          </p:nvSpPr>
          <p:spPr>
            <a:xfrm>
              <a:off x="3417475" y="21177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Prétraitement</a:t>
              </a:r>
              <a:endParaRPr b="1" sz="1100">
                <a:solidFill>
                  <a:srgbClr val="858585"/>
                </a:solidFill>
                <a:latin typeface="Roboto"/>
                <a:ea typeface="Roboto"/>
                <a:cs typeface="Roboto"/>
                <a:sym typeface="Roboto"/>
              </a:endParaRPr>
            </a:p>
          </p:txBody>
        </p:sp>
        <p:sp>
          <p:nvSpPr>
            <p:cNvPr id="634" name="Google Shape;634;p30"/>
            <p:cNvSpPr txBox="1"/>
            <p:nvPr/>
          </p:nvSpPr>
          <p:spPr>
            <a:xfrm>
              <a:off x="3417475" y="2324303"/>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Resize &amp; normalisation</a:t>
              </a:r>
              <a:endParaRPr sz="700">
                <a:solidFill>
                  <a:srgbClr val="858585"/>
                </a:solidFill>
                <a:latin typeface="Roboto"/>
                <a:ea typeface="Roboto"/>
                <a:cs typeface="Roboto"/>
                <a:sym typeface="Roboto"/>
              </a:endParaRPr>
            </a:p>
          </p:txBody>
        </p:sp>
      </p:grpSp>
      <p:grpSp>
        <p:nvGrpSpPr>
          <p:cNvPr id="635" name="Google Shape;635;p30"/>
          <p:cNvGrpSpPr/>
          <p:nvPr/>
        </p:nvGrpSpPr>
        <p:grpSpPr>
          <a:xfrm>
            <a:off x="1063923" y="2552768"/>
            <a:ext cx="1823700" cy="483266"/>
            <a:chOff x="3417475" y="2585313"/>
            <a:chExt cx="1823700" cy="483266"/>
          </a:xfrm>
        </p:grpSpPr>
        <p:sp>
          <p:nvSpPr>
            <p:cNvPr id="636" name="Google Shape;636;p30"/>
            <p:cNvSpPr txBox="1"/>
            <p:nvPr/>
          </p:nvSpPr>
          <p:spPr>
            <a:xfrm>
              <a:off x="3417475" y="2585313"/>
              <a:ext cx="1823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Data augmentation </a:t>
              </a:r>
              <a:r>
                <a:rPr lang="fr" sz="700">
                  <a:solidFill>
                    <a:schemeClr val="dk1"/>
                  </a:solidFill>
                  <a:latin typeface="Roboto"/>
                  <a:ea typeface="Roboto"/>
                  <a:cs typeface="Roboto"/>
                  <a:sym typeface="Roboto"/>
                </a:rPr>
                <a:t>❌</a:t>
              </a:r>
              <a:r>
                <a:rPr lang="fr" sz="1050">
                  <a:solidFill>
                    <a:schemeClr val="dk1"/>
                  </a:solidFill>
                </a:rPr>
                <a:t>🧬</a:t>
              </a:r>
              <a:endParaRPr b="1" sz="1100">
                <a:solidFill>
                  <a:schemeClr val="dk1"/>
                </a:solidFill>
                <a:latin typeface="Roboto"/>
                <a:ea typeface="Roboto"/>
                <a:cs typeface="Roboto"/>
                <a:sym typeface="Roboto"/>
              </a:endParaRPr>
            </a:p>
          </p:txBody>
        </p:sp>
        <p:sp>
          <p:nvSpPr>
            <p:cNvPr id="637" name="Google Shape;637;p30"/>
            <p:cNvSpPr txBox="1"/>
            <p:nvPr/>
          </p:nvSpPr>
          <p:spPr>
            <a:xfrm>
              <a:off x="3417475" y="279257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Désactivée </a:t>
              </a:r>
              <a:endParaRPr sz="700">
                <a:solidFill>
                  <a:schemeClr val="dk1"/>
                </a:solidFill>
                <a:latin typeface="Roboto"/>
                <a:ea typeface="Roboto"/>
                <a:cs typeface="Roboto"/>
                <a:sym typeface="Roboto"/>
              </a:endParaRPr>
            </a:p>
          </p:txBody>
        </p:sp>
      </p:grpSp>
      <p:grpSp>
        <p:nvGrpSpPr>
          <p:cNvPr id="638" name="Google Shape;638;p30"/>
          <p:cNvGrpSpPr/>
          <p:nvPr/>
        </p:nvGrpSpPr>
        <p:grpSpPr>
          <a:xfrm>
            <a:off x="1063923" y="3020324"/>
            <a:ext cx="1670700" cy="484004"/>
            <a:chOff x="3417475" y="3052868"/>
            <a:chExt cx="1670700" cy="484004"/>
          </a:xfrm>
        </p:grpSpPr>
        <p:sp>
          <p:nvSpPr>
            <p:cNvPr id="639" name="Google Shape;639;p30"/>
            <p:cNvSpPr txBox="1"/>
            <p:nvPr/>
          </p:nvSpPr>
          <p:spPr>
            <a:xfrm>
              <a:off x="3417475" y="30528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Feature extraction</a:t>
              </a:r>
              <a:endParaRPr b="1" sz="1100">
                <a:solidFill>
                  <a:srgbClr val="858585"/>
                </a:solidFill>
                <a:latin typeface="Roboto"/>
                <a:ea typeface="Roboto"/>
                <a:cs typeface="Roboto"/>
                <a:sym typeface="Roboto"/>
              </a:endParaRPr>
            </a:p>
          </p:txBody>
        </p:sp>
        <p:sp>
          <p:nvSpPr>
            <p:cNvPr id="640" name="Google Shape;640;p30"/>
            <p:cNvSpPr txBox="1"/>
            <p:nvPr/>
          </p:nvSpPr>
          <p:spPr>
            <a:xfrm>
              <a:off x="3417475" y="3260872"/>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CNN VGG16 gelé</a:t>
              </a:r>
              <a:endParaRPr sz="700">
                <a:solidFill>
                  <a:srgbClr val="858585"/>
                </a:solidFill>
                <a:latin typeface="Roboto"/>
                <a:ea typeface="Roboto"/>
                <a:cs typeface="Roboto"/>
                <a:sym typeface="Roboto"/>
              </a:endParaRPr>
            </a:p>
          </p:txBody>
        </p:sp>
      </p:grpSp>
      <p:grpSp>
        <p:nvGrpSpPr>
          <p:cNvPr id="641" name="Google Shape;641;p30"/>
          <p:cNvGrpSpPr/>
          <p:nvPr/>
        </p:nvGrpSpPr>
        <p:grpSpPr>
          <a:xfrm>
            <a:off x="1063923" y="3487874"/>
            <a:ext cx="1670700" cy="484730"/>
            <a:chOff x="3417475" y="3520418"/>
            <a:chExt cx="1670700" cy="484730"/>
          </a:xfrm>
        </p:grpSpPr>
        <p:sp>
          <p:nvSpPr>
            <p:cNvPr id="642" name="Google Shape;642;p30"/>
            <p:cNvSpPr txBox="1"/>
            <p:nvPr/>
          </p:nvSpPr>
          <p:spPr>
            <a:xfrm>
              <a:off x="3417475" y="35204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Réduction</a:t>
              </a:r>
              <a:endParaRPr b="1" sz="1100">
                <a:solidFill>
                  <a:schemeClr val="dk1"/>
                </a:solidFill>
                <a:latin typeface="Roboto"/>
                <a:ea typeface="Roboto"/>
                <a:cs typeface="Roboto"/>
                <a:sym typeface="Roboto"/>
              </a:endParaRPr>
            </a:p>
          </p:txBody>
        </p:sp>
        <p:sp>
          <p:nvSpPr>
            <p:cNvPr id="643" name="Google Shape;643;p30"/>
            <p:cNvSpPr txBox="1"/>
            <p:nvPr/>
          </p:nvSpPr>
          <p:spPr>
            <a:xfrm>
              <a:off x="3417475" y="372914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GAP</a:t>
              </a:r>
              <a:endParaRPr sz="700">
                <a:solidFill>
                  <a:schemeClr val="dk1"/>
                </a:solidFill>
                <a:latin typeface="Roboto"/>
                <a:ea typeface="Roboto"/>
                <a:cs typeface="Roboto"/>
                <a:sym typeface="Roboto"/>
              </a:endParaRPr>
            </a:p>
          </p:txBody>
        </p:sp>
      </p:grpSp>
      <p:grpSp>
        <p:nvGrpSpPr>
          <p:cNvPr id="644" name="Google Shape;644;p30"/>
          <p:cNvGrpSpPr/>
          <p:nvPr/>
        </p:nvGrpSpPr>
        <p:grpSpPr>
          <a:xfrm>
            <a:off x="1063923" y="3955424"/>
            <a:ext cx="1670700" cy="485456"/>
            <a:chOff x="3417475" y="3987968"/>
            <a:chExt cx="1670700" cy="485456"/>
          </a:xfrm>
        </p:grpSpPr>
        <p:sp>
          <p:nvSpPr>
            <p:cNvPr id="645" name="Google Shape;645;p30"/>
            <p:cNvSpPr txBox="1"/>
            <p:nvPr/>
          </p:nvSpPr>
          <p:spPr>
            <a:xfrm>
              <a:off x="3417475" y="39879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Classification</a:t>
              </a:r>
              <a:endParaRPr b="1" sz="1100">
                <a:solidFill>
                  <a:srgbClr val="858585"/>
                </a:solidFill>
                <a:latin typeface="Roboto"/>
                <a:ea typeface="Roboto"/>
                <a:cs typeface="Roboto"/>
                <a:sym typeface="Roboto"/>
              </a:endParaRPr>
            </a:p>
          </p:txBody>
        </p:sp>
        <p:sp>
          <p:nvSpPr>
            <p:cNvPr id="646" name="Google Shape;646;p30"/>
            <p:cNvSpPr txBox="1"/>
            <p:nvPr/>
          </p:nvSpPr>
          <p:spPr>
            <a:xfrm>
              <a:off x="3417475" y="4197424"/>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Tête personnalisée : Dense + softmax</a:t>
              </a:r>
              <a:endParaRPr sz="700">
                <a:solidFill>
                  <a:srgbClr val="858585"/>
                </a:solidFill>
                <a:latin typeface="Roboto"/>
                <a:ea typeface="Roboto"/>
                <a:cs typeface="Roboto"/>
                <a:sym typeface="Roboto"/>
              </a:endParaRPr>
            </a:p>
          </p:txBody>
        </p:sp>
      </p:grpSp>
      <p:grpSp>
        <p:nvGrpSpPr>
          <p:cNvPr id="647" name="Google Shape;647;p30"/>
          <p:cNvGrpSpPr/>
          <p:nvPr/>
        </p:nvGrpSpPr>
        <p:grpSpPr>
          <a:xfrm>
            <a:off x="725621" y="1182675"/>
            <a:ext cx="133501" cy="3960950"/>
            <a:chOff x="3024100" y="1182675"/>
            <a:chExt cx="133501" cy="3960950"/>
          </a:xfrm>
        </p:grpSpPr>
        <p:sp>
          <p:nvSpPr>
            <p:cNvPr id="648" name="Google Shape;648;p30"/>
            <p:cNvSpPr/>
            <p:nvPr/>
          </p:nvSpPr>
          <p:spPr>
            <a:xfrm>
              <a:off x="3024101" y="1182675"/>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0"/>
            <p:cNvSpPr/>
            <p:nvPr/>
          </p:nvSpPr>
          <p:spPr>
            <a:xfrm>
              <a:off x="3024101" y="1652782"/>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0"/>
            <p:cNvSpPr/>
            <p:nvPr/>
          </p:nvSpPr>
          <p:spPr>
            <a:xfrm>
              <a:off x="3024101" y="4003318"/>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0"/>
            <p:cNvSpPr/>
            <p:nvPr/>
          </p:nvSpPr>
          <p:spPr>
            <a:xfrm>
              <a:off x="3024101" y="3063103"/>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0"/>
            <p:cNvSpPr/>
            <p:nvPr/>
          </p:nvSpPr>
          <p:spPr>
            <a:xfrm>
              <a:off x="3024101" y="2122889"/>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0"/>
            <p:cNvSpPr/>
            <p:nvPr/>
          </p:nvSpPr>
          <p:spPr>
            <a:xfrm>
              <a:off x="3024100" y="4473425"/>
              <a:ext cx="133500" cy="67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0"/>
            <p:cNvSpPr/>
            <p:nvPr/>
          </p:nvSpPr>
          <p:spPr>
            <a:xfrm>
              <a:off x="3024101" y="3533211"/>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0"/>
            <p:cNvSpPr/>
            <p:nvPr/>
          </p:nvSpPr>
          <p:spPr>
            <a:xfrm>
              <a:off x="3024101" y="2592996"/>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56" name="Google Shape;656;p30"/>
          <p:cNvCxnSpPr/>
          <p:nvPr/>
        </p:nvCxnSpPr>
        <p:spPr>
          <a:xfrm rot="10800000">
            <a:off x="527471" y="4004708"/>
            <a:ext cx="529800" cy="0"/>
          </a:xfrm>
          <a:prstGeom prst="straightConnector1">
            <a:avLst/>
          </a:prstGeom>
          <a:noFill/>
          <a:ln cap="flat" cmpd="sng" w="9525">
            <a:solidFill>
              <a:srgbClr val="C2C2C2"/>
            </a:solidFill>
            <a:prstDash val="solid"/>
            <a:round/>
            <a:headEnd len="sm" w="sm" type="none"/>
            <a:tailEnd len="sm" w="sm" type="none"/>
          </a:ln>
        </p:spPr>
      </p:cxnSp>
      <p:cxnSp>
        <p:nvCxnSpPr>
          <p:cNvPr id="657" name="Google Shape;657;p30"/>
          <p:cNvCxnSpPr/>
          <p:nvPr/>
        </p:nvCxnSpPr>
        <p:spPr>
          <a:xfrm rot="10800000">
            <a:off x="527471" y="3536433"/>
            <a:ext cx="529800" cy="0"/>
          </a:xfrm>
          <a:prstGeom prst="straightConnector1">
            <a:avLst/>
          </a:prstGeom>
          <a:noFill/>
          <a:ln cap="flat" cmpd="sng" w="9525">
            <a:solidFill>
              <a:schemeClr val="dk1"/>
            </a:solidFill>
            <a:prstDash val="solid"/>
            <a:round/>
            <a:headEnd len="sm" w="sm" type="none"/>
            <a:tailEnd len="sm" w="sm" type="none"/>
          </a:ln>
        </p:spPr>
      </p:cxnSp>
      <p:cxnSp>
        <p:nvCxnSpPr>
          <p:cNvPr id="658" name="Google Shape;658;p30"/>
          <p:cNvCxnSpPr/>
          <p:nvPr/>
        </p:nvCxnSpPr>
        <p:spPr>
          <a:xfrm rot="10800000">
            <a:off x="527471" y="3058108"/>
            <a:ext cx="529800" cy="0"/>
          </a:xfrm>
          <a:prstGeom prst="straightConnector1">
            <a:avLst/>
          </a:prstGeom>
          <a:noFill/>
          <a:ln cap="flat" cmpd="sng" w="9525">
            <a:solidFill>
              <a:srgbClr val="C2C2C2"/>
            </a:solidFill>
            <a:prstDash val="solid"/>
            <a:round/>
            <a:headEnd len="sm" w="sm" type="none"/>
            <a:tailEnd len="sm" w="sm" type="none"/>
          </a:ln>
        </p:spPr>
      </p:cxnSp>
      <p:cxnSp>
        <p:nvCxnSpPr>
          <p:cNvPr id="659" name="Google Shape;659;p30"/>
          <p:cNvCxnSpPr/>
          <p:nvPr/>
        </p:nvCxnSpPr>
        <p:spPr>
          <a:xfrm rot="10800000">
            <a:off x="527471" y="2588233"/>
            <a:ext cx="529800" cy="0"/>
          </a:xfrm>
          <a:prstGeom prst="straightConnector1">
            <a:avLst/>
          </a:prstGeom>
          <a:noFill/>
          <a:ln cap="flat" cmpd="sng" w="9525">
            <a:solidFill>
              <a:schemeClr val="dk1"/>
            </a:solidFill>
            <a:prstDash val="solid"/>
            <a:round/>
            <a:headEnd len="sm" w="sm" type="none"/>
            <a:tailEnd len="sm" w="sm" type="none"/>
          </a:ln>
        </p:spPr>
      </p:cxnSp>
      <p:cxnSp>
        <p:nvCxnSpPr>
          <p:cNvPr id="660" name="Google Shape;660;p30"/>
          <p:cNvCxnSpPr/>
          <p:nvPr/>
        </p:nvCxnSpPr>
        <p:spPr>
          <a:xfrm rot="10800000">
            <a:off x="527471" y="2121533"/>
            <a:ext cx="529800" cy="0"/>
          </a:xfrm>
          <a:prstGeom prst="straightConnector1">
            <a:avLst/>
          </a:prstGeom>
          <a:noFill/>
          <a:ln cap="flat" cmpd="sng" w="9525">
            <a:solidFill>
              <a:srgbClr val="C2C2C2"/>
            </a:solidFill>
            <a:prstDash val="solid"/>
            <a:round/>
            <a:headEnd len="sm" w="sm" type="none"/>
            <a:tailEnd len="sm" w="sm" type="none"/>
          </a:ln>
        </p:spPr>
      </p:cxnSp>
      <p:cxnSp>
        <p:nvCxnSpPr>
          <p:cNvPr id="661" name="Google Shape;661;p30"/>
          <p:cNvCxnSpPr/>
          <p:nvPr/>
        </p:nvCxnSpPr>
        <p:spPr>
          <a:xfrm rot="10800000">
            <a:off x="527471" y="1650436"/>
            <a:ext cx="529800" cy="0"/>
          </a:xfrm>
          <a:prstGeom prst="straightConnector1">
            <a:avLst/>
          </a:prstGeom>
          <a:noFill/>
          <a:ln cap="flat" cmpd="sng" w="9525">
            <a:solidFill>
              <a:schemeClr val="dk1"/>
            </a:solidFill>
            <a:prstDash val="solid"/>
            <a:round/>
            <a:headEnd len="sm" w="sm" type="none"/>
            <a:tailEnd len="sm" w="sm" type="none"/>
          </a:ln>
        </p:spPr>
      </p:cxnSp>
      <p:sp>
        <p:nvSpPr>
          <p:cNvPr id="662" name="Google Shape;662;p30"/>
          <p:cNvSpPr txBox="1"/>
          <p:nvPr/>
        </p:nvSpPr>
        <p:spPr>
          <a:xfrm>
            <a:off x="81991" y="35376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sp>
        <p:nvSpPr>
          <p:cNvPr id="663" name="Google Shape;663;p30"/>
          <p:cNvSpPr txBox="1"/>
          <p:nvPr/>
        </p:nvSpPr>
        <p:spPr>
          <a:xfrm>
            <a:off x="79128" y="44793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8</a:t>
            </a:r>
            <a:endParaRPr b="1" sz="1200">
              <a:solidFill>
                <a:schemeClr val="dk1"/>
              </a:solidFill>
              <a:latin typeface="Roboto"/>
              <a:ea typeface="Roboto"/>
              <a:cs typeface="Roboto"/>
              <a:sym typeface="Roboto"/>
            </a:endParaRPr>
          </a:p>
        </p:txBody>
      </p:sp>
      <p:sp>
        <p:nvSpPr>
          <p:cNvPr id="664" name="Google Shape;664;p30"/>
          <p:cNvSpPr txBox="1"/>
          <p:nvPr/>
        </p:nvSpPr>
        <p:spPr>
          <a:xfrm>
            <a:off x="79838" y="40130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7</a:t>
            </a:r>
            <a:endParaRPr b="1" sz="1200">
              <a:solidFill>
                <a:srgbClr val="858585"/>
              </a:solidFill>
              <a:latin typeface="Roboto"/>
              <a:ea typeface="Roboto"/>
              <a:cs typeface="Roboto"/>
              <a:sym typeface="Roboto"/>
            </a:endParaRPr>
          </a:p>
        </p:txBody>
      </p:sp>
      <p:pic>
        <p:nvPicPr>
          <p:cNvPr id="665" name="Google Shape;665;p30" title="Image2.png"/>
          <p:cNvPicPr preferRelativeResize="0"/>
          <p:nvPr/>
        </p:nvPicPr>
        <p:blipFill>
          <a:blip r:embed="rId3">
            <a:alphaModFix/>
          </a:blip>
          <a:stretch>
            <a:fillRect/>
          </a:stretch>
        </p:blipFill>
        <p:spPr>
          <a:xfrm>
            <a:off x="186452" y="1740547"/>
            <a:ext cx="159200" cy="159200"/>
          </a:xfrm>
          <a:prstGeom prst="rect">
            <a:avLst/>
          </a:prstGeom>
          <a:noFill/>
          <a:ln>
            <a:noFill/>
          </a:ln>
        </p:spPr>
      </p:pic>
      <p:pic>
        <p:nvPicPr>
          <p:cNvPr id="666" name="Google Shape;666;p30" title="Image2.png"/>
          <p:cNvPicPr preferRelativeResize="0"/>
          <p:nvPr/>
        </p:nvPicPr>
        <p:blipFill>
          <a:blip r:embed="rId3">
            <a:alphaModFix/>
          </a:blip>
          <a:stretch>
            <a:fillRect/>
          </a:stretch>
        </p:blipFill>
        <p:spPr>
          <a:xfrm>
            <a:off x="195813" y="2694297"/>
            <a:ext cx="159200" cy="159200"/>
          </a:xfrm>
          <a:prstGeom prst="rect">
            <a:avLst/>
          </a:prstGeom>
          <a:noFill/>
          <a:ln>
            <a:noFill/>
          </a:ln>
        </p:spPr>
      </p:pic>
      <p:graphicFrame>
        <p:nvGraphicFramePr>
          <p:cNvPr id="667" name="Google Shape;667;p30"/>
          <p:cNvGraphicFramePr/>
          <p:nvPr/>
        </p:nvGraphicFramePr>
        <p:xfrm>
          <a:off x="3843025" y="1602575"/>
          <a:ext cx="3000000" cy="3000000"/>
        </p:xfrm>
        <a:graphic>
          <a:graphicData uri="http://schemas.openxmlformats.org/drawingml/2006/table">
            <a:tbl>
              <a:tblPr>
                <a:noFill/>
                <a:tableStyleId>{D5246A32-94BD-469A-8FF0-07B5B3C936EE}</a:tableStyleId>
              </a:tblPr>
              <a:tblGrid>
                <a:gridCol w="568850"/>
                <a:gridCol w="513550"/>
              </a:tblGrid>
              <a:tr h="21972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Accuracy</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0.77</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1127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Loss</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0.82</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668" name="Google Shape;668;p30"/>
          <p:cNvSpPr txBox="1"/>
          <p:nvPr/>
        </p:nvSpPr>
        <p:spPr>
          <a:xfrm>
            <a:off x="6134875" y="2694300"/>
            <a:ext cx="2697300" cy="22845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lt2"/>
              </a:buClr>
              <a:buSzPts val="900"/>
              <a:buFont typeface="Roboto"/>
              <a:buChar char="➔"/>
            </a:pPr>
            <a:r>
              <a:rPr b="1" lang="fr" sz="900">
                <a:solidFill>
                  <a:schemeClr val="lt2"/>
                </a:solidFill>
                <a:latin typeface="Roboto"/>
                <a:ea typeface="Roboto"/>
                <a:cs typeface="Roboto"/>
                <a:sym typeface="Roboto"/>
              </a:rPr>
              <a:t>Pipeline optimisé → parallélisation + préchargement</a:t>
            </a:r>
            <a:endParaRPr b="1"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Apprentissage moins efficace → patterns mal exploités</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Sous-apprentissage probable</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Confusions plus nombreuses entre classes</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Instabilité liée au batching / shuffle possible</a:t>
            </a:r>
            <a:endParaRPr sz="900">
              <a:solidFill>
                <a:schemeClr val="lt2"/>
              </a:solidFill>
              <a:latin typeface="Roboto"/>
              <a:ea typeface="Roboto"/>
              <a:cs typeface="Roboto"/>
              <a:sym typeface="Roboto"/>
            </a:endParaRPr>
          </a:p>
        </p:txBody>
      </p:sp>
      <p:pic>
        <p:nvPicPr>
          <p:cNvPr id="669" name="Google Shape;669;p30"/>
          <p:cNvPicPr preferRelativeResize="0"/>
          <p:nvPr/>
        </p:nvPicPr>
        <p:blipFill>
          <a:blip r:embed="rId4">
            <a:alphaModFix/>
          </a:blip>
          <a:stretch>
            <a:fillRect/>
          </a:stretch>
        </p:blipFill>
        <p:spPr>
          <a:xfrm>
            <a:off x="5222778" y="1109549"/>
            <a:ext cx="3609396" cy="1417075"/>
          </a:xfrm>
          <a:prstGeom prst="rect">
            <a:avLst/>
          </a:prstGeom>
          <a:noFill/>
          <a:ln>
            <a:noFill/>
          </a:ln>
        </p:spPr>
      </p:pic>
      <p:pic>
        <p:nvPicPr>
          <p:cNvPr id="670" name="Google Shape;670;p30"/>
          <p:cNvPicPr preferRelativeResize="0"/>
          <p:nvPr/>
        </p:nvPicPr>
        <p:blipFill>
          <a:blip r:embed="rId5">
            <a:alphaModFix/>
          </a:blip>
          <a:stretch>
            <a:fillRect/>
          </a:stretch>
        </p:blipFill>
        <p:spPr>
          <a:xfrm>
            <a:off x="3195808" y="2567750"/>
            <a:ext cx="2810701" cy="2424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3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Cas 4, </a:t>
            </a:r>
            <a:r>
              <a:rPr lang="fr">
                <a:solidFill>
                  <a:schemeClr val="dk1"/>
                </a:solidFill>
              </a:rPr>
              <a:t>Data augmentation dans le modèle</a:t>
            </a:r>
            <a:endParaRPr>
              <a:solidFill>
                <a:schemeClr val="dk1"/>
              </a:solidFill>
            </a:endParaRPr>
          </a:p>
        </p:txBody>
      </p:sp>
      <p:sp>
        <p:nvSpPr>
          <p:cNvPr id="676" name="Google Shape;676;p31"/>
          <p:cNvSpPr txBox="1"/>
          <p:nvPr/>
        </p:nvSpPr>
        <p:spPr>
          <a:xfrm>
            <a:off x="74916" y="16633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2</a:t>
            </a:r>
            <a:endParaRPr b="1" sz="1200">
              <a:solidFill>
                <a:schemeClr val="dk1"/>
              </a:solidFill>
              <a:latin typeface="Roboto"/>
              <a:ea typeface="Roboto"/>
              <a:cs typeface="Roboto"/>
              <a:sym typeface="Roboto"/>
            </a:endParaRPr>
          </a:p>
        </p:txBody>
      </p:sp>
      <p:sp>
        <p:nvSpPr>
          <p:cNvPr id="677" name="Google Shape;677;p31"/>
          <p:cNvSpPr txBox="1"/>
          <p:nvPr/>
        </p:nvSpPr>
        <p:spPr>
          <a:xfrm>
            <a:off x="72053" y="260502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4</a:t>
            </a:r>
            <a:endParaRPr b="1" sz="1200">
              <a:solidFill>
                <a:schemeClr val="dk1"/>
              </a:solidFill>
              <a:latin typeface="Roboto"/>
              <a:ea typeface="Roboto"/>
              <a:cs typeface="Roboto"/>
              <a:sym typeface="Roboto"/>
            </a:endParaRPr>
          </a:p>
        </p:txBody>
      </p:sp>
      <p:sp>
        <p:nvSpPr>
          <p:cNvPr id="678" name="Google Shape;678;p31"/>
          <p:cNvSpPr txBox="1"/>
          <p:nvPr/>
        </p:nvSpPr>
        <p:spPr>
          <a:xfrm>
            <a:off x="72763" y="213870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3</a:t>
            </a:r>
            <a:endParaRPr b="1" sz="1200">
              <a:solidFill>
                <a:srgbClr val="858585"/>
              </a:solidFill>
              <a:latin typeface="Roboto"/>
              <a:ea typeface="Roboto"/>
              <a:cs typeface="Roboto"/>
              <a:sym typeface="Roboto"/>
            </a:endParaRPr>
          </a:p>
        </p:txBody>
      </p:sp>
      <p:sp>
        <p:nvSpPr>
          <p:cNvPr id="679" name="Google Shape;679;p31"/>
          <p:cNvSpPr txBox="1"/>
          <p:nvPr/>
        </p:nvSpPr>
        <p:spPr>
          <a:xfrm>
            <a:off x="80566" y="11879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1</a:t>
            </a:r>
            <a:endParaRPr b="1" sz="1200">
              <a:solidFill>
                <a:srgbClr val="858585"/>
              </a:solidFill>
              <a:latin typeface="Roboto"/>
              <a:ea typeface="Roboto"/>
              <a:cs typeface="Roboto"/>
              <a:sym typeface="Roboto"/>
            </a:endParaRPr>
          </a:p>
        </p:txBody>
      </p:sp>
      <p:cxnSp>
        <p:nvCxnSpPr>
          <p:cNvPr id="680" name="Google Shape;680;p31"/>
          <p:cNvCxnSpPr/>
          <p:nvPr/>
        </p:nvCxnSpPr>
        <p:spPr>
          <a:xfrm rot="10800000">
            <a:off x="527471" y="1186999"/>
            <a:ext cx="529800" cy="0"/>
          </a:xfrm>
          <a:prstGeom prst="straightConnector1">
            <a:avLst/>
          </a:prstGeom>
          <a:noFill/>
          <a:ln cap="flat" cmpd="sng" w="9525">
            <a:solidFill>
              <a:srgbClr val="C2C2C2"/>
            </a:solidFill>
            <a:prstDash val="solid"/>
            <a:round/>
            <a:headEnd len="sm" w="sm" type="none"/>
            <a:tailEnd len="sm" w="sm" type="none"/>
          </a:ln>
        </p:spPr>
      </p:cxnSp>
      <p:sp>
        <p:nvSpPr>
          <p:cNvPr id="681" name="Google Shape;681;p31"/>
          <p:cNvSpPr txBox="1"/>
          <p:nvPr/>
        </p:nvSpPr>
        <p:spPr>
          <a:xfrm>
            <a:off x="72076" y="30713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5</a:t>
            </a:r>
            <a:endParaRPr b="1" sz="1200">
              <a:solidFill>
                <a:srgbClr val="858585"/>
              </a:solidFill>
              <a:latin typeface="Roboto"/>
              <a:ea typeface="Roboto"/>
              <a:cs typeface="Roboto"/>
              <a:sym typeface="Roboto"/>
            </a:endParaRPr>
          </a:p>
        </p:txBody>
      </p:sp>
      <p:cxnSp>
        <p:nvCxnSpPr>
          <p:cNvPr id="682" name="Google Shape;682;p31"/>
          <p:cNvCxnSpPr/>
          <p:nvPr/>
        </p:nvCxnSpPr>
        <p:spPr>
          <a:xfrm rot="10800000">
            <a:off x="527471" y="4474660"/>
            <a:ext cx="529800" cy="0"/>
          </a:xfrm>
          <a:prstGeom prst="straightConnector1">
            <a:avLst/>
          </a:prstGeom>
          <a:noFill/>
          <a:ln cap="flat" cmpd="sng" w="9525">
            <a:solidFill>
              <a:schemeClr val="dk1"/>
            </a:solidFill>
            <a:prstDash val="solid"/>
            <a:round/>
            <a:headEnd len="sm" w="sm" type="none"/>
            <a:tailEnd len="sm" w="sm" type="none"/>
          </a:ln>
        </p:spPr>
      </p:cxnSp>
      <p:grpSp>
        <p:nvGrpSpPr>
          <p:cNvPr id="683" name="Google Shape;683;p31"/>
          <p:cNvGrpSpPr/>
          <p:nvPr/>
        </p:nvGrpSpPr>
        <p:grpSpPr>
          <a:xfrm>
            <a:off x="1063923" y="1150124"/>
            <a:ext cx="1670700" cy="481082"/>
            <a:chOff x="3417475" y="1182668"/>
            <a:chExt cx="1670700" cy="481082"/>
          </a:xfrm>
        </p:grpSpPr>
        <p:sp>
          <p:nvSpPr>
            <p:cNvPr id="684" name="Google Shape;684;p31"/>
            <p:cNvSpPr txBox="1"/>
            <p:nvPr/>
          </p:nvSpPr>
          <p:spPr>
            <a:xfrm>
              <a:off x="3417475" y="11826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Données brutes</a:t>
              </a:r>
              <a:endParaRPr b="1" sz="1100">
                <a:solidFill>
                  <a:srgbClr val="858585"/>
                </a:solidFill>
                <a:latin typeface="Roboto"/>
                <a:ea typeface="Roboto"/>
                <a:cs typeface="Roboto"/>
                <a:sym typeface="Roboto"/>
              </a:endParaRPr>
            </a:p>
          </p:txBody>
        </p:sp>
        <p:sp>
          <p:nvSpPr>
            <p:cNvPr id="685" name="Google Shape;685;p31"/>
            <p:cNvSpPr txBox="1"/>
            <p:nvPr/>
          </p:nvSpPr>
          <p:spPr>
            <a:xfrm>
              <a:off x="3417475" y="1387750"/>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Images RVB</a:t>
              </a:r>
              <a:endParaRPr sz="700">
                <a:solidFill>
                  <a:srgbClr val="858585"/>
                </a:solidFill>
                <a:latin typeface="Roboto"/>
                <a:ea typeface="Roboto"/>
                <a:cs typeface="Roboto"/>
                <a:sym typeface="Roboto"/>
              </a:endParaRPr>
            </a:p>
          </p:txBody>
        </p:sp>
      </p:grpSp>
      <p:grpSp>
        <p:nvGrpSpPr>
          <p:cNvPr id="686" name="Google Shape;686;p31"/>
          <p:cNvGrpSpPr/>
          <p:nvPr/>
        </p:nvGrpSpPr>
        <p:grpSpPr>
          <a:xfrm>
            <a:off x="1063923" y="4422974"/>
            <a:ext cx="1670700" cy="486182"/>
            <a:chOff x="3417475" y="4455518"/>
            <a:chExt cx="1670700" cy="486182"/>
          </a:xfrm>
        </p:grpSpPr>
        <p:sp>
          <p:nvSpPr>
            <p:cNvPr id="687" name="Google Shape;687;p31"/>
            <p:cNvSpPr txBox="1"/>
            <p:nvPr/>
          </p:nvSpPr>
          <p:spPr>
            <a:xfrm>
              <a:off x="3417475" y="44555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Apprentissage</a:t>
              </a:r>
              <a:endParaRPr b="1" sz="1100">
                <a:solidFill>
                  <a:schemeClr val="dk1"/>
                </a:solidFill>
                <a:latin typeface="Roboto"/>
                <a:ea typeface="Roboto"/>
                <a:cs typeface="Roboto"/>
                <a:sym typeface="Roboto"/>
              </a:endParaRPr>
            </a:p>
          </p:txBody>
        </p:sp>
        <p:sp>
          <p:nvSpPr>
            <p:cNvPr id="688" name="Google Shape;688;p31"/>
            <p:cNvSpPr txBox="1"/>
            <p:nvPr/>
          </p:nvSpPr>
          <p:spPr>
            <a:xfrm>
              <a:off x="3417475" y="4665701"/>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Adam / Cross-Entropy</a:t>
              </a:r>
              <a:endParaRPr sz="700">
                <a:solidFill>
                  <a:schemeClr val="dk1"/>
                </a:solidFill>
                <a:latin typeface="Roboto"/>
                <a:ea typeface="Roboto"/>
                <a:cs typeface="Roboto"/>
                <a:sym typeface="Roboto"/>
              </a:endParaRPr>
            </a:p>
          </p:txBody>
        </p:sp>
      </p:grpSp>
      <p:grpSp>
        <p:nvGrpSpPr>
          <p:cNvPr id="689" name="Google Shape;689;p31"/>
          <p:cNvGrpSpPr/>
          <p:nvPr/>
        </p:nvGrpSpPr>
        <p:grpSpPr>
          <a:xfrm>
            <a:off x="1063923" y="1617674"/>
            <a:ext cx="2241000" cy="513894"/>
            <a:chOff x="3417475" y="1650218"/>
            <a:chExt cx="2241000" cy="513894"/>
          </a:xfrm>
        </p:grpSpPr>
        <p:sp>
          <p:nvSpPr>
            <p:cNvPr id="690" name="Google Shape;690;p31"/>
            <p:cNvSpPr txBox="1"/>
            <p:nvPr/>
          </p:nvSpPr>
          <p:spPr>
            <a:xfrm>
              <a:off x="3417475" y="16502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Chargement </a:t>
              </a:r>
              <a:r>
                <a:rPr lang="fr" sz="1050">
                  <a:solidFill>
                    <a:schemeClr val="dk1"/>
                  </a:solidFill>
                </a:rPr>
                <a:t>➡️</a:t>
              </a:r>
              <a:r>
                <a:rPr b="1" lang="fr" sz="1050">
                  <a:solidFill>
                    <a:schemeClr val="dk1"/>
                  </a:solidFill>
                </a:rPr>
                <a:t>🖼️➡️</a:t>
              </a:r>
              <a:endParaRPr b="1" sz="1050">
                <a:solidFill>
                  <a:schemeClr val="dk1"/>
                </a:solidFill>
              </a:endParaRPr>
            </a:p>
            <a:p>
              <a:pPr indent="0" lvl="0" marL="0" rtl="0" algn="l">
                <a:lnSpc>
                  <a:spcPct val="115000"/>
                </a:lnSpc>
                <a:spcBef>
                  <a:spcPts val="0"/>
                </a:spcBef>
                <a:spcAft>
                  <a:spcPts val="0"/>
                </a:spcAft>
                <a:buNone/>
              </a:pPr>
              <a:r>
                <a:t/>
              </a:r>
              <a:endParaRPr b="1" sz="1100">
                <a:solidFill>
                  <a:schemeClr val="dk1"/>
                </a:solidFill>
                <a:latin typeface="Roboto"/>
                <a:ea typeface="Roboto"/>
                <a:cs typeface="Roboto"/>
                <a:sym typeface="Roboto"/>
              </a:endParaRPr>
            </a:p>
          </p:txBody>
        </p:sp>
        <p:sp>
          <p:nvSpPr>
            <p:cNvPr id="691" name="Google Shape;691;p31"/>
            <p:cNvSpPr txBox="1"/>
            <p:nvPr/>
          </p:nvSpPr>
          <p:spPr>
            <a:xfrm>
              <a:off x="3417475" y="1888112"/>
              <a:ext cx="22410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ImageDataGenerator : streaming (séquentiel)</a:t>
              </a:r>
              <a:endParaRPr sz="700">
                <a:solidFill>
                  <a:schemeClr val="dk1"/>
                </a:solidFill>
                <a:latin typeface="Roboto"/>
                <a:ea typeface="Roboto"/>
                <a:cs typeface="Roboto"/>
                <a:sym typeface="Roboto"/>
              </a:endParaRPr>
            </a:p>
          </p:txBody>
        </p:sp>
      </p:grpSp>
      <p:grpSp>
        <p:nvGrpSpPr>
          <p:cNvPr id="692" name="Google Shape;692;p31"/>
          <p:cNvGrpSpPr/>
          <p:nvPr/>
        </p:nvGrpSpPr>
        <p:grpSpPr>
          <a:xfrm>
            <a:off x="1063923" y="2085224"/>
            <a:ext cx="1670700" cy="482534"/>
            <a:chOff x="3417475" y="2117768"/>
            <a:chExt cx="1670700" cy="482534"/>
          </a:xfrm>
        </p:grpSpPr>
        <p:sp>
          <p:nvSpPr>
            <p:cNvPr id="693" name="Google Shape;693;p31"/>
            <p:cNvSpPr txBox="1"/>
            <p:nvPr/>
          </p:nvSpPr>
          <p:spPr>
            <a:xfrm>
              <a:off x="3417475" y="21177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Prétraitement</a:t>
              </a:r>
              <a:endParaRPr b="1" sz="1100">
                <a:solidFill>
                  <a:srgbClr val="858585"/>
                </a:solidFill>
                <a:latin typeface="Roboto"/>
                <a:ea typeface="Roboto"/>
                <a:cs typeface="Roboto"/>
                <a:sym typeface="Roboto"/>
              </a:endParaRPr>
            </a:p>
          </p:txBody>
        </p:sp>
        <p:sp>
          <p:nvSpPr>
            <p:cNvPr id="694" name="Google Shape;694;p31"/>
            <p:cNvSpPr txBox="1"/>
            <p:nvPr/>
          </p:nvSpPr>
          <p:spPr>
            <a:xfrm>
              <a:off x="3417475" y="2324303"/>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Resize &amp; normalisation</a:t>
              </a:r>
              <a:endParaRPr sz="700">
                <a:solidFill>
                  <a:srgbClr val="858585"/>
                </a:solidFill>
                <a:latin typeface="Roboto"/>
                <a:ea typeface="Roboto"/>
                <a:cs typeface="Roboto"/>
                <a:sym typeface="Roboto"/>
              </a:endParaRPr>
            </a:p>
          </p:txBody>
        </p:sp>
      </p:grpSp>
      <p:grpSp>
        <p:nvGrpSpPr>
          <p:cNvPr id="695" name="Google Shape;695;p31"/>
          <p:cNvGrpSpPr/>
          <p:nvPr/>
        </p:nvGrpSpPr>
        <p:grpSpPr>
          <a:xfrm>
            <a:off x="1063923" y="2552768"/>
            <a:ext cx="1823700" cy="483266"/>
            <a:chOff x="3417475" y="2585313"/>
            <a:chExt cx="1823700" cy="483266"/>
          </a:xfrm>
        </p:grpSpPr>
        <p:sp>
          <p:nvSpPr>
            <p:cNvPr id="696" name="Google Shape;696;p31"/>
            <p:cNvSpPr txBox="1"/>
            <p:nvPr/>
          </p:nvSpPr>
          <p:spPr>
            <a:xfrm>
              <a:off x="3417475" y="2585313"/>
              <a:ext cx="1823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Data augmentation </a:t>
              </a:r>
              <a:r>
                <a:rPr lang="fr" sz="1050">
                  <a:solidFill>
                    <a:schemeClr val="dk1"/>
                  </a:solidFill>
                </a:rPr>
                <a:t>🧬</a:t>
              </a:r>
              <a:endParaRPr b="1" sz="1100">
                <a:solidFill>
                  <a:schemeClr val="dk1"/>
                </a:solidFill>
                <a:latin typeface="Roboto"/>
                <a:ea typeface="Roboto"/>
                <a:cs typeface="Roboto"/>
                <a:sym typeface="Roboto"/>
              </a:endParaRPr>
            </a:p>
          </p:txBody>
        </p:sp>
        <p:sp>
          <p:nvSpPr>
            <p:cNvPr id="697" name="Google Shape;697;p31"/>
            <p:cNvSpPr txBox="1"/>
            <p:nvPr/>
          </p:nvSpPr>
          <p:spPr>
            <a:xfrm>
              <a:off x="3417475" y="279257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Placée dans le modèle</a:t>
              </a:r>
              <a:endParaRPr sz="700">
                <a:solidFill>
                  <a:schemeClr val="dk1"/>
                </a:solidFill>
                <a:latin typeface="Roboto"/>
                <a:ea typeface="Roboto"/>
                <a:cs typeface="Roboto"/>
                <a:sym typeface="Roboto"/>
              </a:endParaRPr>
            </a:p>
          </p:txBody>
        </p:sp>
      </p:grpSp>
      <p:grpSp>
        <p:nvGrpSpPr>
          <p:cNvPr id="698" name="Google Shape;698;p31"/>
          <p:cNvGrpSpPr/>
          <p:nvPr/>
        </p:nvGrpSpPr>
        <p:grpSpPr>
          <a:xfrm>
            <a:off x="1063923" y="3020324"/>
            <a:ext cx="1670700" cy="484004"/>
            <a:chOff x="3417475" y="3052868"/>
            <a:chExt cx="1670700" cy="484004"/>
          </a:xfrm>
        </p:grpSpPr>
        <p:sp>
          <p:nvSpPr>
            <p:cNvPr id="699" name="Google Shape;699;p31"/>
            <p:cNvSpPr txBox="1"/>
            <p:nvPr/>
          </p:nvSpPr>
          <p:spPr>
            <a:xfrm>
              <a:off x="3417475" y="30528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Feature extraction</a:t>
              </a:r>
              <a:endParaRPr b="1" sz="1100">
                <a:solidFill>
                  <a:srgbClr val="858585"/>
                </a:solidFill>
                <a:latin typeface="Roboto"/>
                <a:ea typeface="Roboto"/>
                <a:cs typeface="Roboto"/>
                <a:sym typeface="Roboto"/>
              </a:endParaRPr>
            </a:p>
          </p:txBody>
        </p:sp>
        <p:sp>
          <p:nvSpPr>
            <p:cNvPr id="700" name="Google Shape;700;p31"/>
            <p:cNvSpPr txBox="1"/>
            <p:nvPr/>
          </p:nvSpPr>
          <p:spPr>
            <a:xfrm>
              <a:off x="3417475" y="3260872"/>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CNN VGG16 gelé</a:t>
              </a:r>
              <a:endParaRPr sz="700">
                <a:solidFill>
                  <a:srgbClr val="858585"/>
                </a:solidFill>
                <a:latin typeface="Roboto"/>
                <a:ea typeface="Roboto"/>
                <a:cs typeface="Roboto"/>
                <a:sym typeface="Roboto"/>
              </a:endParaRPr>
            </a:p>
          </p:txBody>
        </p:sp>
      </p:grpSp>
      <p:grpSp>
        <p:nvGrpSpPr>
          <p:cNvPr id="701" name="Google Shape;701;p31"/>
          <p:cNvGrpSpPr/>
          <p:nvPr/>
        </p:nvGrpSpPr>
        <p:grpSpPr>
          <a:xfrm>
            <a:off x="1063923" y="3487874"/>
            <a:ext cx="1670700" cy="484730"/>
            <a:chOff x="3417475" y="3520418"/>
            <a:chExt cx="1670700" cy="484730"/>
          </a:xfrm>
        </p:grpSpPr>
        <p:sp>
          <p:nvSpPr>
            <p:cNvPr id="702" name="Google Shape;702;p31"/>
            <p:cNvSpPr txBox="1"/>
            <p:nvPr/>
          </p:nvSpPr>
          <p:spPr>
            <a:xfrm>
              <a:off x="3417475" y="352041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chemeClr val="dk1"/>
                  </a:solidFill>
                  <a:latin typeface="Roboto"/>
                  <a:ea typeface="Roboto"/>
                  <a:cs typeface="Roboto"/>
                  <a:sym typeface="Roboto"/>
                </a:rPr>
                <a:t>Réduction</a:t>
              </a:r>
              <a:endParaRPr b="1" sz="1100">
                <a:solidFill>
                  <a:schemeClr val="dk1"/>
                </a:solidFill>
                <a:latin typeface="Roboto"/>
                <a:ea typeface="Roboto"/>
                <a:cs typeface="Roboto"/>
                <a:sym typeface="Roboto"/>
              </a:endParaRPr>
            </a:p>
          </p:txBody>
        </p:sp>
        <p:sp>
          <p:nvSpPr>
            <p:cNvPr id="703" name="Google Shape;703;p31"/>
            <p:cNvSpPr txBox="1"/>
            <p:nvPr/>
          </p:nvSpPr>
          <p:spPr>
            <a:xfrm>
              <a:off x="3417475" y="372914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chemeClr val="dk1"/>
                  </a:solidFill>
                  <a:latin typeface="Roboto"/>
                  <a:ea typeface="Roboto"/>
                  <a:cs typeface="Roboto"/>
                  <a:sym typeface="Roboto"/>
                </a:rPr>
                <a:t>GAP</a:t>
              </a:r>
              <a:endParaRPr sz="700">
                <a:solidFill>
                  <a:schemeClr val="dk1"/>
                </a:solidFill>
                <a:latin typeface="Roboto"/>
                <a:ea typeface="Roboto"/>
                <a:cs typeface="Roboto"/>
                <a:sym typeface="Roboto"/>
              </a:endParaRPr>
            </a:p>
          </p:txBody>
        </p:sp>
      </p:grpSp>
      <p:grpSp>
        <p:nvGrpSpPr>
          <p:cNvPr id="704" name="Google Shape;704;p31"/>
          <p:cNvGrpSpPr/>
          <p:nvPr/>
        </p:nvGrpSpPr>
        <p:grpSpPr>
          <a:xfrm>
            <a:off x="1063923" y="3955424"/>
            <a:ext cx="1670700" cy="485456"/>
            <a:chOff x="3417475" y="3987968"/>
            <a:chExt cx="1670700" cy="485456"/>
          </a:xfrm>
        </p:grpSpPr>
        <p:sp>
          <p:nvSpPr>
            <p:cNvPr id="705" name="Google Shape;705;p31"/>
            <p:cNvSpPr txBox="1"/>
            <p:nvPr/>
          </p:nvSpPr>
          <p:spPr>
            <a:xfrm>
              <a:off x="3417475" y="3987968"/>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1100">
                  <a:solidFill>
                    <a:srgbClr val="858585"/>
                  </a:solidFill>
                  <a:latin typeface="Roboto"/>
                  <a:ea typeface="Roboto"/>
                  <a:cs typeface="Roboto"/>
                  <a:sym typeface="Roboto"/>
                </a:rPr>
                <a:t>Classification</a:t>
              </a:r>
              <a:endParaRPr b="1" sz="1100">
                <a:solidFill>
                  <a:srgbClr val="858585"/>
                </a:solidFill>
                <a:latin typeface="Roboto"/>
                <a:ea typeface="Roboto"/>
                <a:cs typeface="Roboto"/>
                <a:sym typeface="Roboto"/>
              </a:endParaRPr>
            </a:p>
          </p:txBody>
        </p:sp>
        <p:sp>
          <p:nvSpPr>
            <p:cNvPr id="706" name="Google Shape;706;p31"/>
            <p:cNvSpPr txBox="1"/>
            <p:nvPr/>
          </p:nvSpPr>
          <p:spPr>
            <a:xfrm>
              <a:off x="3417475" y="4197424"/>
              <a:ext cx="16707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700">
                  <a:solidFill>
                    <a:srgbClr val="858585"/>
                  </a:solidFill>
                  <a:latin typeface="Roboto"/>
                  <a:ea typeface="Roboto"/>
                  <a:cs typeface="Roboto"/>
                  <a:sym typeface="Roboto"/>
                </a:rPr>
                <a:t>Tête personnalisée : Dense + softmax</a:t>
              </a:r>
              <a:endParaRPr sz="700">
                <a:solidFill>
                  <a:srgbClr val="858585"/>
                </a:solidFill>
                <a:latin typeface="Roboto"/>
                <a:ea typeface="Roboto"/>
                <a:cs typeface="Roboto"/>
                <a:sym typeface="Roboto"/>
              </a:endParaRPr>
            </a:p>
          </p:txBody>
        </p:sp>
      </p:grpSp>
      <p:grpSp>
        <p:nvGrpSpPr>
          <p:cNvPr id="707" name="Google Shape;707;p31"/>
          <p:cNvGrpSpPr/>
          <p:nvPr/>
        </p:nvGrpSpPr>
        <p:grpSpPr>
          <a:xfrm>
            <a:off x="725621" y="1182675"/>
            <a:ext cx="133501" cy="3960950"/>
            <a:chOff x="3024100" y="1182675"/>
            <a:chExt cx="133501" cy="3960950"/>
          </a:xfrm>
        </p:grpSpPr>
        <p:sp>
          <p:nvSpPr>
            <p:cNvPr id="708" name="Google Shape;708;p31"/>
            <p:cNvSpPr/>
            <p:nvPr/>
          </p:nvSpPr>
          <p:spPr>
            <a:xfrm>
              <a:off x="3024101" y="1182675"/>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1"/>
            <p:cNvSpPr/>
            <p:nvPr/>
          </p:nvSpPr>
          <p:spPr>
            <a:xfrm>
              <a:off x="3024101" y="1652782"/>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1"/>
            <p:cNvSpPr/>
            <p:nvPr/>
          </p:nvSpPr>
          <p:spPr>
            <a:xfrm>
              <a:off x="3024101" y="4003318"/>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p:nvPr/>
          </p:nvSpPr>
          <p:spPr>
            <a:xfrm>
              <a:off x="3024101" y="3063103"/>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1"/>
            <p:cNvSpPr/>
            <p:nvPr/>
          </p:nvSpPr>
          <p:spPr>
            <a:xfrm>
              <a:off x="3024101" y="2122889"/>
              <a:ext cx="133500" cy="467400"/>
            </a:xfrm>
            <a:prstGeom prst="rect">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1"/>
            <p:cNvSpPr/>
            <p:nvPr/>
          </p:nvSpPr>
          <p:spPr>
            <a:xfrm>
              <a:off x="3024100" y="4473425"/>
              <a:ext cx="133500" cy="670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1"/>
            <p:cNvSpPr/>
            <p:nvPr/>
          </p:nvSpPr>
          <p:spPr>
            <a:xfrm>
              <a:off x="3024101" y="3533211"/>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1"/>
            <p:cNvSpPr/>
            <p:nvPr/>
          </p:nvSpPr>
          <p:spPr>
            <a:xfrm>
              <a:off x="3024101" y="2592996"/>
              <a:ext cx="133500" cy="467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16" name="Google Shape;716;p31"/>
          <p:cNvCxnSpPr/>
          <p:nvPr/>
        </p:nvCxnSpPr>
        <p:spPr>
          <a:xfrm rot="10800000">
            <a:off x="527471" y="4004708"/>
            <a:ext cx="529800" cy="0"/>
          </a:xfrm>
          <a:prstGeom prst="straightConnector1">
            <a:avLst/>
          </a:prstGeom>
          <a:noFill/>
          <a:ln cap="flat" cmpd="sng" w="9525">
            <a:solidFill>
              <a:srgbClr val="C2C2C2"/>
            </a:solidFill>
            <a:prstDash val="solid"/>
            <a:round/>
            <a:headEnd len="sm" w="sm" type="none"/>
            <a:tailEnd len="sm" w="sm" type="none"/>
          </a:ln>
        </p:spPr>
      </p:cxnSp>
      <p:cxnSp>
        <p:nvCxnSpPr>
          <p:cNvPr id="717" name="Google Shape;717;p31"/>
          <p:cNvCxnSpPr/>
          <p:nvPr/>
        </p:nvCxnSpPr>
        <p:spPr>
          <a:xfrm rot="10800000">
            <a:off x="527471" y="3536433"/>
            <a:ext cx="529800" cy="0"/>
          </a:xfrm>
          <a:prstGeom prst="straightConnector1">
            <a:avLst/>
          </a:prstGeom>
          <a:noFill/>
          <a:ln cap="flat" cmpd="sng" w="9525">
            <a:solidFill>
              <a:schemeClr val="dk1"/>
            </a:solidFill>
            <a:prstDash val="solid"/>
            <a:round/>
            <a:headEnd len="sm" w="sm" type="none"/>
            <a:tailEnd len="sm" w="sm" type="none"/>
          </a:ln>
        </p:spPr>
      </p:cxnSp>
      <p:cxnSp>
        <p:nvCxnSpPr>
          <p:cNvPr id="718" name="Google Shape;718;p31"/>
          <p:cNvCxnSpPr/>
          <p:nvPr/>
        </p:nvCxnSpPr>
        <p:spPr>
          <a:xfrm rot="10800000">
            <a:off x="527471" y="3058108"/>
            <a:ext cx="529800" cy="0"/>
          </a:xfrm>
          <a:prstGeom prst="straightConnector1">
            <a:avLst/>
          </a:prstGeom>
          <a:noFill/>
          <a:ln cap="flat" cmpd="sng" w="9525">
            <a:solidFill>
              <a:srgbClr val="C2C2C2"/>
            </a:solidFill>
            <a:prstDash val="solid"/>
            <a:round/>
            <a:headEnd len="sm" w="sm" type="none"/>
            <a:tailEnd len="sm" w="sm" type="none"/>
          </a:ln>
        </p:spPr>
      </p:cxnSp>
      <p:cxnSp>
        <p:nvCxnSpPr>
          <p:cNvPr id="719" name="Google Shape;719;p31"/>
          <p:cNvCxnSpPr/>
          <p:nvPr/>
        </p:nvCxnSpPr>
        <p:spPr>
          <a:xfrm rot="10800000">
            <a:off x="527471" y="2588233"/>
            <a:ext cx="529800" cy="0"/>
          </a:xfrm>
          <a:prstGeom prst="straightConnector1">
            <a:avLst/>
          </a:prstGeom>
          <a:noFill/>
          <a:ln cap="flat" cmpd="sng" w="9525">
            <a:solidFill>
              <a:schemeClr val="dk1"/>
            </a:solidFill>
            <a:prstDash val="solid"/>
            <a:round/>
            <a:headEnd len="sm" w="sm" type="none"/>
            <a:tailEnd len="sm" w="sm" type="none"/>
          </a:ln>
        </p:spPr>
      </p:cxnSp>
      <p:cxnSp>
        <p:nvCxnSpPr>
          <p:cNvPr id="720" name="Google Shape;720;p31"/>
          <p:cNvCxnSpPr/>
          <p:nvPr/>
        </p:nvCxnSpPr>
        <p:spPr>
          <a:xfrm rot="10800000">
            <a:off x="527471" y="2121533"/>
            <a:ext cx="529800" cy="0"/>
          </a:xfrm>
          <a:prstGeom prst="straightConnector1">
            <a:avLst/>
          </a:prstGeom>
          <a:noFill/>
          <a:ln cap="flat" cmpd="sng" w="9525">
            <a:solidFill>
              <a:srgbClr val="C2C2C2"/>
            </a:solidFill>
            <a:prstDash val="solid"/>
            <a:round/>
            <a:headEnd len="sm" w="sm" type="none"/>
            <a:tailEnd len="sm" w="sm" type="none"/>
          </a:ln>
        </p:spPr>
      </p:cxnSp>
      <p:cxnSp>
        <p:nvCxnSpPr>
          <p:cNvPr id="721" name="Google Shape;721;p31"/>
          <p:cNvCxnSpPr/>
          <p:nvPr/>
        </p:nvCxnSpPr>
        <p:spPr>
          <a:xfrm rot="10800000">
            <a:off x="527471" y="1650436"/>
            <a:ext cx="529800" cy="0"/>
          </a:xfrm>
          <a:prstGeom prst="straightConnector1">
            <a:avLst/>
          </a:prstGeom>
          <a:noFill/>
          <a:ln cap="flat" cmpd="sng" w="9525">
            <a:solidFill>
              <a:schemeClr val="dk1"/>
            </a:solidFill>
            <a:prstDash val="solid"/>
            <a:round/>
            <a:headEnd len="sm" w="sm" type="none"/>
            <a:tailEnd len="sm" w="sm" type="none"/>
          </a:ln>
        </p:spPr>
      </p:cxnSp>
      <p:sp>
        <p:nvSpPr>
          <p:cNvPr id="722" name="Google Shape;722;p31"/>
          <p:cNvSpPr txBox="1"/>
          <p:nvPr/>
        </p:nvSpPr>
        <p:spPr>
          <a:xfrm>
            <a:off x="81991" y="35376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6</a:t>
            </a:r>
            <a:endParaRPr b="1" sz="1200">
              <a:solidFill>
                <a:schemeClr val="dk1"/>
              </a:solidFill>
              <a:latin typeface="Roboto"/>
              <a:ea typeface="Roboto"/>
              <a:cs typeface="Roboto"/>
              <a:sym typeface="Roboto"/>
            </a:endParaRPr>
          </a:p>
        </p:txBody>
      </p:sp>
      <p:sp>
        <p:nvSpPr>
          <p:cNvPr id="723" name="Google Shape;723;p31"/>
          <p:cNvSpPr txBox="1"/>
          <p:nvPr/>
        </p:nvSpPr>
        <p:spPr>
          <a:xfrm>
            <a:off x="79128" y="4479375"/>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chemeClr val="dk1"/>
                </a:solidFill>
                <a:latin typeface="Roboto"/>
                <a:ea typeface="Roboto"/>
                <a:cs typeface="Roboto"/>
                <a:sym typeface="Roboto"/>
              </a:rPr>
              <a:t>8</a:t>
            </a:r>
            <a:endParaRPr b="1" sz="1200">
              <a:solidFill>
                <a:schemeClr val="dk1"/>
              </a:solidFill>
              <a:latin typeface="Roboto"/>
              <a:ea typeface="Roboto"/>
              <a:cs typeface="Roboto"/>
              <a:sym typeface="Roboto"/>
            </a:endParaRPr>
          </a:p>
        </p:txBody>
      </p:sp>
      <p:sp>
        <p:nvSpPr>
          <p:cNvPr id="724" name="Google Shape;724;p31"/>
          <p:cNvSpPr txBox="1"/>
          <p:nvPr/>
        </p:nvSpPr>
        <p:spPr>
          <a:xfrm>
            <a:off x="79838" y="4013050"/>
            <a:ext cx="450900" cy="3468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1200">
                <a:solidFill>
                  <a:srgbClr val="858585"/>
                </a:solidFill>
                <a:latin typeface="Roboto"/>
                <a:ea typeface="Roboto"/>
                <a:cs typeface="Roboto"/>
                <a:sym typeface="Roboto"/>
              </a:rPr>
              <a:t>7</a:t>
            </a:r>
            <a:endParaRPr b="1" sz="1200">
              <a:solidFill>
                <a:srgbClr val="858585"/>
              </a:solidFill>
              <a:latin typeface="Roboto"/>
              <a:ea typeface="Roboto"/>
              <a:cs typeface="Roboto"/>
              <a:sym typeface="Roboto"/>
            </a:endParaRPr>
          </a:p>
        </p:txBody>
      </p:sp>
      <p:pic>
        <p:nvPicPr>
          <p:cNvPr id="725" name="Google Shape;725;p31" title="Image2.png"/>
          <p:cNvPicPr preferRelativeResize="0"/>
          <p:nvPr/>
        </p:nvPicPr>
        <p:blipFill>
          <a:blip r:embed="rId3">
            <a:alphaModFix/>
          </a:blip>
          <a:stretch>
            <a:fillRect/>
          </a:stretch>
        </p:blipFill>
        <p:spPr>
          <a:xfrm>
            <a:off x="186452" y="1740547"/>
            <a:ext cx="159200" cy="159200"/>
          </a:xfrm>
          <a:prstGeom prst="rect">
            <a:avLst/>
          </a:prstGeom>
          <a:noFill/>
          <a:ln>
            <a:noFill/>
          </a:ln>
        </p:spPr>
      </p:pic>
      <p:pic>
        <p:nvPicPr>
          <p:cNvPr id="726" name="Google Shape;726;p31" title="Image2.png"/>
          <p:cNvPicPr preferRelativeResize="0"/>
          <p:nvPr/>
        </p:nvPicPr>
        <p:blipFill>
          <a:blip r:embed="rId3">
            <a:alphaModFix/>
          </a:blip>
          <a:stretch>
            <a:fillRect/>
          </a:stretch>
        </p:blipFill>
        <p:spPr>
          <a:xfrm>
            <a:off x="195813" y="2694297"/>
            <a:ext cx="159200" cy="159200"/>
          </a:xfrm>
          <a:prstGeom prst="rect">
            <a:avLst/>
          </a:prstGeom>
          <a:noFill/>
          <a:ln>
            <a:noFill/>
          </a:ln>
        </p:spPr>
      </p:pic>
      <p:graphicFrame>
        <p:nvGraphicFramePr>
          <p:cNvPr id="727" name="Google Shape;727;p31"/>
          <p:cNvGraphicFramePr/>
          <p:nvPr/>
        </p:nvGraphicFramePr>
        <p:xfrm>
          <a:off x="3843025" y="1602575"/>
          <a:ext cx="3000000" cy="3000000"/>
        </p:xfrm>
        <a:graphic>
          <a:graphicData uri="http://schemas.openxmlformats.org/drawingml/2006/table">
            <a:tbl>
              <a:tblPr>
                <a:noFill/>
                <a:tableStyleId>{D5246A32-94BD-469A-8FF0-07B5B3C936EE}</a:tableStyleId>
              </a:tblPr>
              <a:tblGrid>
                <a:gridCol w="568850"/>
                <a:gridCol w="513550"/>
              </a:tblGrid>
              <a:tr h="21972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Accuracy</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0.81</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211275">
                <a:tc>
                  <a:txBody>
                    <a:bodyPr/>
                    <a:lstStyle/>
                    <a:p>
                      <a:pPr indent="0" lvl="0" marL="0" rtl="0" algn="ctr">
                        <a:spcBef>
                          <a:spcPts val="0"/>
                        </a:spcBef>
                        <a:spcAft>
                          <a:spcPts val="0"/>
                        </a:spcAft>
                        <a:buNone/>
                      </a:pPr>
                      <a:r>
                        <a:rPr b="1" lang="fr" sz="800">
                          <a:solidFill>
                            <a:schemeClr val="lt1"/>
                          </a:solidFill>
                          <a:latin typeface="Calibri"/>
                          <a:ea typeface="Calibri"/>
                          <a:cs typeface="Calibri"/>
                          <a:sym typeface="Calibri"/>
                        </a:rPr>
                        <a:t>Loss</a:t>
                      </a:r>
                      <a:endParaRPr b="1" sz="800">
                        <a:solidFill>
                          <a:schemeClr val="lt1"/>
                        </a:solidFill>
                        <a:latin typeface="Calibri"/>
                        <a:ea typeface="Calibri"/>
                        <a:cs typeface="Calibri"/>
                        <a:sym typeface="Calibri"/>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fr" sz="800">
                          <a:solidFill>
                            <a:schemeClr val="lt1"/>
                          </a:solidFill>
                        </a:rPr>
                        <a:t>0.69</a:t>
                      </a:r>
                      <a:endParaRPr b="1" sz="800">
                        <a:solidFill>
                          <a:schemeClr val="lt1"/>
                        </a:solidFill>
                      </a:endParaRPr>
                    </a:p>
                  </a:txBody>
                  <a:tcPr marT="18000" marB="18000" marR="18000" marL="180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bl>
          </a:graphicData>
        </a:graphic>
      </p:graphicFrame>
      <p:sp>
        <p:nvSpPr>
          <p:cNvPr id="728" name="Google Shape;728;p31"/>
          <p:cNvSpPr txBox="1"/>
          <p:nvPr/>
        </p:nvSpPr>
        <p:spPr>
          <a:xfrm>
            <a:off x="6134875" y="2694300"/>
            <a:ext cx="2697300" cy="2284500"/>
          </a:xfrm>
          <a:prstGeom prst="rect">
            <a:avLst/>
          </a:prstGeom>
          <a:noFill/>
          <a:ln>
            <a:noFill/>
          </a:ln>
        </p:spPr>
        <p:txBody>
          <a:bodyPr anchorCtr="0" anchor="ctr" bIns="91425" lIns="91425" spcFirstLastPara="1" rIns="91425" wrap="square" tIns="91425">
            <a:noAutofit/>
          </a:bodyPr>
          <a:lstStyle/>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Régularisation directe dans le modèle</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Réduction de l’overfitting</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Apprentissage plus homogène</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Variabilité contrôlée (moins de bruit que générateur)</a:t>
            </a:r>
            <a:endParaRPr sz="900">
              <a:solidFill>
                <a:schemeClr val="lt2"/>
              </a:solidFill>
              <a:latin typeface="Roboto"/>
              <a:ea typeface="Roboto"/>
              <a:cs typeface="Roboto"/>
              <a:sym typeface="Roboto"/>
            </a:endParaRPr>
          </a:p>
          <a:p>
            <a:pPr indent="-285750" lvl="0" marL="457200" rtl="0" algn="l">
              <a:spcBef>
                <a:spcPts val="0"/>
              </a:spcBef>
              <a:spcAft>
                <a:spcPts val="0"/>
              </a:spcAft>
              <a:buClr>
                <a:schemeClr val="lt2"/>
              </a:buClr>
              <a:buSzPts val="900"/>
              <a:buFont typeface="Roboto"/>
              <a:buChar char="➔"/>
            </a:pPr>
            <a:r>
              <a:rPr lang="fr" sz="900">
                <a:solidFill>
                  <a:schemeClr val="lt2"/>
                </a:solidFill>
                <a:latin typeface="Roboto"/>
                <a:ea typeface="Roboto"/>
                <a:cs typeface="Roboto"/>
                <a:sym typeface="Roboto"/>
              </a:rPr>
              <a:t>Bon équilibre stabilité / performance</a:t>
            </a:r>
            <a:endParaRPr sz="900">
              <a:solidFill>
                <a:schemeClr val="lt2"/>
              </a:solidFill>
              <a:latin typeface="Roboto"/>
              <a:ea typeface="Roboto"/>
              <a:cs typeface="Roboto"/>
              <a:sym typeface="Roboto"/>
            </a:endParaRPr>
          </a:p>
        </p:txBody>
      </p:sp>
      <p:pic>
        <p:nvPicPr>
          <p:cNvPr id="729" name="Google Shape;729;p31"/>
          <p:cNvPicPr preferRelativeResize="0"/>
          <p:nvPr/>
        </p:nvPicPr>
        <p:blipFill>
          <a:blip r:embed="rId4">
            <a:alphaModFix/>
          </a:blip>
          <a:stretch>
            <a:fillRect/>
          </a:stretch>
        </p:blipFill>
        <p:spPr>
          <a:xfrm>
            <a:off x="5222775" y="1107741"/>
            <a:ext cx="3609401" cy="1420688"/>
          </a:xfrm>
          <a:prstGeom prst="rect">
            <a:avLst/>
          </a:prstGeom>
          <a:noFill/>
          <a:ln>
            <a:noFill/>
          </a:ln>
        </p:spPr>
      </p:pic>
      <p:pic>
        <p:nvPicPr>
          <p:cNvPr id="730" name="Google Shape;730;p31"/>
          <p:cNvPicPr preferRelativeResize="0"/>
          <p:nvPr/>
        </p:nvPicPr>
        <p:blipFill>
          <a:blip r:embed="rId5">
            <a:alphaModFix/>
          </a:blip>
          <a:stretch>
            <a:fillRect/>
          </a:stretch>
        </p:blipFill>
        <p:spPr>
          <a:xfrm>
            <a:off x="3189128" y="2567759"/>
            <a:ext cx="2810701" cy="242851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32"/>
          <p:cNvSpPr/>
          <p:nvPr/>
        </p:nvSpPr>
        <p:spPr>
          <a:xfrm>
            <a:off x="97750" y="87450"/>
            <a:ext cx="4414500" cy="496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6" name="Google Shape;736;p32"/>
          <p:cNvSpPr txBox="1"/>
          <p:nvPr>
            <p:ph idx="4294967295" type="title"/>
          </p:nvPr>
        </p:nvSpPr>
        <p:spPr>
          <a:xfrm>
            <a:off x="311700" y="526350"/>
            <a:ext cx="4136100" cy="89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chemeClr val="lt1"/>
                </a:solidFill>
              </a:rPr>
              <a:t>MEILLEUR MODÈLE</a:t>
            </a:r>
            <a:endParaRPr>
              <a:solidFill>
                <a:schemeClr val="lt1"/>
              </a:solidFill>
            </a:endParaRPr>
          </a:p>
        </p:txBody>
      </p:sp>
      <p:sp>
        <p:nvSpPr>
          <p:cNvPr id="737" name="Google Shape;737;p32"/>
          <p:cNvSpPr txBox="1"/>
          <p:nvPr/>
        </p:nvSpPr>
        <p:spPr>
          <a:xfrm>
            <a:off x="233400" y="1384900"/>
            <a:ext cx="3968700" cy="3588600"/>
          </a:xfrm>
          <a:prstGeom prst="rect">
            <a:avLst/>
          </a:prstGeom>
          <a:noFill/>
          <a:ln>
            <a:noFill/>
          </a:ln>
        </p:spPr>
        <p:txBody>
          <a:bodyPr anchorCtr="0" anchor="t" bIns="0" lIns="0" spcFirstLastPara="1" rIns="0" wrap="square" tIns="0">
            <a:noAutofit/>
          </a:bodyPr>
          <a:lstStyle/>
          <a:p>
            <a:pPr indent="-279400" lvl="0" marL="4572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Performances globalement élevées pour tous les modèles (&gt;77%) </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Dataset intrinsèquement riche et exploitable (signal fort même sans augmentation) </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Les techniques d’augmentation/apprentissage n’apportent pas de gain significatif </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Les différences se jouent davantage sur : </a:t>
            </a:r>
            <a:endParaRPr sz="800">
              <a:solidFill>
                <a:schemeClr val="lt1"/>
              </a:solidFill>
              <a:latin typeface="Roboto"/>
              <a:ea typeface="Roboto"/>
              <a:cs typeface="Roboto"/>
              <a:sym typeface="Roboto"/>
            </a:endParaRPr>
          </a:p>
          <a:p>
            <a:pPr indent="-279400" lvl="1" marL="9144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généralisation </a:t>
            </a:r>
            <a:endParaRPr sz="800">
              <a:solidFill>
                <a:schemeClr val="lt1"/>
              </a:solidFill>
              <a:latin typeface="Roboto"/>
              <a:ea typeface="Roboto"/>
              <a:cs typeface="Roboto"/>
              <a:sym typeface="Roboto"/>
            </a:endParaRPr>
          </a:p>
          <a:p>
            <a:pPr indent="-279400" lvl="1" marL="9144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stabilité </a:t>
            </a:r>
            <a:endParaRPr sz="800">
              <a:solidFill>
                <a:schemeClr val="lt1"/>
              </a:solidFill>
              <a:latin typeface="Roboto"/>
              <a:ea typeface="Roboto"/>
              <a:cs typeface="Roboto"/>
              <a:sym typeface="Roboto"/>
            </a:endParaRPr>
          </a:p>
          <a:p>
            <a:pPr indent="-279400" lvl="1" marL="9144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robustesse </a:t>
            </a:r>
            <a:endParaRPr sz="800">
              <a:solidFill>
                <a:schemeClr val="lt1"/>
              </a:solidFill>
              <a:latin typeface="Roboto"/>
              <a:ea typeface="Roboto"/>
              <a:cs typeface="Roboto"/>
              <a:sym typeface="Roboto"/>
            </a:endParaRPr>
          </a:p>
          <a:p>
            <a:pPr indent="-279400" lvl="1" marL="914400" rtl="0" algn="just">
              <a:lnSpc>
                <a:spcPct val="115000"/>
              </a:lnSpc>
              <a:spcBef>
                <a:spcPts val="0"/>
              </a:spcBef>
              <a:spcAft>
                <a:spcPts val="0"/>
              </a:spcAft>
              <a:buClr>
                <a:schemeClr val="lt1"/>
              </a:buClr>
              <a:buSzPts val="800"/>
              <a:buFont typeface="Roboto"/>
              <a:buChar char="○"/>
            </a:pPr>
            <a:r>
              <a:rPr lang="fr" sz="800">
                <a:solidFill>
                  <a:schemeClr val="lt1"/>
                </a:solidFill>
                <a:latin typeface="Roboto"/>
                <a:ea typeface="Roboto"/>
                <a:cs typeface="Roboto"/>
                <a:sym typeface="Roboto"/>
              </a:rPr>
              <a:t>métier </a:t>
            </a:r>
            <a:endParaRPr sz="800">
              <a:solidFill>
                <a:schemeClr val="lt1"/>
              </a:solidFill>
              <a:latin typeface="Roboto"/>
              <a:ea typeface="Roboto"/>
              <a:cs typeface="Roboto"/>
              <a:sym typeface="Roboto"/>
            </a:endParaRPr>
          </a:p>
          <a:p>
            <a:pPr indent="0" lvl="0" marL="0" rtl="0" algn="just">
              <a:lnSpc>
                <a:spcPct val="115000"/>
              </a:lnSpc>
              <a:spcBef>
                <a:spcPts val="0"/>
              </a:spcBef>
              <a:spcAft>
                <a:spcPts val="0"/>
              </a:spcAft>
              <a:buNone/>
            </a:pPr>
            <a:r>
              <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b="1" lang="fr" sz="800">
                <a:solidFill>
                  <a:schemeClr val="lt1"/>
                </a:solidFill>
                <a:latin typeface="Roboto"/>
                <a:ea typeface="Roboto"/>
                <a:cs typeface="Roboto"/>
                <a:sym typeface="Roboto"/>
              </a:rPr>
              <a:t>Baseline </a:t>
            </a:r>
            <a:r>
              <a:rPr lang="fr" sz="800">
                <a:solidFill>
                  <a:schemeClr val="lt1"/>
                </a:solidFill>
                <a:latin typeface="Roboto"/>
                <a:ea typeface="Roboto"/>
                <a:cs typeface="Roboto"/>
                <a:sym typeface="Roboto"/>
              </a:rPr>
              <a:t>: modèle très performant avec une excellente capacité d’apprentissage, mais sensible à l’overfitting</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b="1" lang="fr" sz="800">
                <a:solidFill>
                  <a:schemeClr val="lt1"/>
                </a:solidFill>
                <a:latin typeface="Roboto"/>
                <a:ea typeface="Roboto"/>
                <a:cs typeface="Roboto"/>
                <a:sym typeface="Roboto"/>
              </a:rPr>
              <a:t>Data Augmentation</a:t>
            </a:r>
            <a:r>
              <a:rPr lang="fr" sz="800">
                <a:solidFill>
                  <a:schemeClr val="lt1"/>
                </a:solidFill>
                <a:latin typeface="Roboto"/>
                <a:ea typeface="Roboto"/>
                <a:cs typeface="Roboto"/>
                <a:sym typeface="Roboto"/>
              </a:rPr>
              <a:t> : améliore la généralisation grâce à la diversité des données, avec un léger impact sur la performance</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b="1" lang="fr" sz="800">
                <a:solidFill>
                  <a:schemeClr val="lt1"/>
                </a:solidFill>
                <a:latin typeface="Roboto"/>
                <a:ea typeface="Roboto"/>
                <a:cs typeface="Roboto"/>
                <a:sym typeface="Roboto"/>
              </a:rPr>
              <a:t>tf.data </a:t>
            </a:r>
            <a:r>
              <a:rPr lang="fr" sz="800">
                <a:solidFill>
                  <a:schemeClr val="lt1"/>
                </a:solidFill>
                <a:latin typeface="Roboto"/>
                <a:ea typeface="Roboto"/>
                <a:cs typeface="Roboto"/>
                <a:sym typeface="Roboto"/>
              </a:rPr>
              <a:t>: pipeline optimisé mais entraînant un apprentissage moins efficace et davantage de confusions</a:t>
            </a:r>
            <a:endParaRPr sz="800">
              <a:solidFill>
                <a:schemeClr val="lt1"/>
              </a:solidFill>
              <a:latin typeface="Roboto"/>
              <a:ea typeface="Roboto"/>
              <a:cs typeface="Roboto"/>
              <a:sym typeface="Roboto"/>
            </a:endParaRPr>
          </a:p>
          <a:p>
            <a:pPr indent="-279400" lvl="0" marL="457200" rtl="0" algn="just">
              <a:lnSpc>
                <a:spcPct val="115000"/>
              </a:lnSpc>
              <a:spcBef>
                <a:spcPts val="0"/>
              </a:spcBef>
              <a:spcAft>
                <a:spcPts val="0"/>
              </a:spcAft>
              <a:buClr>
                <a:schemeClr val="lt1"/>
              </a:buClr>
              <a:buSzPts val="800"/>
              <a:buFont typeface="Roboto"/>
              <a:buChar char="●"/>
            </a:pPr>
            <a:r>
              <a:rPr b="1" lang="fr" sz="800">
                <a:solidFill>
                  <a:schemeClr val="lt1"/>
                </a:solidFill>
                <a:latin typeface="Roboto"/>
                <a:ea typeface="Roboto"/>
                <a:cs typeface="Roboto"/>
                <a:sym typeface="Roboto"/>
              </a:rPr>
              <a:t>Augmentation intégrée modèle </a:t>
            </a:r>
            <a:r>
              <a:rPr lang="fr" sz="800">
                <a:solidFill>
                  <a:schemeClr val="lt1"/>
                </a:solidFill>
                <a:latin typeface="Roboto"/>
                <a:ea typeface="Roboto"/>
                <a:cs typeface="Roboto"/>
                <a:sym typeface="Roboto"/>
              </a:rPr>
              <a:t>: offre une régularisation efficace et un bon équilibre entre performance et robustesse</a:t>
            </a:r>
            <a:endParaRPr sz="800">
              <a:solidFill>
                <a:schemeClr val="lt1"/>
              </a:solidFill>
              <a:latin typeface="Roboto"/>
              <a:ea typeface="Roboto"/>
              <a:cs typeface="Roboto"/>
              <a:sym typeface="Roboto"/>
            </a:endParaRPr>
          </a:p>
          <a:p>
            <a:pPr indent="0" lvl="0" marL="0" rtl="0" algn="just">
              <a:lnSpc>
                <a:spcPct val="115000"/>
              </a:lnSpc>
              <a:spcBef>
                <a:spcPts val="0"/>
              </a:spcBef>
              <a:spcAft>
                <a:spcPts val="0"/>
              </a:spcAft>
              <a:buNone/>
            </a:pPr>
            <a:r>
              <a:t/>
            </a:r>
            <a:endParaRPr sz="8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lt1"/>
                </a:solidFill>
                <a:latin typeface="Roboto"/>
                <a:ea typeface="Roboto"/>
                <a:cs typeface="Roboto"/>
                <a:sym typeface="Roboto"/>
              </a:rPr>
              <a:t>Baseline = meilleur modèle en termes de performance brute</a:t>
            </a:r>
            <a:endParaRPr b="1" sz="8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lt1"/>
                </a:solidFill>
                <a:latin typeface="Roboto"/>
                <a:ea typeface="Roboto"/>
                <a:cs typeface="Roboto"/>
                <a:sym typeface="Roboto"/>
              </a:rPr>
              <a:t>MAIS</a:t>
            </a:r>
            <a:endParaRPr b="1" sz="8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lt1"/>
                </a:solidFill>
                <a:latin typeface="Roboto"/>
                <a:ea typeface="Roboto"/>
                <a:cs typeface="Roboto"/>
                <a:sym typeface="Roboto"/>
              </a:rPr>
              <a:t>Augmentation intégrée = modèle pouvant être  le plus pertinent en contexte réel </a:t>
            </a:r>
            <a:endParaRPr b="1" sz="8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rPr b="1" lang="fr" sz="800">
                <a:solidFill>
                  <a:schemeClr val="lt1"/>
                </a:solidFill>
                <a:latin typeface="Roboto"/>
                <a:ea typeface="Roboto"/>
                <a:cs typeface="Roboto"/>
                <a:sym typeface="Roboto"/>
              </a:rPr>
              <a:t>(moins d’overfitting et plus robuste)</a:t>
            </a:r>
            <a:endParaRPr b="1" sz="800">
              <a:solidFill>
                <a:schemeClr val="lt1"/>
              </a:solidFill>
              <a:latin typeface="Roboto"/>
              <a:ea typeface="Roboto"/>
              <a:cs typeface="Roboto"/>
              <a:sym typeface="Roboto"/>
            </a:endParaRPr>
          </a:p>
        </p:txBody>
      </p:sp>
      <p:pic>
        <p:nvPicPr>
          <p:cNvPr id="738" name="Google Shape;738;p32"/>
          <p:cNvPicPr preferRelativeResize="0"/>
          <p:nvPr/>
        </p:nvPicPr>
        <p:blipFill>
          <a:blip r:embed="rId3">
            <a:alphaModFix/>
          </a:blip>
          <a:stretch>
            <a:fillRect/>
          </a:stretch>
        </p:blipFill>
        <p:spPr>
          <a:xfrm>
            <a:off x="4856875" y="490738"/>
            <a:ext cx="3910800" cy="1937625"/>
          </a:xfrm>
          <a:prstGeom prst="rect">
            <a:avLst/>
          </a:prstGeom>
          <a:noFill/>
          <a:ln>
            <a:noFill/>
          </a:ln>
        </p:spPr>
      </p:pic>
      <p:pic>
        <p:nvPicPr>
          <p:cNvPr id="739" name="Google Shape;739;p32"/>
          <p:cNvPicPr preferRelativeResize="0"/>
          <p:nvPr/>
        </p:nvPicPr>
        <p:blipFill>
          <a:blip r:embed="rId4">
            <a:alphaModFix/>
          </a:blip>
          <a:stretch>
            <a:fillRect/>
          </a:stretch>
        </p:blipFill>
        <p:spPr>
          <a:xfrm>
            <a:off x="4801050" y="2410325"/>
            <a:ext cx="3825575" cy="2446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33"/>
          <p:cNvSpPr txBox="1"/>
          <p:nvPr>
            <p:ph type="title"/>
          </p:nvPr>
        </p:nvSpPr>
        <p:spPr>
          <a:xfrm>
            <a:off x="311700" y="526350"/>
            <a:ext cx="4136100" cy="89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ERREURS</a:t>
            </a:r>
            <a:endParaRPr/>
          </a:p>
        </p:txBody>
      </p:sp>
      <p:sp>
        <p:nvSpPr>
          <p:cNvPr id="745" name="Google Shape;745;p33"/>
          <p:cNvSpPr txBox="1"/>
          <p:nvPr/>
        </p:nvSpPr>
        <p:spPr>
          <a:xfrm>
            <a:off x="500100" y="1515150"/>
            <a:ext cx="1905000" cy="1146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fr" sz="1000">
                <a:solidFill>
                  <a:schemeClr val="dk2"/>
                </a:solidFill>
                <a:latin typeface="Roboto"/>
                <a:ea typeface="Roboto"/>
                <a:cs typeface="Roboto"/>
                <a:sym typeface="Roboto"/>
              </a:rPr>
              <a:t>3 types</a:t>
            </a:r>
            <a:endParaRPr sz="1000">
              <a:solidFill>
                <a:schemeClr val="dk2"/>
              </a:solidFill>
              <a:latin typeface="Roboto"/>
              <a:ea typeface="Roboto"/>
              <a:cs typeface="Roboto"/>
              <a:sym typeface="Roboto"/>
            </a:endParaRPr>
          </a:p>
          <a:p>
            <a:pPr indent="0" lvl="0" marL="0" rtl="0" algn="just">
              <a:lnSpc>
                <a:spcPct val="115000"/>
              </a:lnSpc>
              <a:spcBef>
                <a:spcPts val="0"/>
              </a:spcBef>
              <a:spcAft>
                <a:spcPts val="0"/>
              </a:spcAft>
              <a:buNone/>
            </a:pPr>
            <a:r>
              <a:rPr lang="fr" sz="1000">
                <a:solidFill>
                  <a:schemeClr val="dk2"/>
                </a:solidFill>
                <a:latin typeface="Roboto"/>
                <a:ea typeface="Roboto"/>
                <a:cs typeface="Roboto"/>
                <a:sym typeface="Roboto"/>
              </a:rPr>
              <a:t>d’erreurs :</a:t>
            </a:r>
            <a:endParaRPr sz="1000">
              <a:solidFill>
                <a:schemeClr val="dk2"/>
              </a:solidFill>
              <a:latin typeface="Roboto"/>
              <a:ea typeface="Roboto"/>
              <a:cs typeface="Roboto"/>
              <a:sym typeface="Roboto"/>
            </a:endParaRPr>
          </a:p>
        </p:txBody>
      </p:sp>
      <p:graphicFrame>
        <p:nvGraphicFramePr>
          <p:cNvPr id="746" name="Google Shape;746;p33"/>
          <p:cNvGraphicFramePr/>
          <p:nvPr/>
        </p:nvGraphicFramePr>
        <p:xfrm>
          <a:off x="1472725" y="1218750"/>
          <a:ext cx="3000000" cy="3000000"/>
        </p:xfrm>
        <a:graphic>
          <a:graphicData uri="http://schemas.openxmlformats.org/drawingml/2006/table">
            <a:tbl>
              <a:tblPr>
                <a:noFill/>
                <a:tableStyleId>{D5246A32-94BD-469A-8FF0-07B5B3C936EE}</a:tableStyleId>
              </a:tblPr>
              <a:tblGrid>
                <a:gridCol w="1337700"/>
                <a:gridCol w="1534550"/>
              </a:tblGrid>
              <a:tr h="957950">
                <a:tc>
                  <a:txBody>
                    <a:bodyPr/>
                    <a:lstStyle/>
                    <a:p>
                      <a:pPr indent="0" lvl="0" marL="0" rtl="0" algn="l">
                        <a:spcBef>
                          <a:spcPts val="0"/>
                        </a:spcBef>
                        <a:spcAft>
                          <a:spcPts val="0"/>
                        </a:spcAft>
                        <a:buNone/>
                      </a:pPr>
                      <a:r>
                        <a:rPr lang="fr" sz="1000">
                          <a:latin typeface="Roboto"/>
                          <a:ea typeface="Roboto"/>
                          <a:cs typeface="Roboto"/>
                          <a:sym typeface="Roboto"/>
                        </a:rPr>
                        <a:t>C</a:t>
                      </a:r>
                      <a:r>
                        <a:rPr lang="fr" sz="1000">
                          <a:latin typeface="Roboto"/>
                          <a:ea typeface="Roboto"/>
                          <a:cs typeface="Roboto"/>
                          <a:sym typeface="Roboto"/>
                        </a:rPr>
                        <a:t>atégories trop similaires</a:t>
                      </a:r>
                      <a:endParaRPr sz="1000">
                        <a:latin typeface="Roboto"/>
                        <a:ea typeface="Roboto"/>
                        <a:cs typeface="Roboto"/>
                        <a:sym typeface="Roboto"/>
                      </a:endParaRPr>
                    </a:p>
                  </a:txBody>
                  <a:tcPr marT="91425" marB="91425" marR="91425" marL="91425" anchor="ct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tc>
              </a:tr>
              <a:tr h="957900">
                <a:tc>
                  <a:txBody>
                    <a:bodyPr/>
                    <a:lstStyle/>
                    <a:p>
                      <a:pPr indent="0" lvl="0" marL="0" rtl="0" algn="l">
                        <a:spcBef>
                          <a:spcPts val="0"/>
                        </a:spcBef>
                        <a:spcAft>
                          <a:spcPts val="0"/>
                        </a:spcAft>
                        <a:buClr>
                          <a:schemeClr val="dk2"/>
                        </a:buClr>
                        <a:buSzPts val="1100"/>
                        <a:buFont typeface="Arial"/>
                        <a:buNone/>
                      </a:pPr>
                      <a:r>
                        <a:rPr lang="fr" sz="1000">
                          <a:solidFill>
                            <a:schemeClr val="dk2"/>
                          </a:solidFill>
                          <a:latin typeface="Roboto"/>
                          <a:ea typeface="Roboto"/>
                          <a:cs typeface="Roboto"/>
                          <a:sym typeface="Roboto"/>
                        </a:rPr>
                        <a:t>Produits difficiles à classer dans une catégorie</a:t>
                      </a:r>
                      <a:endParaRPr sz="1000">
                        <a:latin typeface="Roboto"/>
                        <a:ea typeface="Roboto"/>
                        <a:cs typeface="Roboto"/>
                        <a:sym typeface="Roboto"/>
                      </a:endParaRPr>
                    </a:p>
                  </a:txBody>
                  <a:tcPr marT="91425" marB="91425" marR="91425" marL="91425" anchor="ct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tc>
              </a:tr>
              <a:tr h="957900">
                <a:tc>
                  <a:txBody>
                    <a:bodyPr/>
                    <a:lstStyle/>
                    <a:p>
                      <a:pPr indent="0" lvl="0" marL="0" rtl="0" algn="l">
                        <a:spcBef>
                          <a:spcPts val="0"/>
                        </a:spcBef>
                        <a:spcAft>
                          <a:spcPts val="0"/>
                        </a:spcAft>
                        <a:buNone/>
                      </a:pPr>
                      <a:r>
                        <a:rPr lang="fr" sz="1000">
                          <a:solidFill>
                            <a:schemeClr val="dk2"/>
                          </a:solidFill>
                          <a:latin typeface="Roboto"/>
                          <a:ea typeface="Roboto"/>
                          <a:cs typeface="Roboto"/>
                          <a:sym typeface="Roboto"/>
                        </a:rPr>
                        <a:t>Produits mal classifiés à la base</a:t>
                      </a:r>
                      <a:endParaRPr sz="1000">
                        <a:solidFill>
                          <a:schemeClr val="dk2"/>
                        </a:solidFill>
                        <a:latin typeface="Roboto"/>
                        <a:ea typeface="Roboto"/>
                        <a:cs typeface="Roboto"/>
                        <a:sym typeface="Roboto"/>
                      </a:endParaRPr>
                    </a:p>
                  </a:txBody>
                  <a:tcPr marT="91425" marB="91425" marR="91425" marL="91425" anchor="ct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tc>
              </a:tr>
              <a:tr h="957900">
                <a:tc>
                  <a:txBody>
                    <a:bodyPr/>
                    <a:lstStyle/>
                    <a:p>
                      <a:pPr indent="0" lvl="0" marL="0" rtl="0" algn="l">
                        <a:spcBef>
                          <a:spcPts val="0"/>
                        </a:spcBef>
                        <a:spcAft>
                          <a:spcPts val="0"/>
                        </a:spcAft>
                        <a:buClr>
                          <a:schemeClr val="dk2"/>
                        </a:buClr>
                        <a:buSzPts val="1100"/>
                        <a:buFont typeface="Arial"/>
                        <a:buNone/>
                      </a:pPr>
                      <a:r>
                        <a:rPr lang="fr" sz="1000">
                          <a:solidFill>
                            <a:schemeClr val="dk2"/>
                          </a:solidFill>
                          <a:latin typeface="Roboto"/>
                          <a:ea typeface="Roboto"/>
                          <a:cs typeface="Roboto"/>
                          <a:sym typeface="Roboto"/>
                        </a:rPr>
                        <a:t>E</a:t>
                      </a:r>
                      <a:r>
                        <a:rPr lang="fr" sz="1000">
                          <a:solidFill>
                            <a:schemeClr val="dk2"/>
                          </a:solidFill>
                          <a:latin typeface="Roboto"/>
                          <a:ea typeface="Roboto"/>
                          <a:cs typeface="Roboto"/>
                          <a:sym typeface="Roboto"/>
                        </a:rPr>
                        <a:t>rreurs</a:t>
                      </a:r>
                      <a:endParaRPr sz="1000">
                        <a:latin typeface="Roboto"/>
                        <a:ea typeface="Roboto"/>
                        <a:cs typeface="Roboto"/>
                        <a:sym typeface="Roboto"/>
                      </a:endParaRPr>
                    </a:p>
                  </a:txBody>
                  <a:tcPr marT="91425" marB="91425" marR="91425" marL="91425" anchor="ct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tc>
              </a:tr>
            </a:tbl>
          </a:graphicData>
        </a:graphic>
      </p:graphicFrame>
      <p:pic>
        <p:nvPicPr>
          <p:cNvPr id="747" name="Google Shape;747;p33"/>
          <p:cNvPicPr preferRelativeResize="0"/>
          <p:nvPr/>
        </p:nvPicPr>
        <p:blipFill>
          <a:blip r:embed="rId3">
            <a:alphaModFix/>
          </a:blip>
          <a:stretch>
            <a:fillRect/>
          </a:stretch>
        </p:blipFill>
        <p:spPr>
          <a:xfrm>
            <a:off x="2962875" y="1271450"/>
            <a:ext cx="1155823" cy="837100"/>
          </a:xfrm>
          <a:prstGeom prst="rect">
            <a:avLst/>
          </a:prstGeom>
          <a:noFill/>
          <a:ln>
            <a:noFill/>
          </a:ln>
        </p:spPr>
      </p:pic>
      <p:pic>
        <p:nvPicPr>
          <p:cNvPr id="748" name="Google Shape;748;p33"/>
          <p:cNvPicPr preferRelativeResize="0"/>
          <p:nvPr/>
        </p:nvPicPr>
        <p:blipFill>
          <a:blip r:embed="rId4">
            <a:alphaModFix/>
          </a:blip>
          <a:stretch>
            <a:fillRect/>
          </a:stretch>
        </p:blipFill>
        <p:spPr>
          <a:xfrm>
            <a:off x="2921199" y="3238287"/>
            <a:ext cx="1155825" cy="823077"/>
          </a:xfrm>
          <a:prstGeom prst="rect">
            <a:avLst/>
          </a:prstGeom>
          <a:noFill/>
          <a:ln>
            <a:noFill/>
          </a:ln>
        </p:spPr>
      </p:pic>
      <p:pic>
        <p:nvPicPr>
          <p:cNvPr id="749" name="Google Shape;749;p33"/>
          <p:cNvPicPr preferRelativeResize="0"/>
          <p:nvPr/>
        </p:nvPicPr>
        <p:blipFill>
          <a:blip r:embed="rId5">
            <a:alphaModFix/>
          </a:blip>
          <a:stretch>
            <a:fillRect/>
          </a:stretch>
        </p:blipFill>
        <p:spPr>
          <a:xfrm>
            <a:off x="3188976" y="4125261"/>
            <a:ext cx="687331" cy="891600"/>
          </a:xfrm>
          <a:prstGeom prst="rect">
            <a:avLst/>
          </a:prstGeom>
          <a:noFill/>
          <a:ln>
            <a:noFill/>
          </a:ln>
        </p:spPr>
      </p:pic>
      <p:sp>
        <p:nvSpPr>
          <p:cNvPr id="750" name="Google Shape;750;p33"/>
          <p:cNvSpPr txBox="1"/>
          <p:nvPr/>
        </p:nvSpPr>
        <p:spPr>
          <a:xfrm>
            <a:off x="5336800" y="3070950"/>
            <a:ext cx="3119700" cy="103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fr" sz="1000">
                <a:solidFill>
                  <a:schemeClr val="lt1"/>
                </a:solidFill>
                <a:latin typeface="Roboto"/>
                <a:ea typeface="Roboto"/>
                <a:cs typeface="Roboto"/>
                <a:sym typeface="Roboto"/>
              </a:rPr>
              <a:t>Solutions :</a:t>
            </a:r>
            <a:endParaRPr b="1" sz="1000">
              <a:solidFill>
                <a:schemeClr val="lt1"/>
              </a:solidFill>
              <a:latin typeface="Roboto"/>
              <a:ea typeface="Roboto"/>
              <a:cs typeface="Roboto"/>
              <a:sym typeface="Roboto"/>
            </a:endParaRPr>
          </a:p>
          <a:p>
            <a:pPr indent="-292100" lvl="0" marL="457200" rtl="0" algn="l">
              <a:lnSpc>
                <a:spcPct val="115000"/>
              </a:lnSpc>
              <a:spcBef>
                <a:spcPts val="0"/>
              </a:spcBef>
              <a:spcAft>
                <a:spcPts val="0"/>
              </a:spcAft>
              <a:buClr>
                <a:schemeClr val="lt1"/>
              </a:buClr>
              <a:buSzPts val="1000"/>
              <a:buFont typeface="Roboto"/>
              <a:buChar char="-"/>
            </a:pPr>
            <a:r>
              <a:rPr b="1" lang="fr" sz="1000">
                <a:solidFill>
                  <a:schemeClr val="lt1"/>
                </a:solidFill>
                <a:latin typeface="Roboto"/>
                <a:ea typeface="Roboto"/>
                <a:cs typeface="Roboto"/>
                <a:sym typeface="Roboto"/>
              </a:rPr>
              <a:t>retravailler la classification pour obtenir des classes </a:t>
            </a:r>
            <a:r>
              <a:rPr b="1" lang="fr" sz="1000">
                <a:solidFill>
                  <a:schemeClr val="lt1"/>
                </a:solidFill>
                <a:latin typeface="Roboto"/>
                <a:ea typeface="Roboto"/>
                <a:cs typeface="Roboto"/>
                <a:sym typeface="Roboto"/>
              </a:rPr>
              <a:t>différenciantes</a:t>
            </a:r>
            <a:endParaRPr b="1" sz="1000">
              <a:solidFill>
                <a:srgbClr val="FFFF00"/>
              </a:solidFill>
              <a:latin typeface="Roboto"/>
              <a:ea typeface="Roboto"/>
              <a:cs typeface="Roboto"/>
              <a:sym typeface="Roboto"/>
            </a:endParaRPr>
          </a:p>
          <a:p>
            <a:pPr indent="-292100" lvl="0" marL="457200" rtl="0" algn="l">
              <a:lnSpc>
                <a:spcPct val="115000"/>
              </a:lnSpc>
              <a:spcBef>
                <a:spcPts val="0"/>
              </a:spcBef>
              <a:spcAft>
                <a:spcPts val="0"/>
              </a:spcAft>
              <a:buClr>
                <a:schemeClr val="lt1"/>
              </a:buClr>
              <a:buSzPts val="1000"/>
              <a:buFont typeface="Roboto"/>
              <a:buChar char="-"/>
            </a:pPr>
            <a:r>
              <a:rPr b="1" lang="fr" sz="1000">
                <a:solidFill>
                  <a:schemeClr val="lt1"/>
                </a:solidFill>
                <a:latin typeface="Roboto"/>
                <a:ea typeface="Roboto"/>
                <a:cs typeface="Roboto"/>
                <a:sym typeface="Roboto"/>
              </a:rPr>
              <a:t>laisser la possibilité à l’utilisateur de rectifier la catégorie après proposition automatique</a:t>
            </a:r>
            <a:endParaRPr b="1" sz="1000">
              <a:solidFill>
                <a:schemeClr val="lt1"/>
              </a:solidFill>
              <a:latin typeface="Roboto"/>
              <a:ea typeface="Roboto"/>
              <a:cs typeface="Roboto"/>
              <a:sym typeface="Roboto"/>
            </a:endParaRPr>
          </a:p>
        </p:txBody>
      </p:sp>
      <p:pic>
        <p:nvPicPr>
          <p:cNvPr id="751" name="Google Shape;751;p33"/>
          <p:cNvPicPr preferRelativeResize="0"/>
          <p:nvPr/>
        </p:nvPicPr>
        <p:blipFill>
          <a:blip r:embed="rId6">
            <a:alphaModFix/>
          </a:blip>
          <a:stretch>
            <a:fillRect/>
          </a:stretch>
        </p:blipFill>
        <p:spPr>
          <a:xfrm>
            <a:off x="3155450" y="2214195"/>
            <a:ext cx="687325" cy="891596"/>
          </a:xfrm>
          <a:prstGeom prst="rect">
            <a:avLst/>
          </a:prstGeom>
          <a:noFill/>
          <a:ln>
            <a:noFill/>
          </a:ln>
        </p:spPr>
      </p:pic>
      <p:pic>
        <p:nvPicPr>
          <p:cNvPr id="752" name="Google Shape;752;p33"/>
          <p:cNvPicPr preferRelativeResize="0"/>
          <p:nvPr/>
        </p:nvPicPr>
        <p:blipFill>
          <a:blip r:embed="rId7">
            <a:alphaModFix/>
          </a:blip>
          <a:stretch>
            <a:fillRect/>
          </a:stretch>
        </p:blipFill>
        <p:spPr>
          <a:xfrm>
            <a:off x="4871775" y="597350"/>
            <a:ext cx="4049767" cy="2185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34"/>
          <p:cNvSpPr txBox="1"/>
          <p:nvPr>
            <p:ph type="title"/>
          </p:nvPr>
        </p:nvSpPr>
        <p:spPr>
          <a:xfrm>
            <a:off x="490250" y="526350"/>
            <a:ext cx="8179200" cy="40908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rPr lang="fr"/>
              <a:t>API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3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API</a:t>
            </a:r>
            <a:endParaRPr/>
          </a:p>
        </p:txBody>
      </p:sp>
      <p:sp>
        <p:nvSpPr>
          <p:cNvPr id="763" name="Google Shape;763;p35"/>
          <p:cNvSpPr/>
          <p:nvPr/>
        </p:nvSpPr>
        <p:spPr>
          <a:xfrm>
            <a:off x="392150" y="1092053"/>
            <a:ext cx="594300" cy="369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4" name="Google Shape;764;p35"/>
          <p:cNvPicPr preferRelativeResize="0"/>
          <p:nvPr/>
        </p:nvPicPr>
        <p:blipFill>
          <a:blip r:embed="rId3">
            <a:alphaModFix/>
          </a:blip>
          <a:stretch>
            <a:fillRect/>
          </a:stretch>
        </p:blipFill>
        <p:spPr>
          <a:xfrm>
            <a:off x="2262100" y="1375750"/>
            <a:ext cx="4705350" cy="1238250"/>
          </a:xfrm>
          <a:prstGeom prst="rect">
            <a:avLst/>
          </a:prstGeom>
          <a:noFill/>
          <a:ln>
            <a:noFill/>
          </a:ln>
        </p:spPr>
      </p:pic>
      <p:sp>
        <p:nvSpPr>
          <p:cNvPr id="765" name="Google Shape;765;p35"/>
          <p:cNvSpPr txBox="1"/>
          <p:nvPr>
            <p:ph idx="4294967295" type="subTitle"/>
          </p:nvPr>
        </p:nvSpPr>
        <p:spPr>
          <a:xfrm>
            <a:off x="485875" y="3111025"/>
            <a:ext cx="8183700" cy="1692000"/>
          </a:xfrm>
          <a:prstGeom prst="rect">
            <a:avLst/>
          </a:prstGeom>
        </p:spPr>
        <p:txBody>
          <a:bodyPr anchorCtr="0" anchor="t" bIns="91425" lIns="91425" spcFirstLastPara="1" rIns="91425" wrap="square" tIns="91425">
            <a:normAutofit/>
          </a:bodyPr>
          <a:lstStyle/>
          <a:p>
            <a:pPr indent="-331470" lvl="0" marL="457200" rtl="0" algn="l">
              <a:spcBef>
                <a:spcPts val="0"/>
              </a:spcBef>
              <a:spcAft>
                <a:spcPts val="0"/>
              </a:spcAft>
              <a:buClr>
                <a:schemeClr val="dk2"/>
              </a:buClr>
              <a:buSzPts val="1620"/>
              <a:buAutoNum type="arabicPeriod"/>
            </a:pPr>
            <a:r>
              <a:rPr lang="fr" sz="1620">
                <a:solidFill>
                  <a:schemeClr val="dk2"/>
                </a:solidFill>
              </a:rPr>
              <a:t>Appel en plusieurs tentatives pour </a:t>
            </a:r>
            <a:r>
              <a:rPr lang="fr" sz="1620">
                <a:solidFill>
                  <a:schemeClr val="dk2"/>
                </a:solidFill>
              </a:rPr>
              <a:t>pallier</a:t>
            </a:r>
            <a:r>
              <a:rPr lang="fr" sz="1620">
                <a:solidFill>
                  <a:schemeClr val="dk2"/>
                </a:solidFill>
              </a:rPr>
              <a:t> à l’instabilité de l’API</a:t>
            </a:r>
            <a:endParaRPr sz="1620">
              <a:solidFill>
                <a:schemeClr val="dk2"/>
              </a:solidFill>
            </a:endParaRPr>
          </a:p>
          <a:p>
            <a:pPr indent="-331470" lvl="0" marL="457200" rtl="0" algn="l">
              <a:spcBef>
                <a:spcPts val="0"/>
              </a:spcBef>
              <a:spcAft>
                <a:spcPts val="0"/>
              </a:spcAft>
              <a:buClr>
                <a:schemeClr val="dk2"/>
              </a:buClr>
              <a:buSzPts val="1620"/>
              <a:buAutoNum type="arabicPeriod"/>
            </a:pPr>
            <a:r>
              <a:rPr lang="fr" sz="1620">
                <a:solidFill>
                  <a:schemeClr val="dk2"/>
                </a:solidFill>
              </a:rPr>
              <a:t>Catégories avec des nan ou produits qui ne sont pas du champagne &gt; filtres</a:t>
            </a:r>
            <a:endParaRPr sz="1620">
              <a:solidFill>
                <a:schemeClr val="dk2"/>
              </a:solidFill>
            </a:endParaRPr>
          </a:p>
          <a:p>
            <a:pPr indent="-331470" lvl="0" marL="457200" rtl="0" algn="l">
              <a:spcBef>
                <a:spcPts val="0"/>
              </a:spcBef>
              <a:spcAft>
                <a:spcPts val="0"/>
              </a:spcAft>
              <a:buClr>
                <a:schemeClr val="dk2"/>
              </a:buClr>
              <a:buSzPts val="1620"/>
              <a:buAutoNum type="arabicPeriod"/>
            </a:pPr>
            <a:r>
              <a:rPr lang="fr" sz="1620">
                <a:solidFill>
                  <a:schemeClr val="dk2"/>
                </a:solidFill>
              </a:rPr>
              <a:t>On charge plus d’images pour palier au filtrage</a:t>
            </a:r>
            <a:endParaRPr sz="1620">
              <a:solidFill>
                <a:schemeClr val="dk2"/>
              </a:solidFill>
            </a:endParaRPr>
          </a:p>
          <a:p>
            <a:pPr indent="-331470" lvl="0" marL="457200" rtl="0" algn="l">
              <a:spcBef>
                <a:spcPts val="0"/>
              </a:spcBef>
              <a:spcAft>
                <a:spcPts val="0"/>
              </a:spcAft>
              <a:buClr>
                <a:schemeClr val="dk2"/>
              </a:buClr>
              <a:buSzPts val="1620"/>
              <a:buAutoNum type="arabicPeriod"/>
            </a:pPr>
            <a:r>
              <a:rPr lang="fr" sz="1620">
                <a:solidFill>
                  <a:schemeClr val="dk2"/>
                </a:solidFill>
              </a:rPr>
              <a:t>Save en csv</a:t>
            </a:r>
            <a:endParaRPr sz="162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36"/>
          <p:cNvSpPr txBox="1"/>
          <p:nvPr>
            <p:ph type="title"/>
          </p:nvPr>
        </p:nvSpPr>
        <p:spPr>
          <a:xfrm>
            <a:off x="392150" y="526350"/>
            <a:ext cx="4222500" cy="409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t>RÉSUMÉ</a:t>
            </a:r>
            <a:endParaRPr sz="1800"/>
          </a:p>
          <a:p>
            <a:pPr indent="0" lvl="0" marL="0" rtl="0" algn="l">
              <a:spcBef>
                <a:spcPts val="0"/>
              </a:spcBef>
              <a:spcAft>
                <a:spcPts val="0"/>
              </a:spcAft>
              <a:buNone/>
            </a:pPr>
            <a:r>
              <a:t/>
            </a:r>
            <a:endParaRPr b="0" sz="900"/>
          </a:p>
          <a:p>
            <a:pPr indent="0" lvl="0" marL="0" rtl="0" algn="l">
              <a:spcBef>
                <a:spcPts val="0"/>
              </a:spcBef>
              <a:spcAft>
                <a:spcPts val="0"/>
              </a:spcAft>
              <a:buNone/>
            </a:pPr>
            <a:r>
              <a:rPr lang="fr" sz="1200"/>
              <a:t>FAISABILITÉ DU REGROUPEMENT AUTOMATIQUE</a:t>
            </a:r>
            <a:endParaRPr sz="1200"/>
          </a:p>
          <a:p>
            <a:pPr indent="-304800" lvl="0" marL="457200" rtl="0" algn="l">
              <a:spcBef>
                <a:spcPts val="0"/>
              </a:spcBef>
              <a:spcAft>
                <a:spcPts val="0"/>
              </a:spcAft>
              <a:buSzPts val="1200"/>
              <a:buChar char="●"/>
            </a:pPr>
            <a:r>
              <a:rPr b="0" lang="fr" sz="1200"/>
              <a:t>Validée via le texte :</a:t>
            </a:r>
            <a:endParaRPr b="0" sz="1200"/>
          </a:p>
          <a:p>
            <a:pPr indent="-304800" lvl="1" marL="914400" rtl="0" algn="l">
              <a:spcBef>
                <a:spcPts val="0"/>
              </a:spcBef>
              <a:spcAft>
                <a:spcPts val="0"/>
              </a:spcAft>
              <a:buSzPts val="1200"/>
              <a:buChar char="○"/>
            </a:pPr>
            <a:r>
              <a:rPr b="0" lang="fr" sz="1200"/>
              <a:t>TF-IDF permet de retrouver efficacement les catégories métier</a:t>
            </a:r>
            <a:endParaRPr b="0" sz="1200"/>
          </a:p>
          <a:p>
            <a:pPr indent="-304800" lvl="1" marL="914400" rtl="0" algn="l">
              <a:spcBef>
                <a:spcPts val="0"/>
              </a:spcBef>
              <a:spcAft>
                <a:spcPts val="0"/>
              </a:spcAft>
              <a:buSzPts val="1200"/>
              <a:buChar char="○"/>
            </a:pPr>
            <a:r>
              <a:rPr b="0" lang="fr" sz="1200"/>
              <a:t>bon alignement (ARI / NMI élevés)</a:t>
            </a:r>
            <a:endParaRPr b="0" sz="1200"/>
          </a:p>
          <a:p>
            <a:pPr indent="-304800" lvl="0" marL="457200" rtl="0" algn="l">
              <a:spcBef>
                <a:spcPts val="0"/>
              </a:spcBef>
              <a:spcAft>
                <a:spcPts val="0"/>
              </a:spcAft>
              <a:buSzPts val="1200"/>
              <a:buChar char="●"/>
            </a:pPr>
            <a:r>
              <a:rPr b="0" lang="fr" sz="1200"/>
              <a:t>Limitée via l’image seule (non supervisé) :</a:t>
            </a:r>
            <a:endParaRPr b="0" sz="1200"/>
          </a:p>
          <a:p>
            <a:pPr indent="-304800" lvl="1" marL="914400" rtl="0" algn="l">
              <a:spcBef>
                <a:spcPts val="0"/>
              </a:spcBef>
              <a:spcAft>
                <a:spcPts val="0"/>
              </a:spcAft>
              <a:buSzPts val="1200"/>
              <a:buChar char="○"/>
            </a:pPr>
            <a:r>
              <a:rPr b="0" lang="fr" sz="1200"/>
              <a:t>SIFT peu performant</a:t>
            </a:r>
            <a:endParaRPr b="0" sz="1200"/>
          </a:p>
          <a:p>
            <a:pPr indent="-304800" lvl="1" marL="914400" rtl="0" algn="l">
              <a:spcBef>
                <a:spcPts val="0"/>
              </a:spcBef>
              <a:spcAft>
                <a:spcPts val="0"/>
              </a:spcAft>
              <a:buSzPts val="1200"/>
              <a:buChar char="○"/>
            </a:pPr>
            <a:r>
              <a:rPr b="0" lang="fr" sz="1200"/>
              <a:t>CNN améliore mais reste insuffisant</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APPORT DES APPROCHES SUPERVISÉES</a:t>
            </a:r>
            <a:endParaRPr sz="1200"/>
          </a:p>
          <a:p>
            <a:pPr indent="-304800" lvl="0" marL="457200" rtl="0" algn="l">
              <a:spcBef>
                <a:spcPts val="0"/>
              </a:spcBef>
              <a:spcAft>
                <a:spcPts val="0"/>
              </a:spcAft>
              <a:buSzPts val="1200"/>
              <a:buChar char="●"/>
            </a:pPr>
            <a:r>
              <a:rPr b="0" lang="fr" sz="1200"/>
              <a:t>Le passage en classification supervisée change fortement les résultats</a:t>
            </a:r>
            <a:endParaRPr b="0" sz="1200"/>
          </a:p>
          <a:p>
            <a:pPr indent="-304800" lvl="0" marL="457200" rtl="0" algn="l">
              <a:spcBef>
                <a:spcPts val="0"/>
              </a:spcBef>
              <a:spcAft>
                <a:spcPts val="0"/>
              </a:spcAft>
              <a:buSzPts val="1200"/>
              <a:buChar char="●"/>
            </a:pPr>
            <a:r>
              <a:rPr b="0" lang="fr" sz="1200"/>
              <a:t>Le modèle CNN atteint ≈ 81% d’accuracy</a:t>
            </a:r>
            <a:endParaRPr b="0" sz="1200"/>
          </a:p>
          <a:p>
            <a:pPr indent="-304800" lvl="0" marL="457200" rtl="0" algn="l">
              <a:spcBef>
                <a:spcPts val="0"/>
              </a:spcBef>
              <a:spcAft>
                <a:spcPts val="0"/>
              </a:spcAft>
              <a:buSzPts val="1200"/>
              <a:buChar char="●"/>
            </a:pPr>
            <a:r>
              <a:rPr b="0" lang="fr" sz="1200"/>
              <a:t>Les images deviennent fortement discriminantes</a:t>
            </a:r>
            <a:endParaRPr sz="1200"/>
          </a:p>
          <a:p>
            <a:pPr indent="0" lvl="0" marL="0" rtl="0" algn="l">
              <a:spcBef>
                <a:spcPts val="0"/>
              </a:spcBef>
              <a:spcAft>
                <a:spcPts val="0"/>
              </a:spcAft>
              <a:buNone/>
            </a:pPr>
            <a:r>
              <a:t/>
            </a:r>
            <a:endParaRPr sz="1400"/>
          </a:p>
        </p:txBody>
      </p:sp>
      <p:sp>
        <p:nvSpPr>
          <p:cNvPr id="771" name="Google Shape;771;p36"/>
          <p:cNvSpPr txBox="1"/>
          <p:nvPr>
            <p:ph type="title"/>
          </p:nvPr>
        </p:nvSpPr>
        <p:spPr>
          <a:xfrm>
            <a:off x="4614775" y="526350"/>
            <a:ext cx="4222500" cy="409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0" sz="14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COMPARAISON DES APPROCHES</a:t>
            </a:r>
            <a:endParaRPr sz="1200"/>
          </a:p>
          <a:p>
            <a:pPr indent="-304800" lvl="0" marL="457200" rtl="0" algn="l">
              <a:spcBef>
                <a:spcPts val="0"/>
              </a:spcBef>
              <a:spcAft>
                <a:spcPts val="0"/>
              </a:spcAft>
              <a:buSzPts val="1200"/>
              <a:buChar char="●"/>
            </a:pPr>
            <a:r>
              <a:rPr b="0" lang="fr" sz="1200"/>
              <a:t>Non supervisé :</a:t>
            </a:r>
            <a:endParaRPr b="0" sz="1200"/>
          </a:p>
          <a:p>
            <a:pPr indent="-304800" lvl="1" marL="914400" rtl="0" algn="l">
              <a:spcBef>
                <a:spcPts val="0"/>
              </a:spcBef>
              <a:spcAft>
                <a:spcPts val="0"/>
              </a:spcAft>
              <a:buSzPts val="1200"/>
              <a:buChar char="○"/>
            </a:pPr>
            <a:r>
              <a:rPr b="0" lang="fr" sz="1200"/>
              <a:t>utile pour explorer la structure</a:t>
            </a:r>
            <a:endParaRPr b="0" sz="1200"/>
          </a:p>
          <a:p>
            <a:pPr indent="-304800" lvl="1" marL="914400" rtl="0" algn="l">
              <a:spcBef>
                <a:spcPts val="0"/>
              </a:spcBef>
              <a:spcAft>
                <a:spcPts val="0"/>
              </a:spcAft>
              <a:buSzPts val="1200"/>
              <a:buChar char="○"/>
            </a:pPr>
            <a:r>
              <a:rPr b="0" lang="fr" sz="1200"/>
              <a:t>mais performances limitées</a:t>
            </a:r>
            <a:endParaRPr b="0" sz="1200"/>
          </a:p>
          <a:p>
            <a:pPr indent="-304800" lvl="0" marL="457200" rtl="0" algn="l">
              <a:spcBef>
                <a:spcPts val="0"/>
              </a:spcBef>
              <a:spcAft>
                <a:spcPts val="0"/>
              </a:spcAft>
              <a:buSzPts val="1200"/>
              <a:buChar char="●"/>
            </a:pPr>
            <a:r>
              <a:rPr b="0" lang="fr" sz="1200"/>
              <a:t>Supervisé :</a:t>
            </a:r>
            <a:endParaRPr b="0" sz="1200"/>
          </a:p>
          <a:p>
            <a:pPr indent="-304800" lvl="1" marL="914400" rtl="0" algn="l">
              <a:spcBef>
                <a:spcPts val="0"/>
              </a:spcBef>
              <a:spcAft>
                <a:spcPts val="0"/>
              </a:spcAft>
              <a:buSzPts val="1200"/>
              <a:buChar char="○"/>
            </a:pPr>
            <a:r>
              <a:rPr b="0" lang="fr" sz="1200"/>
              <a:t>permet de reproduire efficacement les catégories</a:t>
            </a:r>
            <a:endParaRPr b="0" sz="1200"/>
          </a:p>
          <a:p>
            <a:pPr indent="-304800" lvl="1" marL="914400" rtl="0" algn="l">
              <a:spcBef>
                <a:spcPts val="0"/>
              </a:spcBef>
              <a:spcAft>
                <a:spcPts val="0"/>
              </a:spcAft>
              <a:buSzPts val="1200"/>
              <a:buChar char="○"/>
            </a:pPr>
            <a:r>
              <a:rPr b="0" lang="fr" sz="1200"/>
              <a:t>nettement plus performant</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CONCLUSION</a:t>
            </a:r>
            <a:endParaRPr b="0" sz="1200"/>
          </a:p>
          <a:p>
            <a:pPr indent="-304800" lvl="0" marL="457200" rtl="0" algn="l">
              <a:spcBef>
                <a:spcPts val="0"/>
              </a:spcBef>
              <a:spcAft>
                <a:spcPts val="0"/>
              </a:spcAft>
              <a:buSzPts val="1200"/>
              <a:buChar char="●"/>
            </a:pPr>
            <a:r>
              <a:rPr b="0" lang="fr" sz="1200"/>
              <a:t>Regroupement automatique possible</a:t>
            </a:r>
            <a:endParaRPr b="0" sz="1200"/>
          </a:p>
          <a:p>
            <a:pPr indent="-304800" lvl="0" marL="457200" rtl="0" algn="l">
              <a:spcBef>
                <a:spcPts val="0"/>
              </a:spcBef>
              <a:spcAft>
                <a:spcPts val="0"/>
              </a:spcAft>
              <a:buSzPts val="1200"/>
              <a:buChar char="●"/>
            </a:pPr>
            <a:r>
              <a:rPr b="0" lang="fr" sz="1200"/>
              <a:t>Meilleures performances avec :</a:t>
            </a:r>
            <a:endParaRPr b="0" sz="1200"/>
          </a:p>
          <a:p>
            <a:pPr indent="-304800" lvl="1" marL="914400" rtl="0" algn="l">
              <a:spcBef>
                <a:spcPts val="0"/>
              </a:spcBef>
              <a:spcAft>
                <a:spcPts val="0"/>
              </a:spcAft>
              <a:buSzPts val="1200"/>
              <a:buChar char="○"/>
            </a:pPr>
            <a:r>
              <a:rPr b="0" lang="fr" sz="1200"/>
              <a:t>texte en non supervisé</a:t>
            </a:r>
            <a:endParaRPr b="0" sz="1200"/>
          </a:p>
          <a:p>
            <a:pPr indent="-304800" lvl="1" marL="914400" rtl="0" algn="l">
              <a:spcBef>
                <a:spcPts val="0"/>
              </a:spcBef>
              <a:spcAft>
                <a:spcPts val="0"/>
              </a:spcAft>
              <a:buSzPts val="1200"/>
              <a:buChar char="○"/>
            </a:pPr>
            <a:r>
              <a:rPr b="0" lang="fr" sz="1200"/>
              <a:t>image en supervisé (CNN)</a:t>
            </a:r>
            <a:endParaRPr b="0" sz="1200"/>
          </a:p>
          <a:p>
            <a:pPr indent="0" lvl="0" marL="0" rtl="0" algn="l">
              <a:spcBef>
                <a:spcPts val="0"/>
              </a:spcBef>
              <a:spcAft>
                <a:spcPts val="0"/>
              </a:spcAft>
              <a:buNone/>
            </a:pPr>
            <a:r>
              <a:t/>
            </a:r>
            <a:endParaRPr b="0" sz="1200"/>
          </a:p>
          <a:p>
            <a:pPr indent="0" lvl="0" marL="0" rtl="0" algn="l">
              <a:spcBef>
                <a:spcPts val="0"/>
              </a:spcBef>
              <a:spcAft>
                <a:spcPts val="0"/>
              </a:spcAft>
              <a:buNone/>
            </a:pPr>
            <a:r>
              <a:rPr lang="fr" sz="1200"/>
              <a:t>👉 Solution optimale : modèle supervisé robuste basé sur deep learning</a:t>
            </a:r>
            <a:endParaRPr sz="1200"/>
          </a:p>
          <a:p>
            <a:pPr indent="0" lvl="0" marL="0" rtl="0" algn="l">
              <a:spcBef>
                <a:spcPts val="0"/>
              </a:spcBef>
              <a:spcAft>
                <a:spcPts val="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1A9988"/>
      </a:dk1>
      <a:lt1>
        <a:srgbClr val="FFFFFF"/>
      </a:lt1>
      <a:dk2>
        <a:srgbClr val="000000"/>
      </a:dk2>
      <a:lt2>
        <a:srgbClr val="7F7F7F"/>
      </a:lt2>
      <a:accent1>
        <a:srgbClr val="333333"/>
      </a:accent1>
      <a:accent2>
        <a:srgbClr val="1A9988"/>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